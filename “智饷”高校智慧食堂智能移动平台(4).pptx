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9">
  <p:sldMasterIdLst>
    <p:sldMasterId id="2147483648" r:id="rId1"/>
  </p:sldMasterIdLst>
  <p:sldIdLst>
    <p:sldId id="324" r:id="rId2"/>
    <p:sldId id="257" r:id="rId3"/>
    <p:sldId id="258" r:id="rId4"/>
    <p:sldId id="262" r:id="rId5"/>
    <p:sldId id="263" r:id="rId6"/>
    <p:sldId id="265" r:id="rId7"/>
    <p:sldId id="259" r:id="rId8"/>
    <p:sldId id="310" r:id="rId9"/>
    <p:sldId id="329" r:id="rId10"/>
    <p:sldId id="260" r:id="rId11"/>
    <p:sldId id="266" r:id="rId12"/>
    <p:sldId id="267" r:id="rId13"/>
    <p:sldId id="268" r:id="rId14"/>
    <p:sldId id="321" r:id="rId15"/>
    <p:sldId id="326" r:id="rId16"/>
    <p:sldId id="295" r:id="rId17"/>
    <p:sldId id="296" r:id="rId18"/>
    <p:sldId id="297" r:id="rId19"/>
    <p:sldId id="298" r:id="rId20"/>
    <p:sldId id="299" r:id="rId21"/>
    <p:sldId id="306" r:id="rId22"/>
    <p:sldId id="307" r:id="rId23"/>
    <p:sldId id="309" r:id="rId24"/>
    <p:sldId id="308" r:id="rId25"/>
    <p:sldId id="301" r:id="rId26"/>
    <p:sldId id="311" r:id="rId27"/>
    <p:sldId id="325" r:id="rId28"/>
    <p:sldId id="318" r:id="rId29"/>
    <p:sldId id="319" r:id="rId30"/>
    <p:sldId id="303" r:id="rId31"/>
    <p:sldId id="290" r:id="rId32"/>
    <p:sldId id="292" r:id="rId33"/>
    <p:sldId id="293" r:id="rId34"/>
    <p:sldId id="294" r:id="rId35"/>
    <p:sldId id="320" r:id="rId36"/>
    <p:sldId id="269" r:id="rId37"/>
    <p:sldId id="327" r:id="rId38"/>
    <p:sldId id="328" r:id="rId39"/>
    <p:sldId id="322" r:id="rId40"/>
    <p:sldId id="323" r:id="rId41"/>
    <p:sldId id="300" r:id="rId4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8" autoAdjust="0"/>
    <p:restoredTop sz="94660"/>
  </p:normalViewPr>
  <p:slideViewPr>
    <p:cSldViewPr snapToGrid="0" showGuides="1">
      <p:cViewPr varScale="1">
        <p:scale>
          <a:sx n="66" d="100"/>
          <a:sy n="66" d="100"/>
        </p:scale>
        <p:origin x="36" y="83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EF71E6-509B-93A0-1780-81EA0CCC85D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32C96A3-ADED-0FCF-207A-2668B2CE71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7473C8C-275D-E8BD-AF09-4DD15DD4337C}"/>
              </a:ext>
            </a:extLst>
          </p:cNvPr>
          <p:cNvSpPr>
            <a:spLocks noGrp="1"/>
          </p:cNvSpPr>
          <p:nvPr>
            <p:ph type="dt" sz="half" idx="10"/>
          </p:nvPr>
        </p:nvSpPr>
        <p:spPr/>
        <p:txBody>
          <a:bodyPr/>
          <a:lstStyle/>
          <a:p>
            <a:fld id="{124E0989-648B-42F6-967E-A9D473021955}" type="datetimeFigureOut">
              <a:rPr lang="zh-CN" altLang="en-US" smtClean="0"/>
              <a:t>2025/5/21</a:t>
            </a:fld>
            <a:endParaRPr lang="zh-CN" altLang="en-US"/>
          </a:p>
        </p:txBody>
      </p:sp>
      <p:sp>
        <p:nvSpPr>
          <p:cNvPr id="5" name="页脚占位符 4">
            <a:extLst>
              <a:ext uri="{FF2B5EF4-FFF2-40B4-BE49-F238E27FC236}">
                <a16:creationId xmlns:a16="http://schemas.microsoft.com/office/drawing/2014/main" id="{29BECECB-6513-2B12-E407-C6C170470B7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CBCD72B-7979-9436-B9D6-E8662BD76A9F}"/>
              </a:ext>
            </a:extLst>
          </p:cNvPr>
          <p:cNvSpPr>
            <a:spLocks noGrp="1"/>
          </p:cNvSpPr>
          <p:nvPr>
            <p:ph type="sldNum" sz="quarter" idx="12"/>
          </p:nvPr>
        </p:nvSpPr>
        <p:spPr/>
        <p:txBody>
          <a:bodyPr/>
          <a:lstStyle/>
          <a:p>
            <a:fld id="{728A8183-4B42-40E5-910E-3C13EFA0A114}" type="slidenum">
              <a:rPr lang="zh-CN" altLang="en-US" smtClean="0"/>
              <a:t>‹#›</a:t>
            </a:fld>
            <a:endParaRPr lang="zh-CN" altLang="en-US"/>
          </a:p>
        </p:txBody>
      </p:sp>
    </p:spTree>
    <p:extLst>
      <p:ext uri="{BB962C8B-B14F-4D97-AF65-F5344CB8AC3E}">
        <p14:creationId xmlns:p14="http://schemas.microsoft.com/office/powerpoint/2010/main" val="6583537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917AC3-7EF9-D478-9181-DEDF07946A7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2D75377-6FEC-DC67-B61B-05D0ABE93BA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32096DB-CFB4-B8CA-FE02-E5E8B2C06DAD}"/>
              </a:ext>
            </a:extLst>
          </p:cNvPr>
          <p:cNvSpPr>
            <a:spLocks noGrp="1"/>
          </p:cNvSpPr>
          <p:nvPr>
            <p:ph type="dt" sz="half" idx="10"/>
          </p:nvPr>
        </p:nvSpPr>
        <p:spPr/>
        <p:txBody>
          <a:bodyPr/>
          <a:lstStyle/>
          <a:p>
            <a:fld id="{124E0989-648B-42F6-967E-A9D473021955}" type="datetimeFigureOut">
              <a:rPr lang="zh-CN" altLang="en-US" smtClean="0"/>
              <a:t>2025/5/21</a:t>
            </a:fld>
            <a:endParaRPr lang="zh-CN" altLang="en-US"/>
          </a:p>
        </p:txBody>
      </p:sp>
      <p:sp>
        <p:nvSpPr>
          <p:cNvPr id="5" name="页脚占位符 4">
            <a:extLst>
              <a:ext uri="{FF2B5EF4-FFF2-40B4-BE49-F238E27FC236}">
                <a16:creationId xmlns:a16="http://schemas.microsoft.com/office/drawing/2014/main" id="{C00DA75F-BE31-7708-7815-A0F2D97C11A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D70D528-EBDA-7E17-7A02-624F1D11A5AD}"/>
              </a:ext>
            </a:extLst>
          </p:cNvPr>
          <p:cNvSpPr>
            <a:spLocks noGrp="1"/>
          </p:cNvSpPr>
          <p:nvPr>
            <p:ph type="sldNum" sz="quarter" idx="12"/>
          </p:nvPr>
        </p:nvSpPr>
        <p:spPr/>
        <p:txBody>
          <a:bodyPr/>
          <a:lstStyle/>
          <a:p>
            <a:fld id="{728A8183-4B42-40E5-910E-3C13EFA0A114}" type="slidenum">
              <a:rPr lang="zh-CN" altLang="en-US" smtClean="0"/>
              <a:t>‹#›</a:t>
            </a:fld>
            <a:endParaRPr lang="zh-CN" altLang="en-US"/>
          </a:p>
        </p:txBody>
      </p:sp>
    </p:spTree>
    <p:extLst>
      <p:ext uri="{BB962C8B-B14F-4D97-AF65-F5344CB8AC3E}">
        <p14:creationId xmlns:p14="http://schemas.microsoft.com/office/powerpoint/2010/main" val="920213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AEF649-C0D0-5CCF-26BD-A70E0048531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98E61F4-8565-98B1-C2CA-B15A1B98B5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B7DB4D9-D392-EF6A-92F6-C0E2D9F7D6C4}"/>
              </a:ext>
            </a:extLst>
          </p:cNvPr>
          <p:cNvSpPr>
            <a:spLocks noGrp="1"/>
          </p:cNvSpPr>
          <p:nvPr>
            <p:ph type="dt" sz="half" idx="10"/>
          </p:nvPr>
        </p:nvSpPr>
        <p:spPr/>
        <p:txBody>
          <a:bodyPr/>
          <a:lstStyle/>
          <a:p>
            <a:fld id="{124E0989-648B-42F6-967E-A9D473021955}" type="datetimeFigureOut">
              <a:rPr lang="zh-CN" altLang="en-US" smtClean="0"/>
              <a:t>2025/5/21</a:t>
            </a:fld>
            <a:endParaRPr lang="zh-CN" altLang="en-US"/>
          </a:p>
        </p:txBody>
      </p:sp>
      <p:sp>
        <p:nvSpPr>
          <p:cNvPr id="5" name="页脚占位符 4">
            <a:extLst>
              <a:ext uri="{FF2B5EF4-FFF2-40B4-BE49-F238E27FC236}">
                <a16:creationId xmlns:a16="http://schemas.microsoft.com/office/drawing/2014/main" id="{68C47C10-1F5F-BABD-D87D-C017544326D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679222B-0D2E-1884-1F25-EB337948C38D}"/>
              </a:ext>
            </a:extLst>
          </p:cNvPr>
          <p:cNvSpPr>
            <a:spLocks noGrp="1"/>
          </p:cNvSpPr>
          <p:nvPr>
            <p:ph type="sldNum" sz="quarter" idx="12"/>
          </p:nvPr>
        </p:nvSpPr>
        <p:spPr/>
        <p:txBody>
          <a:bodyPr/>
          <a:lstStyle/>
          <a:p>
            <a:fld id="{728A8183-4B42-40E5-910E-3C13EFA0A114}" type="slidenum">
              <a:rPr lang="zh-CN" altLang="en-US" smtClean="0"/>
              <a:t>‹#›</a:t>
            </a:fld>
            <a:endParaRPr lang="zh-CN" altLang="en-US"/>
          </a:p>
        </p:txBody>
      </p:sp>
    </p:spTree>
    <p:extLst>
      <p:ext uri="{BB962C8B-B14F-4D97-AF65-F5344CB8AC3E}">
        <p14:creationId xmlns:p14="http://schemas.microsoft.com/office/powerpoint/2010/main" val="266641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318217-FC76-93FA-90E9-B2F31F30B48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514D3BF-1E56-1814-7483-4899E0C2D37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BC33BFD-D273-C580-8D01-86ADD179E171}"/>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CF63816-E49E-3D77-B446-453122366D7A}"/>
              </a:ext>
            </a:extLst>
          </p:cNvPr>
          <p:cNvSpPr>
            <a:spLocks noGrp="1"/>
          </p:cNvSpPr>
          <p:nvPr>
            <p:ph type="dt" sz="half" idx="10"/>
          </p:nvPr>
        </p:nvSpPr>
        <p:spPr/>
        <p:txBody>
          <a:bodyPr/>
          <a:lstStyle/>
          <a:p>
            <a:fld id="{124E0989-648B-42F6-967E-A9D473021955}" type="datetimeFigureOut">
              <a:rPr lang="zh-CN" altLang="en-US" smtClean="0"/>
              <a:t>2025/5/21</a:t>
            </a:fld>
            <a:endParaRPr lang="zh-CN" altLang="en-US"/>
          </a:p>
        </p:txBody>
      </p:sp>
      <p:sp>
        <p:nvSpPr>
          <p:cNvPr id="6" name="页脚占位符 5">
            <a:extLst>
              <a:ext uri="{FF2B5EF4-FFF2-40B4-BE49-F238E27FC236}">
                <a16:creationId xmlns:a16="http://schemas.microsoft.com/office/drawing/2014/main" id="{F71FA035-CF37-59B9-1144-58C17A54841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52CAF75-68ED-44C5-8A8C-6F77A12CD7D4}"/>
              </a:ext>
            </a:extLst>
          </p:cNvPr>
          <p:cNvSpPr>
            <a:spLocks noGrp="1"/>
          </p:cNvSpPr>
          <p:nvPr>
            <p:ph type="sldNum" sz="quarter" idx="12"/>
          </p:nvPr>
        </p:nvSpPr>
        <p:spPr/>
        <p:txBody>
          <a:bodyPr/>
          <a:lstStyle/>
          <a:p>
            <a:fld id="{728A8183-4B42-40E5-910E-3C13EFA0A114}" type="slidenum">
              <a:rPr lang="zh-CN" altLang="en-US" smtClean="0"/>
              <a:t>‹#›</a:t>
            </a:fld>
            <a:endParaRPr lang="zh-CN" altLang="en-US"/>
          </a:p>
        </p:txBody>
      </p:sp>
    </p:spTree>
    <p:extLst>
      <p:ext uri="{BB962C8B-B14F-4D97-AF65-F5344CB8AC3E}">
        <p14:creationId xmlns:p14="http://schemas.microsoft.com/office/powerpoint/2010/main" val="330049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5C138D-23B8-8579-9C39-BD71005F383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123B6B6-8976-C4A0-D6F3-9F16047FB0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B866CF7-D1FF-DA03-6BD3-AE315055B30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C3E7D66-1A6E-852F-1EB2-DE34BD2503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1DDA2DC-77CF-F5B5-54A4-3B7549F44D49}"/>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CF287AF-A374-0DAD-161C-12D3C95D7472}"/>
              </a:ext>
            </a:extLst>
          </p:cNvPr>
          <p:cNvSpPr>
            <a:spLocks noGrp="1"/>
          </p:cNvSpPr>
          <p:nvPr>
            <p:ph type="dt" sz="half" idx="10"/>
          </p:nvPr>
        </p:nvSpPr>
        <p:spPr/>
        <p:txBody>
          <a:bodyPr/>
          <a:lstStyle/>
          <a:p>
            <a:fld id="{124E0989-648B-42F6-967E-A9D473021955}" type="datetimeFigureOut">
              <a:rPr lang="zh-CN" altLang="en-US" smtClean="0"/>
              <a:t>2025/5/21</a:t>
            </a:fld>
            <a:endParaRPr lang="zh-CN" altLang="en-US"/>
          </a:p>
        </p:txBody>
      </p:sp>
      <p:sp>
        <p:nvSpPr>
          <p:cNvPr id="8" name="页脚占位符 7">
            <a:extLst>
              <a:ext uri="{FF2B5EF4-FFF2-40B4-BE49-F238E27FC236}">
                <a16:creationId xmlns:a16="http://schemas.microsoft.com/office/drawing/2014/main" id="{F2A4B87E-997B-79B9-6055-28A46756C7F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12EA33D-6806-841F-95F3-FDE308C2EB78}"/>
              </a:ext>
            </a:extLst>
          </p:cNvPr>
          <p:cNvSpPr>
            <a:spLocks noGrp="1"/>
          </p:cNvSpPr>
          <p:nvPr>
            <p:ph type="sldNum" sz="quarter" idx="12"/>
          </p:nvPr>
        </p:nvSpPr>
        <p:spPr/>
        <p:txBody>
          <a:bodyPr/>
          <a:lstStyle/>
          <a:p>
            <a:fld id="{728A8183-4B42-40E5-910E-3C13EFA0A114}" type="slidenum">
              <a:rPr lang="zh-CN" altLang="en-US" smtClean="0"/>
              <a:t>‹#›</a:t>
            </a:fld>
            <a:endParaRPr lang="zh-CN" altLang="en-US"/>
          </a:p>
        </p:txBody>
      </p:sp>
    </p:spTree>
    <p:extLst>
      <p:ext uri="{BB962C8B-B14F-4D97-AF65-F5344CB8AC3E}">
        <p14:creationId xmlns:p14="http://schemas.microsoft.com/office/powerpoint/2010/main" val="4075403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7868D7-24D1-754C-18E9-BA6882C4409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BFB4918-64CD-BEF5-F81D-88E92A618353}"/>
              </a:ext>
            </a:extLst>
          </p:cNvPr>
          <p:cNvSpPr>
            <a:spLocks noGrp="1"/>
          </p:cNvSpPr>
          <p:nvPr>
            <p:ph type="dt" sz="half" idx="10"/>
          </p:nvPr>
        </p:nvSpPr>
        <p:spPr/>
        <p:txBody>
          <a:bodyPr/>
          <a:lstStyle/>
          <a:p>
            <a:fld id="{124E0989-648B-42F6-967E-A9D473021955}" type="datetimeFigureOut">
              <a:rPr lang="zh-CN" altLang="en-US" smtClean="0"/>
              <a:t>2025/5/21</a:t>
            </a:fld>
            <a:endParaRPr lang="zh-CN" altLang="en-US"/>
          </a:p>
        </p:txBody>
      </p:sp>
      <p:sp>
        <p:nvSpPr>
          <p:cNvPr id="4" name="页脚占位符 3">
            <a:extLst>
              <a:ext uri="{FF2B5EF4-FFF2-40B4-BE49-F238E27FC236}">
                <a16:creationId xmlns:a16="http://schemas.microsoft.com/office/drawing/2014/main" id="{AD4744BD-A639-3A16-1347-338678B4A9F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B06ECE4-49F4-CA2F-7D5B-304D539E8775}"/>
              </a:ext>
            </a:extLst>
          </p:cNvPr>
          <p:cNvSpPr>
            <a:spLocks noGrp="1"/>
          </p:cNvSpPr>
          <p:nvPr>
            <p:ph type="sldNum" sz="quarter" idx="12"/>
          </p:nvPr>
        </p:nvSpPr>
        <p:spPr/>
        <p:txBody>
          <a:bodyPr/>
          <a:lstStyle/>
          <a:p>
            <a:fld id="{728A8183-4B42-40E5-910E-3C13EFA0A114}" type="slidenum">
              <a:rPr lang="zh-CN" altLang="en-US" smtClean="0"/>
              <a:t>‹#›</a:t>
            </a:fld>
            <a:endParaRPr lang="zh-CN" altLang="en-US"/>
          </a:p>
        </p:txBody>
      </p:sp>
    </p:spTree>
    <p:extLst>
      <p:ext uri="{BB962C8B-B14F-4D97-AF65-F5344CB8AC3E}">
        <p14:creationId xmlns:p14="http://schemas.microsoft.com/office/powerpoint/2010/main" val="1033703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D34C667-E6E2-2050-5EE8-3D871E2B77CC}"/>
              </a:ext>
            </a:extLst>
          </p:cNvPr>
          <p:cNvSpPr>
            <a:spLocks noGrp="1"/>
          </p:cNvSpPr>
          <p:nvPr>
            <p:ph type="dt" sz="half" idx="10"/>
          </p:nvPr>
        </p:nvSpPr>
        <p:spPr/>
        <p:txBody>
          <a:bodyPr/>
          <a:lstStyle/>
          <a:p>
            <a:fld id="{124E0989-648B-42F6-967E-A9D473021955}" type="datetimeFigureOut">
              <a:rPr lang="zh-CN" altLang="en-US" smtClean="0"/>
              <a:t>2025/5/21</a:t>
            </a:fld>
            <a:endParaRPr lang="zh-CN" altLang="en-US"/>
          </a:p>
        </p:txBody>
      </p:sp>
      <p:sp>
        <p:nvSpPr>
          <p:cNvPr id="3" name="页脚占位符 2">
            <a:extLst>
              <a:ext uri="{FF2B5EF4-FFF2-40B4-BE49-F238E27FC236}">
                <a16:creationId xmlns:a16="http://schemas.microsoft.com/office/drawing/2014/main" id="{C175B0DB-455C-4A05-8C09-6F80B0DB8D8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08D086C-5A51-CA99-07CD-8B47698FBF0B}"/>
              </a:ext>
            </a:extLst>
          </p:cNvPr>
          <p:cNvSpPr>
            <a:spLocks noGrp="1"/>
          </p:cNvSpPr>
          <p:nvPr>
            <p:ph type="sldNum" sz="quarter" idx="12"/>
          </p:nvPr>
        </p:nvSpPr>
        <p:spPr/>
        <p:txBody>
          <a:bodyPr/>
          <a:lstStyle/>
          <a:p>
            <a:fld id="{728A8183-4B42-40E5-910E-3C13EFA0A114}" type="slidenum">
              <a:rPr lang="zh-CN" altLang="en-US" smtClean="0"/>
              <a:t>‹#›</a:t>
            </a:fld>
            <a:endParaRPr lang="zh-CN" altLang="en-US"/>
          </a:p>
        </p:txBody>
      </p:sp>
    </p:spTree>
    <p:extLst>
      <p:ext uri="{BB962C8B-B14F-4D97-AF65-F5344CB8AC3E}">
        <p14:creationId xmlns:p14="http://schemas.microsoft.com/office/powerpoint/2010/main" val="27355185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F8D536-164E-8648-8386-870EA2AFE61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88D6BF3-EAA7-AF44-E9CC-0A97B447D3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D24F4EA-07CD-A640-3D14-699C4F198C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434157C-F540-71D4-7792-06C0FAFE07FB}"/>
              </a:ext>
            </a:extLst>
          </p:cNvPr>
          <p:cNvSpPr>
            <a:spLocks noGrp="1"/>
          </p:cNvSpPr>
          <p:nvPr>
            <p:ph type="dt" sz="half" idx="10"/>
          </p:nvPr>
        </p:nvSpPr>
        <p:spPr/>
        <p:txBody>
          <a:bodyPr/>
          <a:lstStyle/>
          <a:p>
            <a:fld id="{124E0989-648B-42F6-967E-A9D473021955}" type="datetimeFigureOut">
              <a:rPr lang="zh-CN" altLang="en-US" smtClean="0"/>
              <a:t>2025/5/21</a:t>
            </a:fld>
            <a:endParaRPr lang="zh-CN" altLang="en-US"/>
          </a:p>
        </p:txBody>
      </p:sp>
      <p:sp>
        <p:nvSpPr>
          <p:cNvPr id="6" name="页脚占位符 5">
            <a:extLst>
              <a:ext uri="{FF2B5EF4-FFF2-40B4-BE49-F238E27FC236}">
                <a16:creationId xmlns:a16="http://schemas.microsoft.com/office/drawing/2014/main" id="{0C4043E2-9DA1-67F8-E87B-88CE00C256C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2CDF1CC-DE7E-1145-37A3-58A79B8C0D1A}"/>
              </a:ext>
            </a:extLst>
          </p:cNvPr>
          <p:cNvSpPr>
            <a:spLocks noGrp="1"/>
          </p:cNvSpPr>
          <p:nvPr>
            <p:ph type="sldNum" sz="quarter" idx="12"/>
          </p:nvPr>
        </p:nvSpPr>
        <p:spPr/>
        <p:txBody>
          <a:bodyPr/>
          <a:lstStyle/>
          <a:p>
            <a:fld id="{728A8183-4B42-40E5-910E-3C13EFA0A114}" type="slidenum">
              <a:rPr lang="zh-CN" altLang="en-US" smtClean="0"/>
              <a:t>‹#›</a:t>
            </a:fld>
            <a:endParaRPr lang="zh-CN" altLang="en-US"/>
          </a:p>
        </p:txBody>
      </p:sp>
    </p:spTree>
    <p:extLst>
      <p:ext uri="{BB962C8B-B14F-4D97-AF65-F5344CB8AC3E}">
        <p14:creationId xmlns:p14="http://schemas.microsoft.com/office/powerpoint/2010/main" val="34717723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413302-7152-6C61-38E9-33DBDC42864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F03EE7E-F0D5-D0E0-224A-A93EB27960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F7672EC-296C-2FFF-7599-92B488F0E8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F41C791-4504-DA72-CDBB-5432788A40F3}"/>
              </a:ext>
            </a:extLst>
          </p:cNvPr>
          <p:cNvSpPr>
            <a:spLocks noGrp="1"/>
          </p:cNvSpPr>
          <p:nvPr>
            <p:ph type="dt" sz="half" idx="10"/>
          </p:nvPr>
        </p:nvSpPr>
        <p:spPr/>
        <p:txBody>
          <a:bodyPr/>
          <a:lstStyle/>
          <a:p>
            <a:fld id="{124E0989-648B-42F6-967E-A9D473021955}" type="datetimeFigureOut">
              <a:rPr lang="zh-CN" altLang="en-US" smtClean="0"/>
              <a:t>2025/5/21</a:t>
            </a:fld>
            <a:endParaRPr lang="zh-CN" altLang="en-US"/>
          </a:p>
        </p:txBody>
      </p:sp>
      <p:sp>
        <p:nvSpPr>
          <p:cNvPr id="6" name="页脚占位符 5">
            <a:extLst>
              <a:ext uri="{FF2B5EF4-FFF2-40B4-BE49-F238E27FC236}">
                <a16:creationId xmlns:a16="http://schemas.microsoft.com/office/drawing/2014/main" id="{E4AF56DF-3FED-5641-27BD-CCD4D493B95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7F77062-90E6-F16B-16FE-8B5271CC750C}"/>
              </a:ext>
            </a:extLst>
          </p:cNvPr>
          <p:cNvSpPr>
            <a:spLocks noGrp="1"/>
          </p:cNvSpPr>
          <p:nvPr>
            <p:ph type="sldNum" sz="quarter" idx="12"/>
          </p:nvPr>
        </p:nvSpPr>
        <p:spPr/>
        <p:txBody>
          <a:bodyPr/>
          <a:lstStyle/>
          <a:p>
            <a:fld id="{728A8183-4B42-40E5-910E-3C13EFA0A114}" type="slidenum">
              <a:rPr lang="zh-CN" altLang="en-US" smtClean="0"/>
              <a:t>‹#›</a:t>
            </a:fld>
            <a:endParaRPr lang="zh-CN" altLang="en-US"/>
          </a:p>
        </p:txBody>
      </p:sp>
    </p:spTree>
    <p:extLst>
      <p:ext uri="{BB962C8B-B14F-4D97-AF65-F5344CB8AC3E}">
        <p14:creationId xmlns:p14="http://schemas.microsoft.com/office/powerpoint/2010/main" val="462853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B9345C-E46D-CF15-038E-7BFD2E062D7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EB658FC-B2C9-B4E4-FB94-E8CB2687201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7494B3A-DA26-9B32-ADBD-C874E6173087}"/>
              </a:ext>
            </a:extLst>
          </p:cNvPr>
          <p:cNvSpPr>
            <a:spLocks noGrp="1"/>
          </p:cNvSpPr>
          <p:nvPr>
            <p:ph type="dt" sz="half" idx="10"/>
          </p:nvPr>
        </p:nvSpPr>
        <p:spPr/>
        <p:txBody>
          <a:bodyPr/>
          <a:lstStyle/>
          <a:p>
            <a:fld id="{124E0989-648B-42F6-967E-A9D473021955}" type="datetimeFigureOut">
              <a:rPr lang="zh-CN" altLang="en-US" smtClean="0"/>
              <a:t>2025/5/21</a:t>
            </a:fld>
            <a:endParaRPr lang="zh-CN" altLang="en-US"/>
          </a:p>
        </p:txBody>
      </p:sp>
      <p:sp>
        <p:nvSpPr>
          <p:cNvPr id="5" name="页脚占位符 4">
            <a:extLst>
              <a:ext uri="{FF2B5EF4-FFF2-40B4-BE49-F238E27FC236}">
                <a16:creationId xmlns:a16="http://schemas.microsoft.com/office/drawing/2014/main" id="{CBEDBB1C-3A44-1D5A-EE31-A2632F9BBFF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E20C496-D06D-B712-8298-1DF0310EC511}"/>
              </a:ext>
            </a:extLst>
          </p:cNvPr>
          <p:cNvSpPr>
            <a:spLocks noGrp="1"/>
          </p:cNvSpPr>
          <p:nvPr>
            <p:ph type="sldNum" sz="quarter" idx="12"/>
          </p:nvPr>
        </p:nvSpPr>
        <p:spPr/>
        <p:txBody>
          <a:bodyPr/>
          <a:lstStyle/>
          <a:p>
            <a:fld id="{728A8183-4B42-40E5-910E-3C13EFA0A114}" type="slidenum">
              <a:rPr lang="zh-CN" altLang="en-US" smtClean="0"/>
              <a:t>‹#›</a:t>
            </a:fld>
            <a:endParaRPr lang="zh-CN" altLang="en-US"/>
          </a:p>
        </p:txBody>
      </p:sp>
    </p:spTree>
    <p:extLst>
      <p:ext uri="{BB962C8B-B14F-4D97-AF65-F5344CB8AC3E}">
        <p14:creationId xmlns:p14="http://schemas.microsoft.com/office/powerpoint/2010/main" val="3611231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68AAC0F-3711-E56C-0AA3-1D7938C888A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F8C893B-BA02-3E02-ADA4-5F69644925C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4DDCFCE-7524-4323-809D-071BBDA1E25A}"/>
              </a:ext>
            </a:extLst>
          </p:cNvPr>
          <p:cNvSpPr>
            <a:spLocks noGrp="1"/>
          </p:cNvSpPr>
          <p:nvPr>
            <p:ph type="dt" sz="half" idx="10"/>
          </p:nvPr>
        </p:nvSpPr>
        <p:spPr/>
        <p:txBody>
          <a:bodyPr/>
          <a:lstStyle/>
          <a:p>
            <a:fld id="{124E0989-648B-42F6-967E-A9D473021955}" type="datetimeFigureOut">
              <a:rPr lang="zh-CN" altLang="en-US" smtClean="0"/>
              <a:t>2025/5/21</a:t>
            </a:fld>
            <a:endParaRPr lang="zh-CN" altLang="en-US"/>
          </a:p>
        </p:txBody>
      </p:sp>
      <p:sp>
        <p:nvSpPr>
          <p:cNvPr id="5" name="页脚占位符 4">
            <a:extLst>
              <a:ext uri="{FF2B5EF4-FFF2-40B4-BE49-F238E27FC236}">
                <a16:creationId xmlns:a16="http://schemas.microsoft.com/office/drawing/2014/main" id="{BB52B8F3-24B1-0338-94DC-BFC1902EDF2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40001F7-56C9-7297-F72C-C4AE57F01957}"/>
              </a:ext>
            </a:extLst>
          </p:cNvPr>
          <p:cNvSpPr>
            <a:spLocks noGrp="1"/>
          </p:cNvSpPr>
          <p:nvPr>
            <p:ph type="sldNum" sz="quarter" idx="12"/>
          </p:nvPr>
        </p:nvSpPr>
        <p:spPr/>
        <p:txBody>
          <a:bodyPr/>
          <a:lstStyle/>
          <a:p>
            <a:fld id="{728A8183-4B42-40E5-910E-3C13EFA0A114}" type="slidenum">
              <a:rPr lang="zh-CN" altLang="en-US" smtClean="0"/>
              <a:t>‹#›</a:t>
            </a:fld>
            <a:endParaRPr lang="zh-CN" altLang="en-US"/>
          </a:p>
        </p:txBody>
      </p:sp>
    </p:spTree>
    <p:extLst>
      <p:ext uri="{BB962C8B-B14F-4D97-AF65-F5344CB8AC3E}">
        <p14:creationId xmlns:p14="http://schemas.microsoft.com/office/powerpoint/2010/main" val="2924122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A3BA494-F81F-4DCE-7EAD-296B442FC3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433EF81-3B86-01E3-7EFC-2FB0D5DCDE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2073220-886F-78E0-D18A-9B18CB1E59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4E0989-648B-42F6-967E-A9D473021955}" type="datetimeFigureOut">
              <a:rPr lang="zh-CN" altLang="en-US" smtClean="0"/>
              <a:t>2025/5/21</a:t>
            </a:fld>
            <a:endParaRPr lang="zh-CN" altLang="en-US"/>
          </a:p>
        </p:txBody>
      </p:sp>
      <p:sp>
        <p:nvSpPr>
          <p:cNvPr id="5" name="页脚占位符 4">
            <a:extLst>
              <a:ext uri="{FF2B5EF4-FFF2-40B4-BE49-F238E27FC236}">
                <a16:creationId xmlns:a16="http://schemas.microsoft.com/office/drawing/2014/main" id="{5AB3628C-3C8B-18B9-EA09-CB112FDA64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153BDAA-D72E-1234-5A6E-939F95DD89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8A8183-4B42-40E5-910E-3C13EFA0A114}" type="slidenum">
              <a:rPr lang="zh-CN" altLang="en-US" smtClean="0"/>
              <a:t>‹#›</a:t>
            </a:fld>
            <a:endParaRPr lang="zh-CN" altLang="en-US"/>
          </a:p>
        </p:txBody>
      </p:sp>
    </p:spTree>
    <p:extLst>
      <p:ext uri="{BB962C8B-B14F-4D97-AF65-F5344CB8AC3E}">
        <p14:creationId xmlns:p14="http://schemas.microsoft.com/office/powerpoint/2010/main" val="31360232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image" Target="../media/image8.jpg"/><Relationship Id="rId7" Type="http://schemas.openxmlformats.org/officeDocument/2006/relationships/image" Target="../media/image12.jpg"/><Relationship Id="rId2" Type="http://schemas.openxmlformats.org/officeDocument/2006/relationships/hyperlink" Target="file:///C:\Users\96404\Desktop\&#35843;&#26597;&#38382;&#21367;&#27719;&#24635;.docx" TargetMode="External"/><Relationship Id="rId1" Type="http://schemas.openxmlformats.org/officeDocument/2006/relationships/slideLayout" Target="../slideLayouts/slideLayout2.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jpg"/><Relationship Id="rId9"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32.jpg"/><Relationship Id="rId1" Type="http://schemas.openxmlformats.org/officeDocument/2006/relationships/slideLayout" Target="../slideLayouts/slideLayout2.xml"/><Relationship Id="rId6" Type="http://schemas.openxmlformats.org/officeDocument/2006/relationships/image" Target="../media/image35.jpg"/><Relationship Id="rId5" Type="http://schemas.openxmlformats.org/officeDocument/2006/relationships/image" Target="../media/image34.jpg"/><Relationship Id="rId4" Type="http://schemas.openxmlformats.org/officeDocument/2006/relationships/image" Target="../media/image33.jpg"/></Relationships>
</file>

<file path=ppt/slides/_rels/slide24.xml.rels><?xml version="1.0" encoding="UTF-8" standalone="yes"?>
<Relationships xmlns="http://schemas.openxmlformats.org/package/2006/relationships"><Relationship Id="rId2" Type="http://schemas.openxmlformats.org/officeDocument/2006/relationships/hyperlink" Target="file:///C:\Users\96404\Desktop\&#20010;&#24615;&#21270;&#31639;&#27861;(3).docx"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file:///C:\Users\96404\Desktop\&#21335;&#36335;&#39135;&#22530;&#33756;&#21697;(2).csv" TargetMode="External"/><Relationship Id="rId2" Type="http://schemas.openxmlformats.org/officeDocument/2006/relationships/hyperlink" Target="file:///C:\Users\96404\Desktop\23&#31181;&#39278;&#39135;&#27169;&#24335;&#21450;&#30456;&#24212;&#30340;&#33756;&#21697;&#36873;&#25321;(1).docx" TargetMode="External"/><Relationship Id="rId1" Type="http://schemas.openxmlformats.org/officeDocument/2006/relationships/slideLayout" Target="../slideLayouts/slideLayout2.xml"/><Relationship Id="rId4" Type="http://schemas.openxmlformats.org/officeDocument/2006/relationships/hyperlink" Target="file:///C:\Users\96404\Desktop\&#39135;&#22530;&#33756;&#21697;&#25353;&#33829;&#20859;&#20215;&#20540;&#20998;&#31867;(1).csv" TargetMode="External"/></Relationships>
</file>

<file path=ppt/slides/_rels/slide41.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5DCDDB2D-EAEB-4F55-A217-ECDD547681C0}"/>
              </a:ext>
            </a:extLst>
          </p:cNvPr>
          <p:cNvPicPr>
            <a:picLocks noChangeAspect="1"/>
          </p:cNvPicPr>
          <p:nvPr/>
        </p:nvPicPr>
        <p:blipFill>
          <a:blip r:embed="rId2">
            <a:alphaModFix amt="94000"/>
            <a:extLst>
              <a:ext uri="{28A0092B-C50C-407E-A947-70E740481C1C}">
                <a14:useLocalDpi xmlns:a14="http://schemas.microsoft.com/office/drawing/2010/main" val="0"/>
              </a:ext>
            </a:extLst>
          </a:blip>
          <a:stretch>
            <a:fillRect/>
          </a:stretch>
        </p:blipFill>
        <p:spPr>
          <a:xfrm>
            <a:off x="0" y="-14318"/>
            <a:ext cx="12192000" cy="6858000"/>
          </a:xfrm>
          <a:prstGeom prst="rect">
            <a:avLst/>
          </a:prstGeom>
          <a:effectLst>
            <a:glow rad="25400">
              <a:schemeClr val="accent1">
                <a:alpha val="40000"/>
              </a:schemeClr>
            </a:glow>
            <a:softEdge rad="0"/>
          </a:effectLst>
        </p:spPr>
      </p:pic>
      <p:pic>
        <p:nvPicPr>
          <p:cNvPr id="5" name="内容占位符 4">
            <a:extLst>
              <a:ext uri="{FF2B5EF4-FFF2-40B4-BE49-F238E27FC236}">
                <a16:creationId xmlns:a16="http://schemas.microsoft.com/office/drawing/2014/main" id="{9A77A6E8-923A-46BF-8A70-341DFADBFF5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 y="-14318"/>
            <a:ext cx="5732585" cy="6872318"/>
          </a:xfrm>
          <a:prstGeom prst="rect">
            <a:avLst/>
          </a:prstGeom>
          <a:ln>
            <a:noFill/>
          </a:ln>
          <a:effectLst>
            <a:softEdge rad="112500"/>
          </a:effectLst>
        </p:spPr>
      </p:pic>
      <p:pic>
        <p:nvPicPr>
          <p:cNvPr id="7" name="图片 6">
            <a:extLst>
              <a:ext uri="{FF2B5EF4-FFF2-40B4-BE49-F238E27FC236}">
                <a16:creationId xmlns:a16="http://schemas.microsoft.com/office/drawing/2014/main" id="{17F5005D-D846-4C4B-BC17-E14B9CBE1E32}"/>
              </a:ext>
            </a:extLst>
          </p:cNvPr>
          <p:cNvPicPr>
            <a:picLocks noChangeAspect="1"/>
          </p:cNvPicPr>
          <p:nvPr/>
        </p:nvPicPr>
        <p:blipFill rotWithShape="1">
          <a:blip r:embed="rId4">
            <a:extLst>
              <a:ext uri="{28A0092B-C50C-407E-A947-70E740481C1C}">
                <a14:useLocalDpi xmlns:a14="http://schemas.microsoft.com/office/drawing/2010/main" val="0"/>
              </a:ext>
            </a:extLst>
          </a:blip>
          <a:srcRect t="89" r="2055"/>
          <a:stretch/>
        </p:blipFill>
        <p:spPr>
          <a:xfrm>
            <a:off x="1723294" y="4548554"/>
            <a:ext cx="855783" cy="854512"/>
          </a:xfrm>
          <a:prstGeom prst="rect">
            <a:avLst/>
          </a:prstGeom>
          <a:ln>
            <a:noFill/>
          </a:ln>
          <a:effectLst>
            <a:softEdge rad="112500"/>
          </a:effectLst>
        </p:spPr>
      </p:pic>
      <p:sp>
        <p:nvSpPr>
          <p:cNvPr id="10" name="矩形 9">
            <a:extLst>
              <a:ext uri="{FF2B5EF4-FFF2-40B4-BE49-F238E27FC236}">
                <a16:creationId xmlns:a16="http://schemas.microsoft.com/office/drawing/2014/main" id="{79F7737C-4255-4CEE-8C90-5304AF66C4EB}"/>
              </a:ext>
            </a:extLst>
          </p:cNvPr>
          <p:cNvSpPr/>
          <p:nvPr/>
        </p:nvSpPr>
        <p:spPr>
          <a:xfrm>
            <a:off x="4349128" y="850646"/>
            <a:ext cx="9226327" cy="1138773"/>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50" normalizeH="0" baseline="0" noProof="0" dirty="0">
                <a:ln w="0"/>
                <a:solidFill>
                  <a:prstClr val="black">
                    <a:lumMod val="65000"/>
                    <a:lumOff val="35000"/>
                  </a:prstClr>
                </a:solidFill>
                <a:effectLst>
                  <a:innerShdw blurRad="63500" dist="50800" dir="13500000">
                    <a:srgbClr val="000000">
                      <a:alpha val="50000"/>
                    </a:srgbClr>
                  </a:innerShdw>
                </a:effectLst>
                <a:uLnTx/>
                <a:uFillTx/>
                <a:latin typeface="微软雅黑" panose="020B0503020204020204" pitchFamily="34" charset="-122"/>
                <a:ea typeface="微软雅黑" panose="020B0503020204020204" pitchFamily="34" charset="-122"/>
                <a:cs typeface="+mn-cs"/>
              </a:rPr>
              <a:t>中央财经大学创新创业比赛</a:t>
            </a:r>
            <a:endParaRPr kumimoji="0" lang="en-US" altLang="zh-CN" sz="4000" b="1" i="0" u="none" strike="noStrike" kern="1200" cap="none" spc="50" normalizeH="0" baseline="0" noProof="0" dirty="0">
              <a:ln w="0"/>
              <a:solidFill>
                <a:prstClr val="black">
                  <a:lumMod val="65000"/>
                  <a:lumOff val="35000"/>
                </a:prstClr>
              </a:solidFill>
              <a:effectLst>
                <a:innerShdw blurRad="63500" dist="50800" dir="13500000">
                  <a:srgbClr val="000000">
                    <a:alpha val="50000"/>
                  </a:srgbClr>
                </a:innerShdw>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50" normalizeH="0" baseline="0" noProof="0" dirty="0">
                <a:ln w="0"/>
                <a:solidFill>
                  <a:srgbClr val="FF0000"/>
                </a:solidFill>
                <a:effectLst>
                  <a:innerShdw blurRad="63500" dist="50800" dir="13500000">
                    <a:srgbClr val="000000">
                      <a:alpha val="50000"/>
                    </a:srgbClr>
                  </a:innerShdw>
                </a:effectLst>
                <a:uLnTx/>
                <a:uFillTx/>
                <a:latin typeface="微软雅黑" panose="020B0503020204020204" pitchFamily="34" charset="-122"/>
                <a:ea typeface="微软雅黑" panose="020B0503020204020204" pitchFamily="34" charset="-122"/>
                <a:cs typeface="+mn-cs"/>
              </a:rPr>
              <a:t>主赛道 创意组 人工智能</a:t>
            </a:r>
            <a:r>
              <a:rPr kumimoji="0" lang="en-US" altLang="zh-CN" sz="2800" b="1" i="0" u="none" strike="noStrike" kern="1200" cap="none" spc="50" normalizeH="0" baseline="0" noProof="0" dirty="0">
                <a:ln w="0"/>
                <a:solidFill>
                  <a:srgbClr val="FF0000"/>
                </a:solidFill>
                <a:effectLst>
                  <a:innerShdw blurRad="63500" dist="50800" dir="13500000">
                    <a:srgbClr val="000000">
                      <a:alpha val="50000"/>
                    </a:srgbClr>
                  </a:innerShdw>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50" normalizeH="0" baseline="0" noProof="0" dirty="0">
                <a:ln w="0"/>
                <a:solidFill>
                  <a:srgbClr val="FF0000"/>
                </a:solidFill>
                <a:effectLst>
                  <a:innerShdw blurRad="63500" dist="50800" dir="13500000">
                    <a:srgbClr val="000000">
                      <a:alpha val="50000"/>
                    </a:srgbClr>
                  </a:innerShdw>
                </a:effectLst>
                <a:uLnTx/>
                <a:uFillTx/>
                <a:latin typeface="微软雅黑" panose="020B0503020204020204" pitchFamily="34" charset="-122"/>
                <a:ea typeface="微软雅黑" panose="020B0503020204020204" pitchFamily="34" charset="-122"/>
                <a:cs typeface="+mn-cs"/>
              </a:rPr>
              <a:t> </a:t>
            </a:r>
            <a:endParaRPr kumimoji="0" lang="zh-CN" altLang="en-US" sz="2800" b="1" i="0" u="none" strike="noStrike" kern="1200" cap="none" spc="50" normalizeH="0" baseline="0" noProof="0" dirty="0">
              <a:ln w="0"/>
              <a:solidFill>
                <a:srgbClr val="FF0000"/>
              </a:solidFill>
              <a:effectLst>
                <a:innerShdw blurRad="63500" dist="50800" dir="13500000">
                  <a:srgbClr val="000000">
                    <a:alpha val="50000"/>
                  </a:srgbClr>
                </a:innerShdw>
              </a:effectLst>
              <a:uLnTx/>
              <a:uFillTx/>
              <a:latin typeface="等线" panose="020F0502020204030204"/>
              <a:ea typeface="等线" panose="02010600030101010101" pitchFamily="2" charset="-122"/>
              <a:cs typeface="+mn-cs"/>
            </a:endParaRPr>
          </a:p>
        </p:txBody>
      </p:sp>
      <p:sp>
        <p:nvSpPr>
          <p:cNvPr id="12" name="标题 11">
            <a:extLst>
              <a:ext uri="{FF2B5EF4-FFF2-40B4-BE49-F238E27FC236}">
                <a16:creationId xmlns:a16="http://schemas.microsoft.com/office/drawing/2014/main" id="{ABE0728F-32CC-4371-9192-B393C62F0AB3}"/>
              </a:ext>
            </a:extLst>
          </p:cNvPr>
          <p:cNvSpPr>
            <a:spLocks noGrp="1"/>
          </p:cNvSpPr>
          <p:nvPr>
            <p:ph type="title"/>
          </p:nvPr>
        </p:nvSpPr>
        <p:spPr>
          <a:xfrm>
            <a:off x="5732584" y="1955800"/>
            <a:ext cx="6648102" cy="2946399"/>
          </a:xfrm>
        </p:spPr>
        <p:txBody>
          <a:bodyPr>
            <a:normAutofit/>
          </a:bodyPr>
          <a:lstStyle/>
          <a:p>
            <a:pPr fontAlgn="base"/>
            <a:r>
              <a:rPr lang="zh-CN" altLang="en-US" sz="1800" b="1" dirty="0">
                <a:latin typeface="Arial Narrow" panose="020B0606020202030204" pitchFamily="34" charset="0"/>
                <a:ea typeface="+mn-ea"/>
              </a:rPr>
              <a:t>项目名称：</a:t>
            </a:r>
            <a:r>
              <a:rPr lang="zh-CN" altLang="en-US" sz="1800" b="1" u="sng" dirty="0">
                <a:latin typeface="Arial Narrow" panose="020B0606020202030204" pitchFamily="34" charset="0"/>
                <a:ea typeface="+mn-ea"/>
              </a:rPr>
              <a:t>“智饷”高校智慧食堂智能移动平台</a:t>
            </a:r>
            <a:br>
              <a:rPr lang="en-US" altLang="zh-CN" sz="1800" b="1" u="sng" dirty="0">
                <a:latin typeface="Arial Narrow" panose="020B0606020202030204" pitchFamily="34" charset="0"/>
                <a:ea typeface="+mn-ea"/>
              </a:rPr>
            </a:br>
            <a:r>
              <a:rPr lang="zh-CN" altLang="en-US" sz="1800" b="1" dirty="0">
                <a:latin typeface="Arial Narrow" panose="020B0606020202030204" pitchFamily="34" charset="0"/>
                <a:ea typeface="+mn-ea"/>
              </a:rPr>
              <a:t>团队成员：蔡雨轩、郑皓文、姬浩轩、黄牧语、王培霄</a:t>
            </a:r>
            <a:br>
              <a:rPr lang="en-US" altLang="zh-CN" sz="1800" b="1" u="sng" dirty="0">
                <a:latin typeface="Arial Narrow" panose="020B0606020202030204" pitchFamily="34" charset="0"/>
                <a:ea typeface="+mn-ea"/>
              </a:rPr>
            </a:br>
            <a:r>
              <a:rPr lang="zh-CN" altLang="en-US" sz="1800" b="1" dirty="0">
                <a:latin typeface="Arial Narrow" panose="020B0606020202030204" pitchFamily="34" charset="0"/>
                <a:ea typeface="+mn-ea"/>
              </a:rPr>
              <a:t>负责人：</a:t>
            </a:r>
            <a:r>
              <a:rPr lang="zh-CN" altLang="en-US" sz="1800" b="1" u="sng" dirty="0">
                <a:latin typeface="Arial Narrow" panose="020B0606020202030204" pitchFamily="34" charset="0"/>
                <a:ea typeface="+mn-ea"/>
              </a:rPr>
              <a:t> 蔡雨轩  </a:t>
            </a:r>
            <a:r>
              <a:rPr lang="zh-CN" altLang="en-US" sz="1800" b="1" dirty="0">
                <a:latin typeface="Arial Narrow" panose="020B0606020202030204" pitchFamily="34" charset="0"/>
                <a:ea typeface="+mn-ea"/>
              </a:rPr>
              <a:t>      </a:t>
            </a:r>
            <a:br>
              <a:rPr lang="en-US" altLang="zh-CN" sz="1800" b="1" dirty="0">
                <a:latin typeface="Arial Narrow" panose="020B0606020202030204" pitchFamily="34" charset="0"/>
                <a:ea typeface="+mn-ea"/>
              </a:rPr>
            </a:br>
            <a:r>
              <a:rPr lang="zh-CN" altLang="en-US" sz="1800" b="1" dirty="0">
                <a:latin typeface="Arial Narrow" panose="020B0606020202030204" pitchFamily="34" charset="0"/>
                <a:ea typeface="+mn-ea"/>
              </a:rPr>
              <a:t>汇报人：</a:t>
            </a:r>
            <a:r>
              <a:rPr lang="zh-CN" altLang="en-US" sz="1800" b="1" u="sng" dirty="0">
                <a:latin typeface="Arial Narrow" panose="020B0606020202030204" pitchFamily="34" charset="0"/>
                <a:ea typeface="+mn-ea"/>
              </a:rPr>
              <a:t> 郑皓文  </a:t>
            </a:r>
          </a:p>
        </p:txBody>
      </p:sp>
      <p:pic>
        <p:nvPicPr>
          <p:cNvPr id="14" name="图片 13">
            <a:extLst>
              <a:ext uri="{FF2B5EF4-FFF2-40B4-BE49-F238E27FC236}">
                <a16:creationId xmlns:a16="http://schemas.microsoft.com/office/drawing/2014/main" id="{183B1E63-D92D-48DC-A1DF-38339195029E}"/>
              </a:ext>
            </a:extLst>
          </p:cNvPr>
          <p:cNvPicPr>
            <a:picLocks noChangeAspect="1"/>
          </p:cNvPicPr>
          <p:nvPr/>
        </p:nvPicPr>
        <p:blipFill rotWithShape="1">
          <a:blip r:embed="rId5">
            <a:extLst>
              <a:ext uri="{28A0092B-C50C-407E-A947-70E740481C1C}">
                <a14:useLocalDpi xmlns:a14="http://schemas.microsoft.com/office/drawing/2010/main" val="0"/>
              </a:ext>
            </a:extLst>
          </a:blip>
          <a:srcRect l="6114" r="3547" b="7170"/>
          <a:stretch/>
        </p:blipFill>
        <p:spPr>
          <a:xfrm>
            <a:off x="9265920" y="3872428"/>
            <a:ext cx="2926080" cy="2950064"/>
          </a:xfrm>
          <a:prstGeom prst="rect">
            <a:avLst/>
          </a:prstGeom>
          <a:ln>
            <a:noFill/>
          </a:ln>
          <a:effectLst>
            <a:softEdge rad="112500"/>
          </a:effectLst>
        </p:spPr>
      </p:pic>
    </p:spTree>
    <p:extLst>
      <p:ext uri="{BB962C8B-B14F-4D97-AF65-F5344CB8AC3E}">
        <p14:creationId xmlns:p14="http://schemas.microsoft.com/office/powerpoint/2010/main" val="93090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任意多边形: 形状 8">
            <a:extLst>
              <a:ext uri="{FF2B5EF4-FFF2-40B4-BE49-F238E27FC236}">
                <a16:creationId xmlns:a16="http://schemas.microsoft.com/office/drawing/2014/main" id="{9284F1B3-A0D4-AE94-0317-6F8A18216A88}"/>
              </a:ext>
            </a:extLst>
          </p:cNvPr>
          <p:cNvSpPr/>
          <p:nvPr/>
        </p:nvSpPr>
        <p:spPr>
          <a:xfrm>
            <a:off x="5467017" y="3136391"/>
            <a:ext cx="1259090" cy="2554001"/>
          </a:xfrm>
          <a:custGeom>
            <a:avLst/>
            <a:gdLst>
              <a:gd name="connsiteX0" fmla="*/ 629545 w 1259090"/>
              <a:gd name="connsiteY0" fmla="*/ 0 h 2554001"/>
              <a:gd name="connsiteX1" fmla="*/ 671741 w 1259090"/>
              <a:gd name="connsiteY1" fmla="*/ 31553 h 2554001"/>
              <a:gd name="connsiteX2" fmla="*/ 1259090 w 1259090"/>
              <a:gd name="connsiteY2" fmla="*/ 1277000 h 2554001"/>
              <a:gd name="connsiteX3" fmla="*/ 671741 w 1259090"/>
              <a:gd name="connsiteY3" fmla="*/ 2522447 h 2554001"/>
              <a:gd name="connsiteX4" fmla="*/ 629545 w 1259090"/>
              <a:gd name="connsiteY4" fmla="*/ 2554001 h 2554001"/>
              <a:gd name="connsiteX5" fmla="*/ 587349 w 1259090"/>
              <a:gd name="connsiteY5" fmla="*/ 2522447 h 2554001"/>
              <a:gd name="connsiteX6" fmla="*/ 0 w 1259090"/>
              <a:gd name="connsiteY6" fmla="*/ 1277000 h 2554001"/>
              <a:gd name="connsiteX7" fmla="*/ 587349 w 1259090"/>
              <a:gd name="connsiteY7" fmla="*/ 31553 h 2554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9090" h="2554001">
                <a:moveTo>
                  <a:pt x="629545" y="0"/>
                </a:moveTo>
                <a:lnTo>
                  <a:pt x="671741" y="31553"/>
                </a:lnTo>
                <a:cubicBezTo>
                  <a:pt x="1030450" y="327586"/>
                  <a:pt x="1259090" y="775592"/>
                  <a:pt x="1259090" y="1277000"/>
                </a:cubicBezTo>
                <a:cubicBezTo>
                  <a:pt x="1259090" y="1778408"/>
                  <a:pt x="1030450" y="2226414"/>
                  <a:pt x="671741" y="2522447"/>
                </a:cubicBezTo>
                <a:lnTo>
                  <a:pt x="629545" y="2554001"/>
                </a:lnTo>
                <a:lnTo>
                  <a:pt x="587349" y="2522447"/>
                </a:lnTo>
                <a:cubicBezTo>
                  <a:pt x="228640" y="2226414"/>
                  <a:pt x="0" y="1778408"/>
                  <a:pt x="0" y="1277000"/>
                </a:cubicBezTo>
                <a:cubicBezTo>
                  <a:pt x="0" y="775592"/>
                  <a:pt x="228640" y="327586"/>
                  <a:pt x="587349" y="31553"/>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0" name="任意多边形: 形状 9">
            <a:extLst>
              <a:ext uri="{FF2B5EF4-FFF2-40B4-BE49-F238E27FC236}">
                <a16:creationId xmlns:a16="http://schemas.microsoft.com/office/drawing/2014/main" id="{1AF5BEA0-4B38-2E43-B68C-A52380A7B625}"/>
              </a:ext>
            </a:extLst>
          </p:cNvPr>
          <p:cNvSpPr/>
          <p:nvPr/>
        </p:nvSpPr>
        <p:spPr>
          <a:xfrm>
            <a:off x="5467017" y="3136391"/>
            <a:ext cx="1259090" cy="2554001"/>
          </a:xfrm>
          <a:custGeom>
            <a:avLst/>
            <a:gdLst>
              <a:gd name="connsiteX0" fmla="*/ 629545 w 1259090"/>
              <a:gd name="connsiteY0" fmla="*/ 0 h 2554001"/>
              <a:gd name="connsiteX1" fmla="*/ 671741 w 1259090"/>
              <a:gd name="connsiteY1" fmla="*/ 31553 h 2554001"/>
              <a:gd name="connsiteX2" fmla="*/ 1259090 w 1259090"/>
              <a:gd name="connsiteY2" fmla="*/ 1277000 h 2554001"/>
              <a:gd name="connsiteX3" fmla="*/ 671741 w 1259090"/>
              <a:gd name="connsiteY3" fmla="*/ 2522447 h 2554001"/>
              <a:gd name="connsiteX4" fmla="*/ 629545 w 1259090"/>
              <a:gd name="connsiteY4" fmla="*/ 2554001 h 2554001"/>
              <a:gd name="connsiteX5" fmla="*/ 587349 w 1259090"/>
              <a:gd name="connsiteY5" fmla="*/ 2522447 h 2554001"/>
              <a:gd name="connsiteX6" fmla="*/ 0 w 1259090"/>
              <a:gd name="connsiteY6" fmla="*/ 1277000 h 2554001"/>
              <a:gd name="connsiteX7" fmla="*/ 587349 w 1259090"/>
              <a:gd name="connsiteY7" fmla="*/ 31553 h 2554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9090" h="2554001">
                <a:moveTo>
                  <a:pt x="629545" y="0"/>
                </a:moveTo>
                <a:lnTo>
                  <a:pt x="671741" y="31553"/>
                </a:lnTo>
                <a:cubicBezTo>
                  <a:pt x="1030450" y="327586"/>
                  <a:pt x="1259090" y="775592"/>
                  <a:pt x="1259090" y="1277000"/>
                </a:cubicBezTo>
                <a:cubicBezTo>
                  <a:pt x="1259090" y="1778408"/>
                  <a:pt x="1030450" y="2226414"/>
                  <a:pt x="671741" y="2522447"/>
                </a:cubicBezTo>
                <a:lnTo>
                  <a:pt x="629545" y="2554001"/>
                </a:lnTo>
                <a:lnTo>
                  <a:pt x="587349" y="2522447"/>
                </a:lnTo>
                <a:cubicBezTo>
                  <a:pt x="228640" y="2226414"/>
                  <a:pt x="0" y="1778408"/>
                  <a:pt x="0" y="1277000"/>
                </a:cubicBezTo>
                <a:cubicBezTo>
                  <a:pt x="0" y="775592"/>
                  <a:pt x="228640" y="327586"/>
                  <a:pt x="587349" y="31553"/>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1" name="任意多边形: 形状 10">
            <a:extLst>
              <a:ext uri="{FF2B5EF4-FFF2-40B4-BE49-F238E27FC236}">
                <a16:creationId xmlns:a16="http://schemas.microsoft.com/office/drawing/2014/main" id="{B62B336D-80EB-F067-3964-F3B476764298}"/>
              </a:ext>
            </a:extLst>
          </p:cNvPr>
          <p:cNvSpPr/>
          <p:nvPr/>
        </p:nvSpPr>
        <p:spPr>
          <a:xfrm>
            <a:off x="5467017" y="3136391"/>
            <a:ext cx="1259090" cy="2554001"/>
          </a:xfrm>
          <a:custGeom>
            <a:avLst/>
            <a:gdLst>
              <a:gd name="connsiteX0" fmla="*/ 629545 w 1259090"/>
              <a:gd name="connsiteY0" fmla="*/ 0 h 2554001"/>
              <a:gd name="connsiteX1" fmla="*/ 671741 w 1259090"/>
              <a:gd name="connsiteY1" fmla="*/ 31553 h 2554001"/>
              <a:gd name="connsiteX2" fmla="*/ 1259090 w 1259090"/>
              <a:gd name="connsiteY2" fmla="*/ 1277000 h 2554001"/>
              <a:gd name="connsiteX3" fmla="*/ 671741 w 1259090"/>
              <a:gd name="connsiteY3" fmla="*/ 2522447 h 2554001"/>
              <a:gd name="connsiteX4" fmla="*/ 629545 w 1259090"/>
              <a:gd name="connsiteY4" fmla="*/ 2554001 h 2554001"/>
              <a:gd name="connsiteX5" fmla="*/ 587349 w 1259090"/>
              <a:gd name="connsiteY5" fmla="*/ 2522447 h 2554001"/>
              <a:gd name="connsiteX6" fmla="*/ 0 w 1259090"/>
              <a:gd name="connsiteY6" fmla="*/ 1277000 h 2554001"/>
              <a:gd name="connsiteX7" fmla="*/ 587349 w 1259090"/>
              <a:gd name="connsiteY7" fmla="*/ 31553 h 2554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9090" h="2554001">
                <a:moveTo>
                  <a:pt x="629545" y="0"/>
                </a:moveTo>
                <a:lnTo>
                  <a:pt x="671741" y="31553"/>
                </a:lnTo>
                <a:cubicBezTo>
                  <a:pt x="1030450" y="327586"/>
                  <a:pt x="1259090" y="775592"/>
                  <a:pt x="1259090" y="1277000"/>
                </a:cubicBezTo>
                <a:cubicBezTo>
                  <a:pt x="1259090" y="1778408"/>
                  <a:pt x="1030450" y="2226414"/>
                  <a:pt x="671741" y="2522447"/>
                </a:cubicBezTo>
                <a:lnTo>
                  <a:pt x="629545" y="2554001"/>
                </a:lnTo>
                <a:lnTo>
                  <a:pt x="587349" y="2522447"/>
                </a:lnTo>
                <a:cubicBezTo>
                  <a:pt x="228640" y="2226414"/>
                  <a:pt x="0" y="1778408"/>
                  <a:pt x="0" y="1277000"/>
                </a:cubicBezTo>
                <a:cubicBezTo>
                  <a:pt x="0" y="775592"/>
                  <a:pt x="228640" y="327586"/>
                  <a:pt x="587349" y="31553"/>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任意多边形: 形状 11">
            <a:extLst>
              <a:ext uri="{FF2B5EF4-FFF2-40B4-BE49-F238E27FC236}">
                <a16:creationId xmlns:a16="http://schemas.microsoft.com/office/drawing/2014/main" id="{4885BB76-A851-3A5B-D895-2BB1F6C19A27}"/>
              </a:ext>
            </a:extLst>
          </p:cNvPr>
          <p:cNvSpPr/>
          <p:nvPr/>
        </p:nvSpPr>
        <p:spPr>
          <a:xfrm>
            <a:off x="5467017" y="3136391"/>
            <a:ext cx="1259090" cy="2554001"/>
          </a:xfrm>
          <a:custGeom>
            <a:avLst/>
            <a:gdLst>
              <a:gd name="connsiteX0" fmla="*/ 629545 w 1259090"/>
              <a:gd name="connsiteY0" fmla="*/ 0 h 2554001"/>
              <a:gd name="connsiteX1" fmla="*/ 671741 w 1259090"/>
              <a:gd name="connsiteY1" fmla="*/ 31553 h 2554001"/>
              <a:gd name="connsiteX2" fmla="*/ 1259090 w 1259090"/>
              <a:gd name="connsiteY2" fmla="*/ 1277000 h 2554001"/>
              <a:gd name="connsiteX3" fmla="*/ 671741 w 1259090"/>
              <a:gd name="connsiteY3" fmla="*/ 2522447 h 2554001"/>
              <a:gd name="connsiteX4" fmla="*/ 629545 w 1259090"/>
              <a:gd name="connsiteY4" fmla="*/ 2554001 h 2554001"/>
              <a:gd name="connsiteX5" fmla="*/ 587349 w 1259090"/>
              <a:gd name="connsiteY5" fmla="*/ 2522447 h 2554001"/>
              <a:gd name="connsiteX6" fmla="*/ 0 w 1259090"/>
              <a:gd name="connsiteY6" fmla="*/ 1277000 h 2554001"/>
              <a:gd name="connsiteX7" fmla="*/ 587349 w 1259090"/>
              <a:gd name="connsiteY7" fmla="*/ 31553 h 2554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9090" h="2554001">
                <a:moveTo>
                  <a:pt x="629545" y="0"/>
                </a:moveTo>
                <a:lnTo>
                  <a:pt x="671741" y="31553"/>
                </a:lnTo>
                <a:cubicBezTo>
                  <a:pt x="1030450" y="327586"/>
                  <a:pt x="1259090" y="775592"/>
                  <a:pt x="1259090" y="1277000"/>
                </a:cubicBezTo>
                <a:cubicBezTo>
                  <a:pt x="1259090" y="1778408"/>
                  <a:pt x="1030450" y="2226414"/>
                  <a:pt x="671741" y="2522447"/>
                </a:cubicBezTo>
                <a:lnTo>
                  <a:pt x="629545" y="2554001"/>
                </a:lnTo>
                <a:lnTo>
                  <a:pt x="587349" y="2522447"/>
                </a:lnTo>
                <a:cubicBezTo>
                  <a:pt x="228640" y="2226414"/>
                  <a:pt x="0" y="1778408"/>
                  <a:pt x="0" y="1277000"/>
                </a:cubicBezTo>
                <a:cubicBezTo>
                  <a:pt x="0" y="775592"/>
                  <a:pt x="228640" y="327586"/>
                  <a:pt x="587349" y="31553"/>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3" name="任意多边形: 形状 12">
            <a:extLst>
              <a:ext uri="{FF2B5EF4-FFF2-40B4-BE49-F238E27FC236}">
                <a16:creationId xmlns:a16="http://schemas.microsoft.com/office/drawing/2014/main" id="{EE06666B-B3DA-9E86-66C3-25305E833592}"/>
              </a:ext>
            </a:extLst>
          </p:cNvPr>
          <p:cNvSpPr/>
          <p:nvPr/>
        </p:nvSpPr>
        <p:spPr>
          <a:xfrm>
            <a:off x="5467017" y="3136391"/>
            <a:ext cx="1259090" cy="2554001"/>
          </a:xfrm>
          <a:custGeom>
            <a:avLst/>
            <a:gdLst>
              <a:gd name="connsiteX0" fmla="*/ 629545 w 1259090"/>
              <a:gd name="connsiteY0" fmla="*/ 0 h 2554001"/>
              <a:gd name="connsiteX1" fmla="*/ 671741 w 1259090"/>
              <a:gd name="connsiteY1" fmla="*/ 31553 h 2554001"/>
              <a:gd name="connsiteX2" fmla="*/ 1259090 w 1259090"/>
              <a:gd name="connsiteY2" fmla="*/ 1277000 h 2554001"/>
              <a:gd name="connsiteX3" fmla="*/ 671741 w 1259090"/>
              <a:gd name="connsiteY3" fmla="*/ 2522447 h 2554001"/>
              <a:gd name="connsiteX4" fmla="*/ 629545 w 1259090"/>
              <a:gd name="connsiteY4" fmla="*/ 2554001 h 2554001"/>
              <a:gd name="connsiteX5" fmla="*/ 587349 w 1259090"/>
              <a:gd name="connsiteY5" fmla="*/ 2522447 h 2554001"/>
              <a:gd name="connsiteX6" fmla="*/ 0 w 1259090"/>
              <a:gd name="connsiteY6" fmla="*/ 1277000 h 2554001"/>
              <a:gd name="connsiteX7" fmla="*/ 587349 w 1259090"/>
              <a:gd name="connsiteY7" fmla="*/ 31553 h 2554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9090" h="2554001">
                <a:moveTo>
                  <a:pt x="629545" y="0"/>
                </a:moveTo>
                <a:lnTo>
                  <a:pt x="671741" y="31553"/>
                </a:lnTo>
                <a:cubicBezTo>
                  <a:pt x="1030450" y="327586"/>
                  <a:pt x="1259090" y="775592"/>
                  <a:pt x="1259090" y="1277000"/>
                </a:cubicBezTo>
                <a:cubicBezTo>
                  <a:pt x="1259090" y="1778408"/>
                  <a:pt x="1030450" y="2226414"/>
                  <a:pt x="671741" y="2522447"/>
                </a:cubicBezTo>
                <a:lnTo>
                  <a:pt x="629545" y="2554001"/>
                </a:lnTo>
                <a:lnTo>
                  <a:pt x="587349" y="2522447"/>
                </a:lnTo>
                <a:cubicBezTo>
                  <a:pt x="228640" y="2226414"/>
                  <a:pt x="0" y="1778408"/>
                  <a:pt x="0" y="1277000"/>
                </a:cubicBezTo>
                <a:cubicBezTo>
                  <a:pt x="0" y="775592"/>
                  <a:pt x="228640" y="327586"/>
                  <a:pt x="587349" y="31553"/>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 name="文本框 7">
            <a:extLst>
              <a:ext uri="{FF2B5EF4-FFF2-40B4-BE49-F238E27FC236}">
                <a16:creationId xmlns:a16="http://schemas.microsoft.com/office/drawing/2014/main" id="{FE00693E-1BC8-1EE6-F4FF-6A25B3458843}"/>
              </a:ext>
            </a:extLst>
          </p:cNvPr>
          <p:cNvSpPr txBox="1"/>
          <p:nvPr/>
        </p:nvSpPr>
        <p:spPr>
          <a:xfrm>
            <a:off x="4688106" y="-4100858"/>
            <a:ext cx="1784465" cy="132343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PART03</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i="1" dirty="0">
                <a:solidFill>
                  <a:prstClr val="black"/>
                </a:solidFill>
                <a:latin typeface="方正舒体" panose="02010601030101010101" pitchFamily="2" charset="-122"/>
                <a:ea typeface="方正舒体" panose="02010601030101010101" pitchFamily="2" charset="-122"/>
              </a:rPr>
              <a:t>商业化可行性</a:t>
            </a:r>
            <a:endParaRPr kumimoji="0" lang="en-US" altLang="zh-CN" sz="2400" b="0" i="1" u="none" strike="noStrike" kern="1200" cap="none" spc="0" normalizeH="0" baseline="0" noProof="0" dirty="0">
              <a:ln>
                <a:noFill/>
              </a:ln>
              <a:solidFill>
                <a:prstClr val="black"/>
              </a:solidFill>
              <a:effectLst/>
              <a:uLnTx/>
              <a:uFillTx/>
              <a:latin typeface="方正舒体" panose="02010601030101010101" pitchFamily="2" charset="-122"/>
              <a:ea typeface="方正舒体" panose="02010601030101010101" pitchFamily="2" charset="-122"/>
            </a:endParaRPr>
          </a:p>
        </p:txBody>
      </p:sp>
      <p:sp>
        <p:nvSpPr>
          <p:cNvPr id="14" name="文本框 13">
            <a:extLst>
              <a:ext uri="{FF2B5EF4-FFF2-40B4-BE49-F238E27FC236}">
                <a16:creationId xmlns:a16="http://schemas.microsoft.com/office/drawing/2014/main" id="{367AFBA8-C5CE-3451-F659-5CF4B8D2D3C1}"/>
              </a:ext>
            </a:extLst>
          </p:cNvPr>
          <p:cNvSpPr txBox="1"/>
          <p:nvPr/>
        </p:nvSpPr>
        <p:spPr>
          <a:xfrm>
            <a:off x="1355695" y="-3377584"/>
            <a:ext cx="1744411" cy="132343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PART02</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i="1" dirty="0">
                <a:solidFill>
                  <a:prstClr val="black"/>
                </a:solidFill>
                <a:latin typeface="Segoe Print" panose="02000600000000000000" pitchFamily="2" charset="0"/>
                <a:ea typeface="方正舒体" panose="02010601030101010101" pitchFamily="2" charset="-122"/>
              </a:rPr>
              <a:t>我们的创新点</a:t>
            </a:r>
            <a:endParaRPr kumimoji="0" lang="zh-CN" altLang="en-US" sz="24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endParaRPr>
          </a:p>
        </p:txBody>
      </p:sp>
      <p:sp>
        <p:nvSpPr>
          <p:cNvPr id="15" name="文本框 14">
            <a:extLst>
              <a:ext uri="{FF2B5EF4-FFF2-40B4-BE49-F238E27FC236}">
                <a16:creationId xmlns:a16="http://schemas.microsoft.com/office/drawing/2014/main" id="{FA00FA30-7872-7F0A-0C4A-36867A3EB448}"/>
              </a:ext>
            </a:extLst>
          </p:cNvPr>
          <p:cNvSpPr txBox="1"/>
          <p:nvPr/>
        </p:nvSpPr>
        <p:spPr>
          <a:xfrm>
            <a:off x="8060571" y="-3239084"/>
            <a:ext cx="1635687" cy="95410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PART04</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i="1" dirty="0">
                <a:solidFill>
                  <a:prstClr val="black"/>
                </a:solidFill>
                <a:latin typeface="Segoe Print" panose="02000600000000000000" pitchFamily="2" charset="0"/>
                <a:ea typeface="方正舒体" panose="02010601030101010101" pitchFamily="2" charset="-122"/>
              </a:rPr>
              <a:t>现状</a:t>
            </a:r>
            <a:endParaRPr kumimoji="0" lang="zh-CN" altLang="en-US" sz="24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endParaRPr>
          </a:p>
        </p:txBody>
      </p:sp>
      <p:sp>
        <p:nvSpPr>
          <p:cNvPr id="16" name="文本框 15">
            <a:extLst>
              <a:ext uri="{FF2B5EF4-FFF2-40B4-BE49-F238E27FC236}">
                <a16:creationId xmlns:a16="http://schemas.microsoft.com/office/drawing/2014/main" id="{7DF845C6-61C2-BE75-C36C-EE62529912BB}"/>
              </a:ext>
            </a:extLst>
          </p:cNvPr>
          <p:cNvSpPr txBox="1"/>
          <p:nvPr/>
        </p:nvSpPr>
        <p:spPr>
          <a:xfrm>
            <a:off x="9652566" y="-1392408"/>
            <a:ext cx="1635687" cy="95410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PART05</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i="1" dirty="0">
                <a:solidFill>
                  <a:prstClr val="black"/>
                </a:solidFill>
                <a:latin typeface="Segoe Print" panose="02000600000000000000" pitchFamily="2" charset="0"/>
                <a:ea typeface="方正舒体" panose="02010601030101010101" pitchFamily="2" charset="-122"/>
              </a:rPr>
              <a:t>代码展示</a:t>
            </a:r>
            <a:endParaRPr kumimoji="0" lang="zh-CN" altLang="en-US" sz="24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endParaRPr>
          </a:p>
        </p:txBody>
      </p:sp>
      <p:sp>
        <p:nvSpPr>
          <p:cNvPr id="17" name="文本框 16">
            <a:extLst>
              <a:ext uri="{FF2B5EF4-FFF2-40B4-BE49-F238E27FC236}">
                <a16:creationId xmlns:a16="http://schemas.microsoft.com/office/drawing/2014/main" id="{7524D7C6-7265-8FD4-EAFE-47BF8B9237FC}"/>
              </a:ext>
            </a:extLst>
          </p:cNvPr>
          <p:cNvSpPr txBox="1"/>
          <p:nvPr/>
        </p:nvSpPr>
        <p:spPr>
          <a:xfrm>
            <a:off x="-318051" y="-5384683"/>
            <a:ext cx="12191999" cy="769441"/>
          </a:xfrm>
          <a:prstGeom prst="rect">
            <a:avLst/>
          </a:prstGeom>
          <a:noFill/>
        </p:spPr>
        <p:txBody>
          <a:bodyPr wrap="square" rtlCol="0">
            <a:spAutoFit/>
          </a:bodyPr>
          <a:lstStyle/>
          <a:p>
            <a:pPr marL="0" marR="0" indent="0" algn="ctr" rtl="0" eaLnBrk="1" fontAlgn="auto" latinLnBrk="0" hangingPunct="1"/>
            <a:r>
              <a:rPr lang="zh-CN" altLang="zh-CN" sz="4400" b="1" i="0" kern="1200" spc="600" baseline="0" dirty="0">
                <a:ln>
                  <a:noFill/>
                </a:ln>
                <a:solidFill>
                  <a:srgbClr val="1F4E79"/>
                </a:solidFill>
                <a:effectLst/>
                <a:latin typeface="方正舒体" panose="02010601030101010101" pitchFamily="2" charset="-122"/>
                <a:ea typeface="方正舒体" panose="02010601030101010101" pitchFamily="2" charset="-122"/>
                <a:cs typeface="Cascadia Mono" panose="020B0609020000020004" pitchFamily="49" charset="0"/>
              </a:rPr>
              <a:t>“智饷”高校智慧食堂智能移动平台</a:t>
            </a:r>
            <a:endParaRPr lang="zh-CN" altLang="zh-CN" sz="4400" dirty="0">
              <a:effectLst/>
              <a:latin typeface="方正舒体" panose="02010601030101010101" pitchFamily="2" charset="-122"/>
              <a:ea typeface="方正舒体" panose="02010601030101010101" pitchFamily="2" charset="-122"/>
            </a:endParaRPr>
          </a:p>
        </p:txBody>
      </p:sp>
      <p:grpSp>
        <p:nvGrpSpPr>
          <p:cNvPr id="18" name="组合 17">
            <a:extLst>
              <a:ext uri="{FF2B5EF4-FFF2-40B4-BE49-F238E27FC236}">
                <a16:creationId xmlns:a16="http://schemas.microsoft.com/office/drawing/2014/main" id="{6F672E52-1E31-20A4-50E9-6DB4CA97D814}"/>
              </a:ext>
            </a:extLst>
          </p:cNvPr>
          <p:cNvGrpSpPr/>
          <p:nvPr/>
        </p:nvGrpSpPr>
        <p:grpSpPr>
          <a:xfrm>
            <a:off x="258242" y="-1392408"/>
            <a:ext cx="1751294" cy="954107"/>
            <a:chOff x="576294" y="4332531"/>
            <a:chExt cx="1751294" cy="954107"/>
          </a:xfrm>
        </p:grpSpPr>
        <p:sp>
          <p:nvSpPr>
            <p:cNvPr id="19" name="文本框 18">
              <a:extLst>
                <a:ext uri="{FF2B5EF4-FFF2-40B4-BE49-F238E27FC236}">
                  <a16:creationId xmlns:a16="http://schemas.microsoft.com/office/drawing/2014/main" id="{6A16C0D5-BA96-E32C-26EE-FABF26EA38D2}"/>
                </a:ext>
              </a:extLst>
            </p:cNvPr>
            <p:cNvSpPr txBox="1"/>
            <p:nvPr/>
          </p:nvSpPr>
          <p:spPr>
            <a:xfrm>
              <a:off x="576294" y="4332531"/>
              <a:ext cx="1744411" cy="95410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1" i="1"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r>
                <a:rPr kumimoji="0" lang="en-US" altLang="zh-CN" sz="32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PART01</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i="1" dirty="0">
                  <a:solidFill>
                    <a:prstClr val="black"/>
                  </a:solidFill>
                  <a:latin typeface="Segoe Print" panose="02000600000000000000" pitchFamily="2" charset="0"/>
                  <a:ea typeface="方正舒体" panose="02010601030101010101" pitchFamily="2" charset="-122"/>
                  <a:cs typeface="Calibri" panose="020F0502020204030204" pitchFamily="34" charset="0"/>
                </a:rPr>
                <a:t>现有市场</a:t>
              </a:r>
              <a:endParaRPr kumimoji="0" lang="zh-CN" altLang="en-US" sz="24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Calibri" panose="020F0502020204030204" pitchFamily="34" charset="0"/>
              </a:endParaRPr>
            </a:p>
          </p:txBody>
        </p:sp>
        <p:sp>
          <p:nvSpPr>
            <p:cNvPr id="20" name="文本框 19">
              <a:extLst>
                <a:ext uri="{FF2B5EF4-FFF2-40B4-BE49-F238E27FC236}">
                  <a16:creationId xmlns:a16="http://schemas.microsoft.com/office/drawing/2014/main" id="{C1AC69C8-2813-057A-630C-1D2925209650}"/>
                </a:ext>
              </a:extLst>
            </p:cNvPr>
            <p:cNvSpPr txBox="1"/>
            <p:nvPr/>
          </p:nvSpPr>
          <p:spPr>
            <a:xfrm>
              <a:off x="583177" y="4332531"/>
              <a:ext cx="1744411"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1" i="1"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endParaRPr kumimoji="0" lang="en-US" altLang="zh-CN" sz="48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endParaRPr>
            </a:p>
          </p:txBody>
        </p:sp>
      </p:grpSp>
    </p:spTree>
    <p:extLst>
      <p:ext uri="{BB962C8B-B14F-4D97-AF65-F5344CB8AC3E}">
        <p14:creationId xmlns:p14="http://schemas.microsoft.com/office/powerpoint/2010/main" val="20130522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22D46-3E1B-5755-69CA-584543EB1987}"/>
            </a:ext>
          </a:extLst>
        </p:cNvPr>
        <p:cNvGrpSpPr/>
        <p:nvPr/>
      </p:nvGrpSpPr>
      <p:grpSpPr>
        <a:xfrm>
          <a:off x="0" y="0"/>
          <a:ext cx="0" cy="0"/>
          <a:chOff x="0" y="0"/>
          <a:chExt cx="0" cy="0"/>
        </a:xfrm>
      </p:grpSpPr>
      <p:sp>
        <p:nvSpPr>
          <p:cNvPr id="9" name="任意多边形: 形状 8">
            <a:extLst>
              <a:ext uri="{FF2B5EF4-FFF2-40B4-BE49-F238E27FC236}">
                <a16:creationId xmlns:a16="http://schemas.microsoft.com/office/drawing/2014/main" id="{9A69CD05-E240-388D-DDFF-B86D09FF2BDC}"/>
              </a:ext>
            </a:extLst>
          </p:cNvPr>
          <p:cNvSpPr/>
          <p:nvPr/>
        </p:nvSpPr>
        <p:spPr>
          <a:xfrm rot="-3600000">
            <a:off x="4376613" y="3765936"/>
            <a:ext cx="1259090" cy="2554001"/>
          </a:xfrm>
          <a:custGeom>
            <a:avLst/>
            <a:gdLst>
              <a:gd name="connsiteX0" fmla="*/ 629545 w 1259090"/>
              <a:gd name="connsiteY0" fmla="*/ 0 h 2554001"/>
              <a:gd name="connsiteX1" fmla="*/ 671741 w 1259090"/>
              <a:gd name="connsiteY1" fmla="*/ 31553 h 2554001"/>
              <a:gd name="connsiteX2" fmla="*/ 1259090 w 1259090"/>
              <a:gd name="connsiteY2" fmla="*/ 1277000 h 2554001"/>
              <a:gd name="connsiteX3" fmla="*/ 671741 w 1259090"/>
              <a:gd name="connsiteY3" fmla="*/ 2522447 h 2554001"/>
              <a:gd name="connsiteX4" fmla="*/ 629545 w 1259090"/>
              <a:gd name="connsiteY4" fmla="*/ 2554001 h 2554001"/>
              <a:gd name="connsiteX5" fmla="*/ 587349 w 1259090"/>
              <a:gd name="connsiteY5" fmla="*/ 2522447 h 2554001"/>
              <a:gd name="connsiteX6" fmla="*/ 0 w 1259090"/>
              <a:gd name="connsiteY6" fmla="*/ 1277000 h 2554001"/>
              <a:gd name="connsiteX7" fmla="*/ 587349 w 1259090"/>
              <a:gd name="connsiteY7" fmla="*/ 31553 h 2554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9090" h="2554001">
                <a:moveTo>
                  <a:pt x="629545" y="0"/>
                </a:moveTo>
                <a:lnTo>
                  <a:pt x="671741" y="31553"/>
                </a:lnTo>
                <a:cubicBezTo>
                  <a:pt x="1030450" y="327586"/>
                  <a:pt x="1259090" y="775592"/>
                  <a:pt x="1259090" y="1277000"/>
                </a:cubicBezTo>
                <a:cubicBezTo>
                  <a:pt x="1259090" y="1778408"/>
                  <a:pt x="1030450" y="2226414"/>
                  <a:pt x="671741" y="2522447"/>
                </a:cubicBezTo>
                <a:lnTo>
                  <a:pt x="629545" y="2554001"/>
                </a:lnTo>
                <a:lnTo>
                  <a:pt x="587349" y="2522447"/>
                </a:lnTo>
                <a:cubicBezTo>
                  <a:pt x="228640" y="2226414"/>
                  <a:pt x="0" y="1778408"/>
                  <a:pt x="0" y="1277000"/>
                </a:cubicBezTo>
                <a:cubicBezTo>
                  <a:pt x="0" y="775592"/>
                  <a:pt x="228640" y="327586"/>
                  <a:pt x="587349" y="31553"/>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lumMod val="40000"/>
                  <a:lumOff val="60000"/>
                </a:srgbClr>
              </a:solidFill>
              <a:effectLst/>
              <a:uLnTx/>
              <a:uFillTx/>
              <a:latin typeface="等线" panose="020F0502020204030204"/>
              <a:ea typeface="等线" panose="02010600030101010101" pitchFamily="2" charset="-122"/>
              <a:cs typeface="+mn-cs"/>
            </a:endParaRPr>
          </a:p>
        </p:txBody>
      </p:sp>
      <p:sp>
        <p:nvSpPr>
          <p:cNvPr id="10" name="任意多边形: 形状 9">
            <a:extLst>
              <a:ext uri="{FF2B5EF4-FFF2-40B4-BE49-F238E27FC236}">
                <a16:creationId xmlns:a16="http://schemas.microsoft.com/office/drawing/2014/main" id="{4AAE0ECF-4C31-E4B6-FA99-1151F0A4CE34}"/>
              </a:ext>
            </a:extLst>
          </p:cNvPr>
          <p:cNvSpPr/>
          <p:nvPr/>
        </p:nvSpPr>
        <p:spPr>
          <a:xfrm rot="-1800000">
            <a:off x="4837472" y="3305077"/>
            <a:ext cx="1259090" cy="2554001"/>
          </a:xfrm>
          <a:custGeom>
            <a:avLst/>
            <a:gdLst>
              <a:gd name="connsiteX0" fmla="*/ 629545 w 1259090"/>
              <a:gd name="connsiteY0" fmla="*/ 0 h 2554001"/>
              <a:gd name="connsiteX1" fmla="*/ 671741 w 1259090"/>
              <a:gd name="connsiteY1" fmla="*/ 31553 h 2554001"/>
              <a:gd name="connsiteX2" fmla="*/ 1259090 w 1259090"/>
              <a:gd name="connsiteY2" fmla="*/ 1277000 h 2554001"/>
              <a:gd name="connsiteX3" fmla="*/ 671741 w 1259090"/>
              <a:gd name="connsiteY3" fmla="*/ 2522447 h 2554001"/>
              <a:gd name="connsiteX4" fmla="*/ 629545 w 1259090"/>
              <a:gd name="connsiteY4" fmla="*/ 2554001 h 2554001"/>
              <a:gd name="connsiteX5" fmla="*/ 587349 w 1259090"/>
              <a:gd name="connsiteY5" fmla="*/ 2522447 h 2554001"/>
              <a:gd name="connsiteX6" fmla="*/ 0 w 1259090"/>
              <a:gd name="connsiteY6" fmla="*/ 1277000 h 2554001"/>
              <a:gd name="connsiteX7" fmla="*/ 587349 w 1259090"/>
              <a:gd name="connsiteY7" fmla="*/ 31553 h 2554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9090" h="2554001">
                <a:moveTo>
                  <a:pt x="629545" y="0"/>
                </a:moveTo>
                <a:lnTo>
                  <a:pt x="671741" y="31553"/>
                </a:lnTo>
                <a:cubicBezTo>
                  <a:pt x="1030450" y="327586"/>
                  <a:pt x="1259090" y="775592"/>
                  <a:pt x="1259090" y="1277000"/>
                </a:cubicBezTo>
                <a:cubicBezTo>
                  <a:pt x="1259090" y="1778408"/>
                  <a:pt x="1030450" y="2226414"/>
                  <a:pt x="671741" y="2522447"/>
                </a:cubicBezTo>
                <a:lnTo>
                  <a:pt x="629545" y="2554001"/>
                </a:lnTo>
                <a:lnTo>
                  <a:pt x="587349" y="2522447"/>
                </a:lnTo>
                <a:cubicBezTo>
                  <a:pt x="228640" y="2226414"/>
                  <a:pt x="0" y="1778408"/>
                  <a:pt x="0" y="1277000"/>
                </a:cubicBezTo>
                <a:cubicBezTo>
                  <a:pt x="0" y="775592"/>
                  <a:pt x="228640" y="327586"/>
                  <a:pt x="587349" y="31553"/>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lumMod val="40000"/>
                  <a:lumOff val="60000"/>
                </a:srgbClr>
              </a:solidFill>
              <a:effectLst/>
              <a:uLnTx/>
              <a:uFillTx/>
              <a:latin typeface="等线" panose="020F0502020204030204"/>
              <a:ea typeface="等线" panose="02010600030101010101" pitchFamily="2" charset="-122"/>
              <a:cs typeface="+mn-cs"/>
            </a:endParaRPr>
          </a:p>
        </p:txBody>
      </p:sp>
      <p:sp>
        <p:nvSpPr>
          <p:cNvPr id="11" name="任意多边形: 形状 10">
            <a:extLst>
              <a:ext uri="{FF2B5EF4-FFF2-40B4-BE49-F238E27FC236}">
                <a16:creationId xmlns:a16="http://schemas.microsoft.com/office/drawing/2014/main" id="{1F647781-ACBD-877A-F522-701EF8D85C64}"/>
              </a:ext>
            </a:extLst>
          </p:cNvPr>
          <p:cNvSpPr/>
          <p:nvPr/>
        </p:nvSpPr>
        <p:spPr>
          <a:xfrm>
            <a:off x="5467017" y="3136391"/>
            <a:ext cx="1259090" cy="2554001"/>
          </a:xfrm>
          <a:custGeom>
            <a:avLst/>
            <a:gdLst>
              <a:gd name="connsiteX0" fmla="*/ 629545 w 1259090"/>
              <a:gd name="connsiteY0" fmla="*/ 0 h 2554001"/>
              <a:gd name="connsiteX1" fmla="*/ 671741 w 1259090"/>
              <a:gd name="connsiteY1" fmla="*/ 31553 h 2554001"/>
              <a:gd name="connsiteX2" fmla="*/ 1259090 w 1259090"/>
              <a:gd name="connsiteY2" fmla="*/ 1277000 h 2554001"/>
              <a:gd name="connsiteX3" fmla="*/ 671741 w 1259090"/>
              <a:gd name="connsiteY3" fmla="*/ 2522447 h 2554001"/>
              <a:gd name="connsiteX4" fmla="*/ 629545 w 1259090"/>
              <a:gd name="connsiteY4" fmla="*/ 2554001 h 2554001"/>
              <a:gd name="connsiteX5" fmla="*/ 587349 w 1259090"/>
              <a:gd name="connsiteY5" fmla="*/ 2522447 h 2554001"/>
              <a:gd name="connsiteX6" fmla="*/ 0 w 1259090"/>
              <a:gd name="connsiteY6" fmla="*/ 1277000 h 2554001"/>
              <a:gd name="connsiteX7" fmla="*/ 587349 w 1259090"/>
              <a:gd name="connsiteY7" fmla="*/ 31553 h 2554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9090" h="2554001">
                <a:moveTo>
                  <a:pt x="629545" y="0"/>
                </a:moveTo>
                <a:lnTo>
                  <a:pt x="671741" y="31553"/>
                </a:lnTo>
                <a:cubicBezTo>
                  <a:pt x="1030450" y="327586"/>
                  <a:pt x="1259090" y="775592"/>
                  <a:pt x="1259090" y="1277000"/>
                </a:cubicBezTo>
                <a:cubicBezTo>
                  <a:pt x="1259090" y="1778408"/>
                  <a:pt x="1030450" y="2226414"/>
                  <a:pt x="671741" y="2522447"/>
                </a:cubicBezTo>
                <a:lnTo>
                  <a:pt x="629545" y="2554001"/>
                </a:lnTo>
                <a:lnTo>
                  <a:pt x="587349" y="2522447"/>
                </a:lnTo>
                <a:cubicBezTo>
                  <a:pt x="228640" y="2226414"/>
                  <a:pt x="0" y="1778408"/>
                  <a:pt x="0" y="1277000"/>
                </a:cubicBezTo>
                <a:cubicBezTo>
                  <a:pt x="0" y="775592"/>
                  <a:pt x="228640" y="327586"/>
                  <a:pt x="587349" y="31553"/>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lumMod val="40000"/>
                  <a:lumOff val="60000"/>
                </a:srgbClr>
              </a:solidFill>
              <a:effectLst/>
              <a:uLnTx/>
              <a:uFillTx/>
              <a:latin typeface="等线" panose="020F0502020204030204"/>
              <a:ea typeface="等线" panose="02010600030101010101" pitchFamily="2" charset="-122"/>
              <a:cs typeface="+mn-cs"/>
            </a:endParaRPr>
          </a:p>
        </p:txBody>
      </p:sp>
      <p:sp>
        <p:nvSpPr>
          <p:cNvPr id="12" name="任意多边形: 形状 11">
            <a:extLst>
              <a:ext uri="{FF2B5EF4-FFF2-40B4-BE49-F238E27FC236}">
                <a16:creationId xmlns:a16="http://schemas.microsoft.com/office/drawing/2014/main" id="{5DFF0D21-2900-D68D-F6BB-3CC186C8840A}"/>
              </a:ext>
            </a:extLst>
          </p:cNvPr>
          <p:cNvSpPr/>
          <p:nvPr/>
        </p:nvSpPr>
        <p:spPr>
          <a:xfrm rot="1800000">
            <a:off x="6096562" y="3305077"/>
            <a:ext cx="1259090" cy="2554001"/>
          </a:xfrm>
          <a:custGeom>
            <a:avLst/>
            <a:gdLst>
              <a:gd name="connsiteX0" fmla="*/ 629545 w 1259090"/>
              <a:gd name="connsiteY0" fmla="*/ 0 h 2554001"/>
              <a:gd name="connsiteX1" fmla="*/ 671741 w 1259090"/>
              <a:gd name="connsiteY1" fmla="*/ 31553 h 2554001"/>
              <a:gd name="connsiteX2" fmla="*/ 1259090 w 1259090"/>
              <a:gd name="connsiteY2" fmla="*/ 1277000 h 2554001"/>
              <a:gd name="connsiteX3" fmla="*/ 671741 w 1259090"/>
              <a:gd name="connsiteY3" fmla="*/ 2522447 h 2554001"/>
              <a:gd name="connsiteX4" fmla="*/ 629545 w 1259090"/>
              <a:gd name="connsiteY4" fmla="*/ 2554001 h 2554001"/>
              <a:gd name="connsiteX5" fmla="*/ 587349 w 1259090"/>
              <a:gd name="connsiteY5" fmla="*/ 2522447 h 2554001"/>
              <a:gd name="connsiteX6" fmla="*/ 0 w 1259090"/>
              <a:gd name="connsiteY6" fmla="*/ 1277000 h 2554001"/>
              <a:gd name="connsiteX7" fmla="*/ 587349 w 1259090"/>
              <a:gd name="connsiteY7" fmla="*/ 31553 h 2554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9090" h="2554001">
                <a:moveTo>
                  <a:pt x="629545" y="0"/>
                </a:moveTo>
                <a:lnTo>
                  <a:pt x="671741" y="31553"/>
                </a:lnTo>
                <a:cubicBezTo>
                  <a:pt x="1030450" y="327586"/>
                  <a:pt x="1259090" y="775592"/>
                  <a:pt x="1259090" y="1277000"/>
                </a:cubicBezTo>
                <a:cubicBezTo>
                  <a:pt x="1259090" y="1778408"/>
                  <a:pt x="1030450" y="2226414"/>
                  <a:pt x="671741" y="2522447"/>
                </a:cubicBezTo>
                <a:lnTo>
                  <a:pt x="629545" y="2554001"/>
                </a:lnTo>
                <a:lnTo>
                  <a:pt x="587349" y="2522447"/>
                </a:lnTo>
                <a:cubicBezTo>
                  <a:pt x="228640" y="2226414"/>
                  <a:pt x="0" y="1778408"/>
                  <a:pt x="0" y="1277000"/>
                </a:cubicBezTo>
                <a:cubicBezTo>
                  <a:pt x="0" y="775592"/>
                  <a:pt x="228640" y="327586"/>
                  <a:pt x="587349" y="31553"/>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lumMod val="40000"/>
                  <a:lumOff val="60000"/>
                </a:srgbClr>
              </a:solidFill>
              <a:effectLst/>
              <a:uLnTx/>
              <a:uFillTx/>
              <a:latin typeface="等线" panose="020F0502020204030204"/>
              <a:ea typeface="等线" panose="02010600030101010101" pitchFamily="2" charset="-122"/>
              <a:cs typeface="+mn-cs"/>
            </a:endParaRPr>
          </a:p>
        </p:txBody>
      </p:sp>
      <p:sp>
        <p:nvSpPr>
          <p:cNvPr id="13" name="任意多边形: 形状 12">
            <a:extLst>
              <a:ext uri="{FF2B5EF4-FFF2-40B4-BE49-F238E27FC236}">
                <a16:creationId xmlns:a16="http://schemas.microsoft.com/office/drawing/2014/main" id="{E7668D9B-4E70-0B68-426B-FA5E03F725B2}"/>
              </a:ext>
            </a:extLst>
          </p:cNvPr>
          <p:cNvSpPr/>
          <p:nvPr/>
        </p:nvSpPr>
        <p:spPr>
          <a:xfrm rot="3600000">
            <a:off x="6557421" y="3765936"/>
            <a:ext cx="1259090" cy="2554001"/>
          </a:xfrm>
          <a:custGeom>
            <a:avLst/>
            <a:gdLst>
              <a:gd name="connsiteX0" fmla="*/ 629545 w 1259090"/>
              <a:gd name="connsiteY0" fmla="*/ 0 h 2554001"/>
              <a:gd name="connsiteX1" fmla="*/ 671741 w 1259090"/>
              <a:gd name="connsiteY1" fmla="*/ 31553 h 2554001"/>
              <a:gd name="connsiteX2" fmla="*/ 1259090 w 1259090"/>
              <a:gd name="connsiteY2" fmla="*/ 1277000 h 2554001"/>
              <a:gd name="connsiteX3" fmla="*/ 671741 w 1259090"/>
              <a:gd name="connsiteY3" fmla="*/ 2522447 h 2554001"/>
              <a:gd name="connsiteX4" fmla="*/ 629545 w 1259090"/>
              <a:gd name="connsiteY4" fmla="*/ 2554001 h 2554001"/>
              <a:gd name="connsiteX5" fmla="*/ 587349 w 1259090"/>
              <a:gd name="connsiteY5" fmla="*/ 2522447 h 2554001"/>
              <a:gd name="connsiteX6" fmla="*/ 0 w 1259090"/>
              <a:gd name="connsiteY6" fmla="*/ 1277000 h 2554001"/>
              <a:gd name="connsiteX7" fmla="*/ 587349 w 1259090"/>
              <a:gd name="connsiteY7" fmla="*/ 31553 h 2554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9090" h="2554001">
                <a:moveTo>
                  <a:pt x="629545" y="0"/>
                </a:moveTo>
                <a:lnTo>
                  <a:pt x="671741" y="31553"/>
                </a:lnTo>
                <a:cubicBezTo>
                  <a:pt x="1030450" y="327586"/>
                  <a:pt x="1259090" y="775592"/>
                  <a:pt x="1259090" y="1277000"/>
                </a:cubicBezTo>
                <a:cubicBezTo>
                  <a:pt x="1259090" y="1778408"/>
                  <a:pt x="1030450" y="2226414"/>
                  <a:pt x="671741" y="2522447"/>
                </a:cubicBezTo>
                <a:lnTo>
                  <a:pt x="629545" y="2554001"/>
                </a:lnTo>
                <a:lnTo>
                  <a:pt x="587349" y="2522447"/>
                </a:lnTo>
                <a:cubicBezTo>
                  <a:pt x="228640" y="2226414"/>
                  <a:pt x="0" y="1778408"/>
                  <a:pt x="0" y="1277000"/>
                </a:cubicBezTo>
                <a:cubicBezTo>
                  <a:pt x="0" y="775592"/>
                  <a:pt x="228640" y="327586"/>
                  <a:pt x="587349" y="31553"/>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4472C4">
                  <a:lumMod val="40000"/>
                  <a:lumOff val="60000"/>
                </a:srgbClr>
              </a:solidFill>
              <a:effectLst/>
              <a:uLnTx/>
              <a:uFillTx/>
              <a:latin typeface="等线" panose="020F0502020204030204"/>
              <a:ea typeface="等线" panose="02010600030101010101" pitchFamily="2" charset="-122"/>
              <a:cs typeface="+mn-cs"/>
            </a:endParaRPr>
          </a:p>
        </p:txBody>
      </p:sp>
      <p:sp>
        <p:nvSpPr>
          <p:cNvPr id="21" name="文本框 20">
            <a:extLst>
              <a:ext uri="{FF2B5EF4-FFF2-40B4-BE49-F238E27FC236}">
                <a16:creationId xmlns:a16="http://schemas.microsoft.com/office/drawing/2014/main" id="{4EB11292-A25D-E792-1D9B-C359CF41926F}"/>
              </a:ext>
            </a:extLst>
          </p:cNvPr>
          <p:cNvSpPr txBox="1"/>
          <p:nvPr/>
        </p:nvSpPr>
        <p:spPr>
          <a:xfrm>
            <a:off x="5006158" y="1624081"/>
            <a:ext cx="1784465" cy="132343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PART03</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i="1" dirty="0">
                <a:solidFill>
                  <a:prstClr val="black"/>
                </a:solidFill>
                <a:latin typeface="方正舒体" panose="02010601030101010101" pitchFamily="2" charset="-122"/>
                <a:ea typeface="方正舒体" panose="02010601030101010101" pitchFamily="2" charset="-122"/>
              </a:rPr>
              <a:t>商业化可行性</a:t>
            </a:r>
            <a:endParaRPr kumimoji="0" lang="en-US" altLang="zh-CN" sz="2400" b="0" i="1" u="none" strike="noStrike" kern="1200" cap="none" spc="0" normalizeH="0" baseline="0" noProof="0" dirty="0">
              <a:ln>
                <a:noFill/>
              </a:ln>
              <a:solidFill>
                <a:prstClr val="black"/>
              </a:solidFill>
              <a:effectLst/>
              <a:uLnTx/>
              <a:uFillTx/>
              <a:latin typeface="方正舒体" panose="02010601030101010101" pitchFamily="2" charset="-122"/>
              <a:ea typeface="方正舒体" panose="02010601030101010101" pitchFamily="2" charset="-122"/>
            </a:endParaRPr>
          </a:p>
        </p:txBody>
      </p:sp>
      <p:sp>
        <p:nvSpPr>
          <p:cNvPr id="24" name="文本框 23">
            <a:extLst>
              <a:ext uri="{FF2B5EF4-FFF2-40B4-BE49-F238E27FC236}">
                <a16:creationId xmlns:a16="http://schemas.microsoft.com/office/drawing/2014/main" id="{7057D5C0-C81E-BA3D-01FA-0310EC59ABD8}"/>
              </a:ext>
            </a:extLst>
          </p:cNvPr>
          <p:cNvSpPr txBox="1"/>
          <p:nvPr/>
        </p:nvSpPr>
        <p:spPr>
          <a:xfrm>
            <a:off x="1673747" y="2347355"/>
            <a:ext cx="1744411" cy="132343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PART02</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i="1" dirty="0">
                <a:solidFill>
                  <a:prstClr val="black"/>
                </a:solidFill>
                <a:latin typeface="Segoe Print" panose="02000600000000000000" pitchFamily="2" charset="0"/>
                <a:ea typeface="方正舒体" panose="02010601030101010101" pitchFamily="2" charset="-122"/>
              </a:rPr>
              <a:t>我们的创新点</a:t>
            </a:r>
            <a:endParaRPr kumimoji="0" lang="zh-CN" altLang="en-US" sz="24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endParaRPr>
          </a:p>
        </p:txBody>
      </p:sp>
      <p:sp>
        <p:nvSpPr>
          <p:cNvPr id="26" name="文本框 25">
            <a:extLst>
              <a:ext uri="{FF2B5EF4-FFF2-40B4-BE49-F238E27FC236}">
                <a16:creationId xmlns:a16="http://schemas.microsoft.com/office/drawing/2014/main" id="{2D01BCE0-D152-4D93-9FB2-EC60FDE0C669}"/>
              </a:ext>
            </a:extLst>
          </p:cNvPr>
          <p:cNvSpPr txBox="1"/>
          <p:nvPr/>
        </p:nvSpPr>
        <p:spPr>
          <a:xfrm>
            <a:off x="8378623" y="2485855"/>
            <a:ext cx="1635687" cy="95410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PART04</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i="1" dirty="0">
                <a:solidFill>
                  <a:prstClr val="black"/>
                </a:solidFill>
                <a:latin typeface="Segoe Print" panose="02000600000000000000" pitchFamily="2" charset="0"/>
                <a:ea typeface="方正舒体" panose="02010601030101010101" pitchFamily="2" charset="-122"/>
              </a:rPr>
              <a:t>现状</a:t>
            </a:r>
            <a:endParaRPr kumimoji="0" lang="zh-CN" altLang="en-US" sz="24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endParaRPr>
          </a:p>
        </p:txBody>
      </p:sp>
      <p:sp>
        <p:nvSpPr>
          <p:cNvPr id="30" name="文本框 29">
            <a:extLst>
              <a:ext uri="{FF2B5EF4-FFF2-40B4-BE49-F238E27FC236}">
                <a16:creationId xmlns:a16="http://schemas.microsoft.com/office/drawing/2014/main" id="{99FF5A9D-1195-B687-00A2-41DF5C5D7901}"/>
              </a:ext>
            </a:extLst>
          </p:cNvPr>
          <p:cNvSpPr txBox="1"/>
          <p:nvPr/>
        </p:nvSpPr>
        <p:spPr>
          <a:xfrm>
            <a:off x="9970618" y="4332531"/>
            <a:ext cx="1635687" cy="95410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PART05</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i="1" dirty="0">
                <a:solidFill>
                  <a:prstClr val="black"/>
                </a:solidFill>
                <a:latin typeface="Segoe Print" panose="02000600000000000000" pitchFamily="2" charset="0"/>
                <a:ea typeface="方正舒体" panose="02010601030101010101" pitchFamily="2" charset="-122"/>
              </a:rPr>
              <a:t>代码展示</a:t>
            </a:r>
            <a:endParaRPr kumimoji="0" lang="zh-CN" altLang="en-US" sz="24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endParaRPr>
          </a:p>
        </p:txBody>
      </p:sp>
      <p:sp>
        <p:nvSpPr>
          <p:cNvPr id="32" name="文本框 31">
            <a:extLst>
              <a:ext uri="{FF2B5EF4-FFF2-40B4-BE49-F238E27FC236}">
                <a16:creationId xmlns:a16="http://schemas.microsoft.com/office/drawing/2014/main" id="{E2F7A63B-9CBB-BE49-40F3-C62F0828035D}"/>
              </a:ext>
            </a:extLst>
          </p:cNvPr>
          <p:cNvSpPr txBox="1"/>
          <p:nvPr/>
        </p:nvSpPr>
        <p:spPr>
          <a:xfrm>
            <a:off x="1" y="340256"/>
            <a:ext cx="12191999"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400" b="1" i="0" u="none" strike="noStrike" kern="1200" cap="none" spc="600" normalizeH="0" baseline="0" noProof="0" dirty="0">
                <a:ln>
                  <a:noFill/>
                </a:ln>
                <a:solidFill>
                  <a:srgbClr val="5B9BD5">
                    <a:lumMod val="50000"/>
                  </a:srgbClr>
                </a:solidFill>
                <a:effectLst/>
                <a:uLnTx/>
                <a:uFillTx/>
                <a:latin typeface="Bradley Hand ITC" panose="03070402050302030203" pitchFamily="66" charset="0"/>
                <a:ea typeface="华文行楷" panose="02010800040101010101" pitchFamily="2" charset="-122"/>
                <a:cs typeface="Cascadia Mono" panose="020B0609020000020004" pitchFamily="49" charset="0"/>
              </a:rPr>
              <a:t>“智饷”高校智慧食堂智能移动平台</a:t>
            </a:r>
          </a:p>
        </p:txBody>
      </p:sp>
      <p:grpSp>
        <p:nvGrpSpPr>
          <p:cNvPr id="2" name="组合 1">
            <a:extLst>
              <a:ext uri="{FF2B5EF4-FFF2-40B4-BE49-F238E27FC236}">
                <a16:creationId xmlns:a16="http://schemas.microsoft.com/office/drawing/2014/main" id="{DC62C11B-D1E0-C848-9A06-D402FA3FF300}"/>
              </a:ext>
            </a:extLst>
          </p:cNvPr>
          <p:cNvGrpSpPr/>
          <p:nvPr/>
        </p:nvGrpSpPr>
        <p:grpSpPr>
          <a:xfrm>
            <a:off x="576294" y="4332531"/>
            <a:ext cx="1751294" cy="954107"/>
            <a:chOff x="576294" y="4332531"/>
            <a:chExt cx="1751294" cy="954107"/>
          </a:xfrm>
        </p:grpSpPr>
        <p:sp>
          <p:nvSpPr>
            <p:cNvPr id="28" name="文本框 27">
              <a:extLst>
                <a:ext uri="{FF2B5EF4-FFF2-40B4-BE49-F238E27FC236}">
                  <a16:creationId xmlns:a16="http://schemas.microsoft.com/office/drawing/2014/main" id="{14304A94-345F-02DA-078A-1FF983A0B06F}"/>
                </a:ext>
              </a:extLst>
            </p:cNvPr>
            <p:cNvSpPr txBox="1"/>
            <p:nvPr/>
          </p:nvSpPr>
          <p:spPr>
            <a:xfrm>
              <a:off x="576294" y="4332531"/>
              <a:ext cx="1744411" cy="95410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1" i="1"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r>
                <a:rPr kumimoji="0" lang="en-US" altLang="zh-CN" sz="32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PART01</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i="1" dirty="0">
                  <a:solidFill>
                    <a:prstClr val="black"/>
                  </a:solidFill>
                  <a:latin typeface="Segoe Print" panose="02000600000000000000" pitchFamily="2" charset="0"/>
                  <a:ea typeface="方正舒体" panose="02010601030101010101" pitchFamily="2" charset="-122"/>
                  <a:cs typeface="Calibri" panose="020F0502020204030204" pitchFamily="34" charset="0"/>
                </a:rPr>
                <a:t>现有市场</a:t>
              </a:r>
              <a:endParaRPr kumimoji="0" lang="zh-CN" altLang="en-US" sz="24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Calibri" panose="020F0502020204030204" pitchFamily="34" charset="0"/>
              </a:endParaRPr>
            </a:p>
          </p:txBody>
        </p:sp>
        <p:sp>
          <p:nvSpPr>
            <p:cNvPr id="4" name="文本框 3">
              <a:extLst>
                <a:ext uri="{FF2B5EF4-FFF2-40B4-BE49-F238E27FC236}">
                  <a16:creationId xmlns:a16="http://schemas.microsoft.com/office/drawing/2014/main" id="{8E5FBD92-6C71-6726-2159-D801DF7874E8}"/>
                </a:ext>
              </a:extLst>
            </p:cNvPr>
            <p:cNvSpPr txBox="1"/>
            <p:nvPr/>
          </p:nvSpPr>
          <p:spPr>
            <a:xfrm>
              <a:off x="583177" y="4332531"/>
              <a:ext cx="1744411"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1" i="1"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endParaRPr kumimoji="0" lang="en-US" altLang="zh-CN" sz="48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endParaRPr>
            </a:p>
          </p:txBody>
        </p:sp>
      </p:grpSp>
    </p:spTree>
    <p:extLst>
      <p:ext uri="{BB962C8B-B14F-4D97-AF65-F5344CB8AC3E}">
        <p14:creationId xmlns:p14="http://schemas.microsoft.com/office/powerpoint/2010/main" val="33123153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4190D2F6-0A91-1FE0-1965-CCB2F677FB77}"/>
              </a:ext>
            </a:extLst>
          </p:cNvPr>
          <p:cNvSpPr txBox="1"/>
          <p:nvPr/>
        </p:nvSpPr>
        <p:spPr>
          <a:xfrm>
            <a:off x="3718560" y="2432414"/>
            <a:ext cx="4581625" cy="218521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600" b="0" i="0" u="none" strike="noStrike" kern="1200" cap="none" spc="0" normalizeH="0" baseline="0" noProof="0" dirty="0">
                <a:ln>
                  <a:noFill/>
                </a:ln>
                <a:solidFill>
                  <a:srgbClr val="4472C4"/>
                </a:solidFill>
                <a:effectLst/>
                <a:uLnTx/>
                <a:uFillTx/>
                <a:latin typeface="华文行楷" panose="02010800040101010101" pitchFamily="2" charset="-122"/>
                <a:ea typeface="华文行楷" panose="02010800040101010101" pitchFamily="2" charset="-122"/>
                <a:cs typeface="+mn-cs"/>
              </a:rPr>
              <a:t>目录</a:t>
            </a:r>
            <a:endParaRPr kumimoji="0" lang="en-US" altLang="zh-CN" sz="9600" b="0" i="0" u="none" strike="noStrike" kern="1200" cap="none" spc="0" normalizeH="0" baseline="0" noProof="0" dirty="0">
              <a:ln>
                <a:noFill/>
              </a:ln>
              <a:solidFill>
                <a:srgbClr val="4472C4"/>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4472C4"/>
                </a:solidFill>
                <a:effectLst/>
                <a:uLnTx/>
                <a:uFillTx/>
                <a:latin typeface="等线" panose="02010600030101010101" pitchFamily="2" charset="-122"/>
                <a:ea typeface="等线" panose="02010600030101010101" pitchFamily="2" charset="-122"/>
                <a:cs typeface="+mn-cs"/>
              </a:rPr>
              <a:t>content</a:t>
            </a:r>
            <a:endParaRPr kumimoji="0" lang="zh-CN" altLang="en-US" sz="4000" b="0" i="0" u="none" strike="noStrike" kern="1200" cap="none" spc="0" normalizeH="0" baseline="0" noProof="0" dirty="0">
              <a:ln>
                <a:noFill/>
              </a:ln>
              <a:solidFill>
                <a:srgbClr val="4472C4"/>
              </a:solidFill>
              <a:effectLst/>
              <a:uLnTx/>
              <a:uFillTx/>
              <a:latin typeface="等线" panose="02010600030101010101" pitchFamily="2" charset="-122"/>
              <a:ea typeface="等线" panose="02010600030101010101" pitchFamily="2" charset="-122"/>
              <a:cs typeface="+mn-cs"/>
            </a:endParaRPr>
          </a:p>
        </p:txBody>
      </p:sp>
      <p:sp>
        <p:nvSpPr>
          <p:cNvPr id="8" name="任意多边形: 形状 7">
            <a:extLst>
              <a:ext uri="{FF2B5EF4-FFF2-40B4-BE49-F238E27FC236}">
                <a16:creationId xmlns:a16="http://schemas.microsoft.com/office/drawing/2014/main" id="{16EC66C0-13EC-91DA-465D-E0A3217F3B4E}"/>
              </a:ext>
            </a:extLst>
          </p:cNvPr>
          <p:cNvSpPr/>
          <p:nvPr/>
        </p:nvSpPr>
        <p:spPr>
          <a:xfrm>
            <a:off x="12426416"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0" name="任意多边形: 形状 9">
            <a:extLst>
              <a:ext uri="{FF2B5EF4-FFF2-40B4-BE49-F238E27FC236}">
                <a16:creationId xmlns:a16="http://schemas.microsoft.com/office/drawing/2014/main" id="{97B68C3F-14B4-60E5-19F7-6796D3486DBE}"/>
              </a:ext>
            </a:extLst>
          </p:cNvPr>
          <p:cNvSpPr/>
          <p:nvPr/>
        </p:nvSpPr>
        <p:spPr>
          <a:xfrm>
            <a:off x="14007566"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solidFill>
            <a:schemeClr val="accent1">
              <a:lumMod val="20000"/>
              <a:lumOff val="80000"/>
            </a:schemeClr>
          </a:solidFill>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1" name="任意多边形: 形状 10">
            <a:extLst>
              <a:ext uri="{FF2B5EF4-FFF2-40B4-BE49-F238E27FC236}">
                <a16:creationId xmlns:a16="http://schemas.microsoft.com/office/drawing/2014/main" id="{469D3164-B231-DCE6-6947-966DB7F8748B}"/>
              </a:ext>
            </a:extLst>
          </p:cNvPr>
          <p:cNvSpPr/>
          <p:nvPr/>
        </p:nvSpPr>
        <p:spPr>
          <a:xfrm>
            <a:off x="15588716"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solidFill>
            <a:schemeClr val="bg1"/>
          </a:solidFill>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5021596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10CD4-5721-1778-4836-9420C1D2E9E3}"/>
            </a:ext>
          </a:extLst>
        </p:cNvPr>
        <p:cNvGrpSpPr/>
        <p:nvPr/>
      </p:nvGrpSpPr>
      <p:grpSpPr>
        <a:xfrm>
          <a:off x="0" y="0"/>
          <a:ext cx="0" cy="0"/>
          <a:chOff x="0" y="0"/>
          <a:chExt cx="0" cy="0"/>
        </a:xfrm>
      </p:grpSpPr>
      <p:pic>
        <p:nvPicPr>
          <p:cNvPr id="38" name="图片 37">
            <a:extLst>
              <a:ext uri="{FF2B5EF4-FFF2-40B4-BE49-F238E27FC236}">
                <a16:creationId xmlns:a16="http://schemas.microsoft.com/office/drawing/2014/main" id="{3FB1C4A4-F9A4-00EC-983D-779A3132A8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659228" cy="6858000"/>
          </a:xfrm>
          <a:prstGeom prst="rect">
            <a:avLst/>
          </a:prstGeom>
        </p:spPr>
      </p:pic>
      <p:sp>
        <p:nvSpPr>
          <p:cNvPr id="5" name="文本框 4">
            <a:extLst>
              <a:ext uri="{FF2B5EF4-FFF2-40B4-BE49-F238E27FC236}">
                <a16:creationId xmlns:a16="http://schemas.microsoft.com/office/drawing/2014/main" id="{94622F60-C3DB-0A66-262B-14DCD7973A6F}"/>
              </a:ext>
            </a:extLst>
          </p:cNvPr>
          <p:cNvSpPr txBox="1"/>
          <p:nvPr/>
        </p:nvSpPr>
        <p:spPr>
          <a:xfrm>
            <a:off x="3718560" y="2432414"/>
            <a:ext cx="4581625" cy="218521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600" b="0" i="0" u="none" strike="noStrike" kern="1200" cap="none" spc="0" normalizeH="0" baseline="0" noProof="0" dirty="0">
                <a:ln>
                  <a:noFill/>
                </a:ln>
                <a:solidFill>
                  <a:srgbClr val="4472C4"/>
                </a:solidFill>
                <a:effectLst/>
                <a:uLnTx/>
                <a:uFillTx/>
                <a:latin typeface="华文行楷" panose="02010800040101010101" pitchFamily="2" charset="-122"/>
                <a:ea typeface="华文行楷" panose="02010800040101010101" pitchFamily="2" charset="-122"/>
                <a:cs typeface="+mn-cs"/>
              </a:rPr>
              <a:t>目录</a:t>
            </a:r>
            <a:endParaRPr kumimoji="0" lang="en-US" altLang="zh-CN" sz="9600" b="0" i="0" u="none" strike="noStrike" kern="1200" cap="none" spc="0" normalizeH="0" baseline="0" noProof="0" dirty="0">
              <a:ln>
                <a:noFill/>
              </a:ln>
              <a:solidFill>
                <a:srgbClr val="4472C4"/>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4472C4"/>
                </a:solidFill>
                <a:effectLst/>
                <a:uLnTx/>
                <a:uFillTx/>
                <a:latin typeface="等线" panose="02010600030101010101" pitchFamily="2" charset="-122"/>
                <a:ea typeface="等线" panose="02010600030101010101" pitchFamily="2" charset="-122"/>
                <a:cs typeface="+mn-cs"/>
              </a:rPr>
              <a:t>content</a:t>
            </a:r>
            <a:endParaRPr kumimoji="0" lang="zh-CN" altLang="en-US" sz="4000" b="0" i="0" u="none" strike="noStrike" kern="1200" cap="none" spc="0" normalizeH="0" baseline="0" noProof="0" dirty="0">
              <a:ln>
                <a:noFill/>
              </a:ln>
              <a:solidFill>
                <a:srgbClr val="4472C4"/>
              </a:solidFill>
              <a:effectLst/>
              <a:uLnTx/>
              <a:uFillTx/>
              <a:latin typeface="等线" panose="02010600030101010101" pitchFamily="2" charset="-122"/>
              <a:ea typeface="等线" panose="02010600030101010101" pitchFamily="2" charset="-122"/>
              <a:cs typeface="+mn-cs"/>
            </a:endParaRPr>
          </a:p>
        </p:txBody>
      </p:sp>
      <p:sp>
        <p:nvSpPr>
          <p:cNvPr id="8" name="任意多边形: 形状 7">
            <a:extLst>
              <a:ext uri="{FF2B5EF4-FFF2-40B4-BE49-F238E27FC236}">
                <a16:creationId xmlns:a16="http://schemas.microsoft.com/office/drawing/2014/main" id="{A148225D-A04C-07A4-2079-476393F577B4}"/>
              </a:ext>
            </a:extLst>
          </p:cNvPr>
          <p:cNvSpPr/>
          <p:nvPr/>
        </p:nvSpPr>
        <p:spPr>
          <a:xfrm>
            <a:off x="2416142"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0" name="任意多边形: 形状 9">
            <a:extLst>
              <a:ext uri="{FF2B5EF4-FFF2-40B4-BE49-F238E27FC236}">
                <a16:creationId xmlns:a16="http://schemas.microsoft.com/office/drawing/2014/main" id="{4FFD5E95-8BB0-40D8-1B8A-5F533ACFE0DD}"/>
              </a:ext>
            </a:extLst>
          </p:cNvPr>
          <p:cNvSpPr/>
          <p:nvPr/>
        </p:nvSpPr>
        <p:spPr>
          <a:xfrm>
            <a:off x="2649756"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solidFill>
            <a:schemeClr val="accent1">
              <a:lumMod val="20000"/>
              <a:lumOff val="80000"/>
            </a:schemeClr>
          </a:solidFill>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1" name="任意多边形: 形状 10">
            <a:extLst>
              <a:ext uri="{FF2B5EF4-FFF2-40B4-BE49-F238E27FC236}">
                <a16:creationId xmlns:a16="http://schemas.microsoft.com/office/drawing/2014/main" id="{9745AEFD-8A5B-AED9-A2A5-EC4E92228606}"/>
              </a:ext>
            </a:extLst>
          </p:cNvPr>
          <p:cNvSpPr/>
          <p:nvPr/>
        </p:nvSpPr>
        <p:spPr>
          <a:xfrm>
            <a:off x="2883370"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solidFill>
            <a:schemeClr val="bg1"/>
          </a:solidFill>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4" name="文本框 3">
            <a:extLst>
              <a:ext uri="{FF2B5EF4-FFF2-40B4-BE49-F238E27FC236}">
                <a16:creationId xmlns:a16="http://schemas.microsoft.com/office/drawing/2014/main" id="{C67F3357-2591-A6B1-D8E6-E21B8F0D6BFA}"/>
              </a:ext>
            </a:extLst>
          </p:cNvPr>
          <p:cNvSpPr txBox="1"/>
          <p:nvPr/>
        </p:nvSpPr>
        <p:spPr>
          <a:xfrm>
            <a:off x="-426120" y="2336391"/>
            <a:ext cx="4581625" cy="218521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600" b="0" i="0" u="none" strike="noStrike" kern="1200" cap="none" spc="0" normalizeH="0" baseline="0" noProof="0" dirty="0">
                <a:ln>
                  <a:noFill/>
                </a:ln>
                <a:solidFill>
                  <a:srgbClr val="C00000"/>
                </a:solidFill>
                <a:effectLst/>
                <a:uLnTx/>
                <a:uFillTx/>
                <a:latin typeface="华文行楷" panose="02010800040101010101" pitchFamily="2" charset="-122"/>
                <a:ea typeface="华文行楷" panose="02010800040101010101" pitchFamily="2" charset="-122"/>
                <a:cs typeface="+mn-cs"/>
              </a:rPr>
              <a:t>目录</a:t>
            </a:r>
            <a:endParaRPr kumimoji="0" lang="en-US" altLang="zh-CN" sz="9600" b="0" i="0" u="none" strike="noStrike" kern="1200" cap="none" spc="0" normalizeH="0" baseline="0" noProof="0" dirty="0">
              <a:ln>
                <a:noFill/>
              </a:ln>
              <a:solidFill>
                <a:srgbClr val="C00000"/>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C00000"/>
                </a:solidFill>
                <a:effectLst/>
                <a:uLnTx/>
                <a:uFillTx/>
                <a:latin typeface="等线" panose="02010600030101010101" pitchFamily="2" charset="-122"/>
                <a:ea typeface="等线" panose="02010600030101010101" pitchFamily="2" charset="-122"/>
                <a:cs typeface="+mn-cs"/>
              </a:rPr>
              <a:t>content</a:t>
            </a:r>
            <a:endParaRPr kumimoji="0" lang="zh-CN" altLang="en-US" sz="4000" b="0" i="0" u="none" strike="noStrike" kern="1200" cap="none" spc="0" normalizeH="0" baseline="0" noProof="0" dirty="0">
              <a:ln>
                <a:noFill/>
              </a:ln>
              <a:solidFill>
                <a:srgbClr val="C00000"/>
              </a:solidFill>
              <a:effectLst/>
              <a:uLnTx/>
              <a:uFillTx/>
              <a:latin typeface="等线" panose="02010600030101010101" pitchFamily="2" charset="-122"/>
              <a:ea typeface="等线" panose="02010600030101010101" pitchFamily="2" charset="-122"/>
              <a:cs typeface="+mn-cs"/>
            </a:endParaRPr>
          </a:p>
        </p:txBody>
      </p:sp>
      <p:grpSp>
        <p:nvGrpSpPr>
          <p:cNvPr id="24" name="组合 23">
            <a:extLst>
              <a:ext uri="{FF2B5EF4-FFF2-40B4-BE49-F238E27FC236}">
                <a16:creationId xmlns:a16="http://schemas.microsoft.com/office/drawing/2014/main" id="{7D18A768-5E04-B128-8718-8934498E966E}"/>
              </a:ext>
            </a:extLst>
          </p:cNvPr>
          <p:cNvGrpSpPr/>
          <p:nvPr/>
        </p:nvGrpSpPr>
        <p:grpSpPr>
          <a:xfrm>
            <a:off x="14608143" y="658858"/>
            <a:ext cx="1273629" cy="544286"/>
            <a:chOff x="5034642" y="1306286"/>
            <a:chExt cx="1273629" cy="544286"/>
          </a:xfrm>
        </p:grpSpPr>
        <p:sp>
          <p:nvSpPr>
            <p:cNvPr id="6" name="箭头: V 形 5">
              <a:extLst>
                <a:ext uri="{FF2B5EF4-FFF2-40B4-BE49-F238E27FC236}">
                  <a16:creationId xmlns:a16="http://schemas.microsoft.com/office/drawing/2014/main" id="{EEB9A00A-86CD-17A3-9878-6E4C78312830}"/>
                </a:ext>
              </a:extLst>
            </p:cNvPr>
            <p:cNvSpPr/>
            <p:nvPr/>
          </p:nvSpPr>
          <p:spPr>
            <a:xfrm>
              <a:off x="5034642"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 name="箭头: V 形 6">
              <a:extLst>
                <a:ext uri="{FF2B5EF4-FFF2-40B4-BE49-F238E27FC236}">
                  <a16:creationId xmlns:a16="http://schemas.microsoft.com/office/drawing/2014/main" id="{4DAE1171-629A-06A8-34F9-73DBCBAFB4D7}"/>
                </a:ext>
              </a:extLst>
            </p:cNvPr>
            <p:cNvSpPr/>
            <p:nvPr/>
          </p:nvSpPr>
          <p:spPr>
            <a:xfrm>
              <a:off x="5459185"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9" name="箭头: V 形 8">
              <a:extLst>
                <a:ext uri="{FF2B5EF4-FFF2-40B4-BE49-F238E27FC236}">
                  <a16:creationId xmlns:a16="http://schemas.microsoft.com/office/drawing/2014/main" id="{2A36D7DB-A74D-DB59-109A-954C9D5C7A19}"/>
                </a:ext>
              </a:extLst>
            </p:cNvPr>
            <p:cNvSpPr/>
            <p:nvPr/>
          </p:nvSpPr>
          <p:spPr>
            <a:xfrm>
              <a:off x="5883728"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5" name="组合 24">
            <a:extLst>
              <a:ext uri="{FF2B5EF4-FFF2-40B4-BE49-F238E27FC236}">
                <a16:creationId xmlns:a16="http://schemas.microsoft.com/office/drawing/2014/main" id="{2CEF478B-29D4-50A5-6805-B5B71E0BBABC}"/>
              </a:ext>
            </a:extLst>
          </p:cNvPr>
          <p:cNvGrpSpPr/>
          <p:nvPr/>
        </p:nvGrpSpPr>
        <p:grpSpPr>
          <a:xfrm>
            <a:off x="14602294" y="1888947"/>
            <a:ext cx="1273629" cy="544286"/>
            <a:chOff x="5034642" y="2242458"/>
            <a:chExt cx="1273629" cy="544286"/>
          </a:xfrm>
        </p:grpSpPr>
        <p:sp>
          <p:nvSpPr>
            <p:cNvPr id="12" name="箭头: V 形 11">
              <a:extLst>
                <a:ext uri="{FF2B5EF4-FFF2-40B4-BE49-F238E27FC236}">
                  <a16:creationId xmlns:a16="http://schemas.microsoft.com/office/drawing/2014/main" id="{82D54EF6-E733-756F-EEA3-D25C76AE180E}"/>
                </a:ext>
              </a:extLst>
            </p:cNvPr>
            <p:cNvSpPr/>
            <p:nvPr/>
          </p:nvSpPr>
          <p:spPr>
            <a:xfrm>
              <a:off x="5034642"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3" name="箭头: V 形 12">
              <a:extLst>
                <a:ext uri="{FF2B5EF4-FFF2-40B4-BE49-F238E27FC236}">
                  <a16:creationId xmlns:a16="http://schemas.microsoft.com/office/drawing/2014/main" id="{530F1E39-02D2-48E1-4ED6-1378A0AF0F3C}"/>
                </a:ext>
              </a:extLst>
            </p:cNvPr>
            <p:cNvSpPr/>
            <p:nvPr/>
          </p:nvSpPr>
          <p:spPr>
            <a:xfrm>
              <a:off x="5459185"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4" name="箭头: V 形 13">
              <a:extLst>
                <a:ext uri="{FF2B5EF4-FFF2-40B4-BE49-F238E27FC236}">
                  <a16:creationId xmlns:a16="http://schemas.microsoft.com/office/drawing/2014/main" id="{ED0036A3-4C09-B307-D3E5-D0EA05B960AA}"/>
                </a:ext>
              </a:extLst>
            </p:cNvPr>
            <p:cNvSpPr/>
            <p:nvPr/>
          </p:nvSpPr>
          <p:spPr>
            <a:xfrm>
              <a:off x="5883728"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8" name="组合 27">
            <a:extLst>
              <a:ext uri="{FF2B5EF4-FFF2-40B4-BE49-F238E27FC236}">
                <a16:creationId xmlns:a16="http://schemas.microsoft.com/office/drawing/2014/main" id="{637F1652-A9D3-10BE-9823-65F4E6CBAB6B}"/>
              </a:ext>
            </a:extLst>
          </p:cNvPr>
          <p:cNvGrpSpPr/>
          <p:nvPr/>
        </p:nvGrpSpPr>
        <p:grpSpPr>
          <a:xfrm>
            <a:off x="14602294" y="3119036"/>
            <a:ext cx="1273629" cy="544286"/>
            <a:chOff x="5034642" y="3178630"/>
            <a:chExt cx="1273629" cy="544286"/>
          </a:xfrm>
        </p:grpSpPr>
        <p:sp>
          <p:nvSpPr>
            <p:cNvPr id="15" name="箭头: V 形 14">
              <a:extLst>
                <a:ext uri="{FF2B5EF4-FFF2-40B4-BE49-F238E27FC236}">
                  <a16:creationId xmlns:a16="http://schemas.microsoft.com/office/drawing/2014/main" id="{EF0A250B-FCF2-BBFA-EEFC-84147CFC0265}"/>
                </a:ext>
              </a:extLst>
            </p:cNvPr>
            <p:cNvSpPr/>
            <p:nvPr/>
          </p:nvSpPr>
          <p:spPr>
            <a:xfrm>
              <a:off x="5034642"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 name="箭头: V 形 15">
              <a:extLst>
                <a:ext uri="{FF2B5EF4-FFF2-40B4-BE49-F238E27FC236}">
                  <a16:creationId xmlns:a16="http://schemas.microsoft.com/office/drawing/2014/main" id="{1E17F4DF-ACC1-EBE1-78A9-B665A03BD36E}"/>
                </a:ext>
              </a:extLst>
            </p:cNvPr>
            <p:cNvSpPr/>
            <p:nvPr/>
          </p:nvSpPr>
          <p:spPr>
            <a:xfrm>
              <a:off x="5459185"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7" name="箭头: V 形 16">
              <a:extLst>
                <a:ext uri="{FF2B5EF4-FFF2-40B4-BE49-F238E27FC236}">
                  <a16:creationId xmlns:a16="http://schemas.microsoft.com/office/drawing/2014/main" id="{A5FA42D6-456D-F046-714B-FB0FDAAC52E0}"/>
                </a:ext>
              </a:extLst>
            </p:cNvPr>
            <p:cNvSpPr/>
            <p:nvPr/>
          </p:nvSpPr>
          <p:spPr>
            <a:xfrm>
              <a:off x="5883728"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9" name="组合 28">
            <a:extLst>
              <a:ext uri="{FF2B5EF4-FFF2-40B4-BE49-F238E27FC236}">
                <a16:creationId xmlns:a16="http://schemas.microsoft.com/office/drawing/2014/main" id="{5834293B-91AC-EDF3-629D-C7002E3392C7}"/>
              </a:ext>
            </a:extLst>
          </p:cNvPr>
          <p:cNvGrpSpPr/>
          <p:nvPr/>
        </p:nvGrpSpPr>
        <p:grpSpPr>
          <a:xfrm>
            <a:off x="14602293" y="4318365"/>
            <a:ext cx="1273629" cy="544286"/>
            <a:chOff x="5034642" y="4114802"/>
            <a:chExt cx="1273629" cy="544286"/>
          </a:xfrm>
        </p:grpSpPr>
        <p:sp>
          <p:nvSpPr>
            <p:cNvPr id="18" name="箭头: V 形 17">
              <a:extLst>
                <a:ext uri="{FF2B5EF4-FFF2-40B4-BE49-F238E27FC236}">
                  <a16:creationId xmlns:a16="http://schemas.microsoft.com/office/drawing/2014/main" id="{9765B7EC-8C1B-AC1F-3D65-5FD164B2B788}"/>
                </a:ext>
              </a:extLst>
            </p:cNvPr>
            <p:cNvSpPr/>
            <p:nvPr/>
          </p:nvSpPr>
          <p:spPr>
            <a:xfrm>
              <a:off x="5034642"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 name="箭头: V 形 18">
              <a:extLst>
                <a:ext uri="{FF2B5EF4-FFF2-40B4-BE49-F238E27FC236}">
                  <a16:creationId xmlns:a16="http://schemas.microsoft.com/office/drawing/2014/main" id="{B092DD4D-4E88-5AA7-E621-B7C1E45C7B02}"/>
                </a:ext>
              </a:extLst>
            </p:cNvPr>
            <p:cNvSpPr/>
            <p:nvPr/>
          </p:nvSpPr>
          <p:spPr>
            <a:xfrm>
              <a:off x="5459185"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0" name="箭头: V 形 19">
              <a:extLst>
                <a:ext uri="{FF2B5EF4-FFF2-40B4-BE49-F238E27FC236}">
                  <a16:creationId xmlns:a16="http://schemas.microsoft.com/office/drawing/2014/main" id="{3DB8DCCD-0223-A72F-E66D-355E2190DDB7}"/>
                </a:ext>
              </a:extLst>
            </p:cNvPr>
            <p:cNvSpPr/>
            <p:nvPr/>
          </p:nvSpPr>
          <p:spPr>
            <a:xfrm>
              <a:off x="5883728"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30" name="组合 29">
            <a:extLst>
              <a:ext uri="{FF2B5EF4-FFF2-40B4-BE49-F238E27FC236}">
                <a16:creationId xmlns:a16="http://schemas.microsoft.com/office/drawing/2014/main" id="{739F7C51-3A30-15BF-2BE9-AB308D7F0239}"/>
              </a:ext>
            </a:extLst>
          </p:cNvPr>
          <p:cNvGrpSpPr/>
          <p:nvPr/>
        </p:nvGrpSpPr>
        <p:grpSpPr>
          <a:xfrm>
            <a:off x="14602292" y="5540556"/>
            <a:ext cx="1273629" cy="544286"/>
            <a:chOff x="5034642" y="5050974"/>
            <a:chExt cx="1273629" cy="544286"/>
          </a:xfrm>
        </p:grpSpPr>
        <p:sp>
          <p:nvSpPr>
            <p:cNvPr id="21" name="箭头: V 形 20">
              <a:extLst>
                <a:ext uri="{FF2B5EF4-FFF2-40B4-BE49-F238E27FC236}">
                  <a16:creationId xmlns:a16="http://schemas.microsoft.com/office/drawing/2014/main" id="{AB07BBC0-3FFD-4927-9827-9590BB6775A0}"/>
                </a:ext>
              </a:extLst>
            </p:cNvPr>
            <p:cNvSpPr/>
            <p:nvPr/>
          </p:nvSpPr>
          <p:spPr>
            <a:xfrm>
              <a:off x="5034642"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 name="箭头: V 形 21">
              <a:extLst>
                <a:ext uri="{FF2B5EF4-FFF2-40B4-BE49-F238E27FC236}">
                  <a16:creationId xmlns:a16="http://schemas.microsoft.com/office/drawing/2014/main" id="{27510F9A-2412-72E9-F823-7E334497A34E}"/>
                </a:ext>
              </a:extLst>
            </p:cNvPr>
            <p:cNvSpPr/>
            <p:nvPr/>
          </p:nvSpPr>
          <p:spPr>
            <a:xfrm>
              <a:off x="5459185"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3" name="箭头: V 形 22">
              <a:extLst>
                <a:ext uri="{FF2B5EF4-FFF2-40B4-BE49-F238E27FC236}">
                  <a16:creationId xmlns:a16="http://schemas.microsoft.com/office/drawing/2014/main" id="{E8790A4F-4A5A-990B-6623-536DB5AD7021}"/>
                </a:ext>
              </a:extLst>
            </p:cNvPr>
            <p:cNvSpPr/>
            <p:nvPr/>
          </p:nvSpPr>
          <p:spPr>
            <a:xfrm>
              <a:off x="5883728"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37" name="组合 36">
            <a:extLst>
              <a:ext uri="{FF2B5EF4-FFF2-40B4-BE49-F238E27FC236}">
                <a16:creationId xmlns:a16="http://schemas.microsoft.com/office/drawing/2014/main" id="{A98C189D-7027-6A17-19B3-3BCA152E1D40}"/>
              </a:ext>
            </a:extLst>
          </p:cNvPr>
          <p:cNvGrpSpPr/>
          <p:nvPr/>
        </p:nvGrpSpPr>
        <p:grpSpPr>
          <a:xfrm>
            <a:off x="17419860" y="524558"/>
            <a:ext cx="2719668" cy="707886"/>
            <a:chOff x="7790950" y="577644"/>
            <a:chExt cx="2719668" cy="707886"/>
          </a:xfrm>
        </p:grpSpPr>
        <p:sp>
          <p:nvSpPr>
            <p:cNvPr id="31" name="文本框 30">
              <a:extLst>
                <a:ext uri="{FF2B5EF4-FFF2-40B4-BE49-F238E27FC236}">
                  <a16:creationId xmlns:a16="http://schemas.microsoft.com/office/drawing/2014/main" id="{5663A2C4-84FC-F2CA-1204-CD6B4673BDFF}"/>
                </a:ext>
              </a:extLst>
            </p:cNvPr>
            <p:cNvSpPr txBox="1"/>
            <p:nvPr/>
          </p:nvSpPr>
          <p:spPr>
            <a:xfrm>
              <a:off x="7790950" y="577644"/>
              <a:ext cx="271278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Calibri" panose="020F0502020204030204" pitchFamily="34" charset="0"/>
                </a:rPr>
                <a:t>现有市场</a:t>
              </a:r>
            </a:p>
          </p:txBody>
        </p:sp>
        <p:sp>
          <p:nvSpPr>
            <p:cNvPr id="32" name="文本框 31">
              <a:extLst>
                <a:ext uri="{FF2B5EF4-FFF2-40B4-BE49-F238E27FC236}">
                  <a16:creationId xmlns:a16="http://schemas.microsoft.com/office/drawing/2014/main" id="{6032ABBB-F58D-F4A7-5ED4-A9219F87E4FD}"/>
                </a:ext>
              </a:extLst>
            </p:cNvPr>
            <p:cNvSpPr txBox="1"/>
            <p:nvPr/>
          </p:nvSpPr>
          <p:spPr>
            <a:xfrm>
              <a:off x="7797833" y="577644"/>
              <a:ext cx="2712785"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endPar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endParaRPr>
            </a:p>
          </p:txBody>
        </p:sp>
      </p:grpSp>
      <p:sp>
        <p:nvSpPr>
          <p:cNvPr id="33" name="文本框 32">
            <a:extLst>
              <a:ext uri="{FF2B5EF4-FFF2-40B4-BE49-F238E27FC236}">
                <a16:creationId xmlns:a16="http://schemas.microsoft.com/office/drawing/2014/main" id="{A6369BA9-BA72-DCFD-B4D9-2C7A8DBAB229}"/>
              </a:ext>
            </a:extLst>
          </p:cNvPr>
          <p:cNvSpPr txBox="1"/>
          <p:nvPr/>
        </p:nvSpPr>
        <p:spPr>
          <a:xfrm>
            <a:off x="17419860" y="1852252"/>
            <a:ext cx="2712785"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rPr>
              <a:t>最大挫折</a:t>
            </a:r>
          </a:p>
        </p:txBody>
      </p:sp>
      <p:sp>
        <p:nvSpPr>
          <p:cNvPr id="34" name="文本框 33">
            <a:extLst>
              <a:ext uri="{FF2B5EF4-FFF2-40B4-BE49-F238E27FC236}">
                <a16:creationId xmlns:a16="http://schemas.microsoft.com/office/drawing/2014/main" id="{DA2F5742-6E1E-8644-76ED-222863959681}"/>
              </a:ext>
            </a:extLst>
          </p:cNvPr>
          <p:cNvSpPr txBox="1"/>
          <p:nvPr/>
        </p:nvSpPr>
        <p:spPr>
          <a:xfrm>
            <a:off x="17395598" y="3106606"/>
            <a:ext cx="277507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华文行楷" panose="02010800040101010101" pitchFamily="2" charset="-122"/>
                <a:cs typeface="+mn-cs"/>
              </a:rPr>
              <a:t>猎豹与哪吒</a:t>
            </a:r>
            <a:endParaRPr kumimoji="0" lang="en-US" altLang="zh-CN" sz="2000" b="0" i="1" u="none" strike="noStrike" kern="1200" cap="none" spc="0" normalizeH="0" baseline="0" noProof="0" dirty="0">
              <a:ln>
                <a:noFill/>
              </a:ln>
              <a:solidFill>
                <a:prstClr val="black"/>
              </a:solidFill>
              <a:effectLst/>
              <a:uLnTx/>
              <a:uFillTx/>
              <a:latin typeface="Segoe Print" panose="02000600000000000000" pitchFamily="2" charset="0"/>
              <a:ea typeface="华文行楷" panose="02010800040101010101" pitchFamily="2" charset="-122"/>
              <a:cs typeface="+mn-cs"/>
            </a:endParaRPr>
          </a:p>
        </p:txBody>
      </p:sp>
      <p:sp>
        <p:nvSpPr>
          <p:cNvPr id="35" name="文本框 34">
            <a:extLst>
              <a:ext uri="{FF2B5EF4-FFF2-40B4-BE49-F238E27FC236}">
                <a16:creationId xmlns:a16="http://schemas.microsoft.com/office/drawing/2014/main" id="{1B6A153E-6E0C-1C9A-B573-D72CB962E185}"/>
              </a:ext>
            </a:extLst>
          </p:cNvPr>
          <p:cNvSpPr txBox="1"/>
          <p:nvPr/>
        </p:nvSpPr>
        <p:spPr>
          <a:xfrm>
            <a:off x="17548231" y="4269862"/>
            <a:ext cx="254370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rPr>
              <a:t>企业发展战略定位</a:t>
            </a:r>
          </a:p>
        </p:txBody>
      </p:sp>
      <p:sp>
        <p:nvSpPr>
          <p:cNvPr id="36" name="文本框 35">
            <a:extLst>
              <a:ext uri="{FF2B5EF4-FFF2-40B4-BE49-F238E27FC236}">
                <a16:creationId xmlns:a16="http://schemas.microsoft.com/office/drawing/2014/main" id="{99F53B93-F0CA-996E-0452-709FEE417069}"/>
              </a:ext>
            </a:extLst>
          </p:cNvPr>
          <p:cNvSpPr txBox="1"/>
          <p:nvPr/>
        </p:nvSpPr>
        <p:spPr>
          <a:xfrm>
            <a:off x="17548231" y="5531765"/>
            <a:ext cx="254370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rPr>
              <a:t>相关解决办法及意见</a:t>
            </a:r>
          </a:p>
        </p:txBody>
      </p:sp>
    </p:spTree>
    <p:extLst>
      <p:ext uri="{BB962C8B-B14F-4D97-AF65-F5344CB8AC3E}">
        <p14:creationId xmlns:p14="http://schemas.microsoft.com/office/powerpoint/2010/main" val="32760872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EA4AF-9B17-AD70-6C12-72D846CDDA1E}"/>
            </a:ext>
          </a:extLst>
        </p:cNvPr>
        <p:cNvGrpSpPr/>
        <p:nvPr/>
      </p:nvGrpSpPr>
      <p:grpSpPr>
        <a:xfrm>
          <a:off x="0" y="0"/>
          <a:ext cx="0" cy="0"/>
          <a:chOff x="0" y="0"/>
          <a:chExt cx="0" cy="0"/>
        </a:xfrm>
      </p:grpSpPr>
      <p:pic>
        <p:nvPicPr>
          <p:cNvPr id="26" name="图片 25">
            <a:extLst>
              <a:ext uri="{FF2B5EF4-FFF2-40B4-BE49-F238E27FC236}">
                <a16:creationId xmlns:a16="http://schemas.microsoft.com/office/drawing/2014/main" id="{505D009D-A904-26B8-EAD7-1052268671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612" y="-37821"/>
            <a:ext cx="11165305" cy="6895821"/>
          </a:xfrm>
          <a:prstGeom prst="rect">
            <a:avLst/>
          </a:prstGeom>
        </p:spPr>
      </p:pic>
      <p:sp>
        <p:nvSpPr>
          <p:cNvPr id="5" name="文本框 4">
            <a:extLst>
              <a:ext uri="{FF2B5EF4-FFF2-40B4-BE49-F238E27FC236}">
                <a16:creationId xmlns:a16="http://schemas.microsoft.com/office/drawing/2014/main" id="{9F8E1BE6-B300-6EBC-7085-E4419EEA6CAA}"/>
              </a:ext>
            </a:extLst>
          </p:cNvPr>
          <p:cNvSpPr txBox="1"/>
          <p:nvPr/>
        </p:nvSpPr>
        <p:spPr>
          <a:xfrm>
            <a:off x="3718560" y="2432414"/>
            <a:ext cx="4581625" cy="218521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600" b="0" i="0" u="none" strike="noStrike" kern="1200" cap="none" spc="0" normalizeH="0" baseline="0" noProof="0" dirty="0">
                <a:ln>
                  <a:noFill/>
                </a:ln>
                <a:solidFill>
                  <a:srgbClr val="4472C4"/>
                </a:solidFill>
                <a:effectLst/>
                <a:uLnTx/>
                <a:uFillTx/>
                <a:latin typeface="华文行楷" panose="02010800040101010101" pitchFamily="2" charset="-122"/>
                <a:ea typeface="华文行楷" panose="02010800040101010101" pitchFamily="2" charset="-122"/>
                <a:cs typeface="+mn-cs"/>
              </a:rPr>
              <a:t>目录</a:t>
            </a:r>
            <a:endParaRPr kumimoji="0" lang="en-US" altLang="zh-CN" sz="9600" b="0" i="0" u="none" strike="noStrike" kern="1200" cap="none" spc="0" normalizeH="0" baseline="0" noProof="0" dirty="0">
              <a:ln>
                <a:noFill/>
              </a:ln>
              <a:solidFill>
                <a:srgbClr val="4472C4"/>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4472C4"/>
                </a:solidFill>
                <a:effectLst/>
                <a:uLnTx/>
                <a:uFillTx/>
                <a:latin typeface="等线" panose="02010600030101010101" pitchFamily="2" charset="-122"/>
                <a:ea typeface="等线" panose="02010600030101010101" pitchFamily="2" charset="-122"/>
                <a:cs typeface="+mn-cs"/>
              </a:rPr>
              <a:t>content</a:t>
            </a:r>
            <a:endParaRPr kumimoji="0" lang="zh-CN" altLang="en-US" sz="4000" b="0" i="0" u="none" strike="noStrike" kern="1200" cap="none" spc="0" normalizeH="0" baseline="0" noProof="0" dirty="0">
              <a:ln>
                <a:noFill/>
              </a:ln>
              <a:solidFill>
                <a:srgbClr val="4472C4"/>
              </a:solidFill>
              <a:effectLst/>
              <a:uLnTx/>
              <a:uFillTx/>
              <a:latin typeface="等线" panose="02010600030101010101" pitchFamily="2" charset="-122"/>
              <a:ea typeface="等线" panose="02010600030101010101" pitchFamily="2" charset="-122"/>
              <a:cs typeface="+mn-cs"/>
            </a:endParaRPr>
          </a:p>
        </p:txBody>
      </p:sp>
      <p:sp>
        <p:nvSpPr>
          <p:cNvPr id="8" name="任意多边形: 形状 7">
            <a:extLst>
              <a:ext uri="{FF2B5EF4-FFF2-40B4-BE49-F238E27FC236}">
                <a16:creationId xmlns:a16="http://schemas.microsoft.com/office/drawing/2014/main" id="{0903231D-1B78-3429-2517-3E8B55261768}"/>
              </a:ext>
            </a:extLst>
          </p:cNvPr>
          <p:cNvSpPr/>
          <p:nvPr/>
        </p:nvSpPr>
        <p:spPr>
          <a:xfrm>
            <a:off x="2416142"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0" name="任意多边形: 形状 9">
            <a:extLst>
              <a:ext uri="{FF2B5EF4-FFF2-40B4-BE49-F238E27FC236}">
                <a16:creationId xmlns:a16="http://schemas.microsoft.com/office/drawing/2014/main" id="{4E60DC3A-EDFB-00F7-ADD2-84FAE0E61BA5}"/>
              </a:ext>
            </a:extLst>
          </p:cNvPr>
          <p:cNvSpPr/>
          <p:nvPr/>
        </p:nvSpPr>
        <p:spPr>
          <a:xfrm>
            <a:off x="2649756"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solidFill>
            <a:schemeClr val="accent1">
              <a:lumMod val="20000"/>
              <a:lumOff val="80000"/>
            </a:schemeClr>
          </a:solidFill>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1" name="任意多边形: 形状 10">
            <a:extLst>
              <a:ext uri="{FF2B5EF4-FFF2-40B4-BE49-F238E27FC236}">
                <a16:creationId xmlns:a16="http://schemas.microsoft.com/office/drawing/2014/main" id="{D7B8DB31-109A-5EA3-7531-0668FFF6EE02}"/>
              </a:ext>
            </a:extLst>
          </p:cNvPr>
          <p:cNvSpPr/>
          <p:nvPr/>
        </p:nvSpPr>
        <p:spPr>
          <a:xfrm>
            <a:off x="2883370"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solidFill>
            <a:schemeClr val="bg1"/>
          </a:solidFill>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4" name="文本框 3">
            <a:extLst>
              <a:ext uri="{FF2B5EF4-FFF2-40B4-BE49-F238E27FC236}">
                <a16:creationId xmlns:a16="http://schemas.microsoft.com/office/drawing/2014/main" id="{8712C6A8-064F-3534-F8A1-BD98927E6909}"/>
              </a:ext>
            </a:extLst>
          </p:cNvPr>
          <p:cNvSpPr txBox="1"/>
          <p:nvPr/>
        </p:nvSpPr>
        <p:spPr>
          <a:xfrm>
            <a:off x="-426120" y="2336391"/>
            <a:ext cx="4581625" cy="218521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600" b="0" i="0" u="none" strike="noStrike" kern="1200" cap="none" spc="0" normalizeH="0" baseline="0" noProof="0" dirty="0">
                <a:ln>
                  <a:noFill/>
                </a:ln>
                <a:solidFill>
                  <a:srgbClr val="C00000"/>
                </a:solidFill>
                <a:effectLst/>
                <a:uLnTx/>
                <a:uFillTx/>
                <a:latin typeface="华文行楷" panose="02010800040101010101" pitchFamily="2" charset="-122"/>
                <a:ea typeface="华文行楷" panose="02010800040101010101" pitchFamily="2" charset="-122"/>
                <a:cs typeface="+mn-cs"/>
              </a:rPr>
              <a:t>目录</a:t>
            </a:r>
            <a:endParaRPr kumimoji="0" lang="en-US" altLang="zh-CN" sz="9600" b="0" i="0" u="none" strike="noStrike" kern="1200" cap="none" spc="0" normalizeH="0" baseline="0" noProof="0" dirty="0">
              <a:ln>
                <a:noFill/>
              </a:ln>
              <a:solidFill>
                <a:srgbClr val="C00000"/>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C00000"/>
                </a:solidFill>
                <a:effectLst/>
                <a:uLnTx/>
                <a:uFillTx/>
                <a:latin typeface="等线" panose="02010600030101010101" pitchFamily="2" charset="-122"/>
                <a:ea typeface="等线" panose="02010600030101010101" pitchFamily="2" charset="-122"/>
                <a:cs typeface="+mn-cs"/>
              </a:rPr>
              <a:t>content</a:t>
            </a:r>
            <a:endParaRPr kumimoji="0" lang="zh-CN" altLang="en-US" sz="4000" b="0" i="0" u="none" strike="noStrike" kern="1200" cap="none" spc="0" normalizeH="0" baseline="0" noProof="0" dirty="0">
              <a:ln>
                <a:noFill/>
              </a:ln>
              <a:solidFill>
                <a:srgbClr val="C00000"/>
              </a:solidFill>
              <a:effectLst/>
              <a:uLnTx/>
              <a:uFillTx/>
              <a:latin typeface="等线" panose="02010600030101010101" pitchFamily="2" charset="-122"/>
              <a:ea typeface="等线" panose="02010600030101010101" pitchFamily="2" charset="-122"/>
              <a:cs typeface="+mn-cs"/>
            </a:endParaRPr>
          </a:p>
        </p:txBody>
      </p:sp>
      <p:grpSp>
        <p:nvGrpSpPr>
          <p:cNvPr id="24" name="组合 23">
            <a:extLst>
              <a:ext uri="{FF2B5EF4-FFF2-40B4-BE49-F238E27FC236}">
                <a16:creationId xmlns:a16="http://schemas.microsoft.com/office/drawing/2014/main" id="{5BCF617C-4E94-A2EB-D2EA-E658A6716B8F}"/>
              </a:ext>
            </a:extLst>
          </p:cNvPr>
          <p:cNvGrpSpPr/>
          <p:nvPr/>
        </p:nvGrpSpPr>
        <p:grpSpPr>
          <a:xfrm>
            <a:off x="5248543" y="642621"/>
            <a:ext cx="1273629" cy="544286"/>
            <a:chOff x="5034642" y="1306286"/>
            <a:chExt cx="1273629" cy="544286"/>
          </a:xfrm>
        </p:grpSpPr>
        <p:sp>
          <p:nvSpPr>
            <p:cNvPr id="6" name="箭头: V 形 5">
              <a:extLst>
                <a:ext uri="{FF2B5EF4-FFF2-40B4-BE49-F238E27FC236}">
                  <a16:creationId xmlns:a16="http://schemas.microsoft.com/office/drawing/2014/main" id="{E4309AD2-CFB6-367C-EFA2-E89E7DB67C31}"/>
                </a:ext>
              </a:extLst>
            </p:cNvPr>
            <p:cNvSpPr/>
            <p:nvPr/>
          </p:nvSpPr>
          <p:spPr>
            <a:xfrm>
              <a:off x="5034642"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 name="箭头: V 形 6">
              <a:extLst>
                <a:ext uri="{FF2B5EF4-FFF2-40B4-BE49-F238E27FC236}">
                  <a16:creationId xmlns:a16="http://schemas.microsoft.com/office/drawing/2014/main" id="{7EA04CA0-9E2F-400C-A9D7-CD7D9BA5577F}"/>
                </a:ext>
              </a:extLst>
            </p:cNvPr>
            <p:cNvSpPr/>
            <p:nvPr/>
          </p:nvSpPr>
          <p:spPr>
            <a:xfrm>
              <a:off x="5459185"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9" name="箭头: V 形 8">
              <a:extLst>
                <a:ext uri="{FF2B5EF4-FFF2-40B4-BE49-F238E27FC236}">
                  <a16:creationId xmlns:a16="http://schemas.microsoft.com/office/drawing/2014/main" id="{E30227DA-6579-0CFD-2F92-B3EC76C3BBA0}"/>
                </a:ext>
              </a:extLst>
            </p:cNvPr>
            <p:cNvSpPr/>
            <p:nvPr/>
          </p:nvSpPr>
          <p:spPr>
            <a:xfrm>
              <a:off x="5883728"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5" name="组合 24">
            <a:extLst>
              <a:ext uri="{FF2B5EF4-FFF2-40B4-BE49-F238E27FC236}">
                <a16:creationId xmlns:a16="http://schemas.microsoft.com/office/drawing/2014/main" id="{15D48ECF-3688-FB72-C89C-F728DE60658D}"/>
              </a:ext>
            </a:extLst>
          </p:cNvPr>
          <p:cNvGrpSpPr/>
          <p:nvPr/>
        </p:nvGrpSpPr>
        <p:grpSpPr>
          <a:xfrm>
            <a:off x="14602294" y="1888947"/>
            <a:ext cx="1273629" cy="544286"/>
            <a:chOff x="5034642" y="2242458"/>
            <a:chExt cx="1273629" cy="544286"/>
          </a:xfrm>
        </p:grpSpPr>
        <p:sp>
          <p:nvSpPr>
            <p:cNvPr id="12" name="箭头: V 形 11">
              <a:extLst>
                <a:ext uri="{FF2B5EF4-FFF2-40B4-BE49-F238E27FC236}">
                  <a16:creationId xmlns:a16="http://schemas.microsoft.com/office/drawing/2014/main" id="{A68C0A8C-5CD7-F0CF-C9EA-717ECEDF6E2E}"/>
                </a:ext>
              </a:extLst>
            </p:cNvPr>
            <p:cNvSpPr/>
            <p:nvPr/>
          </p:nvSpPr>
          <p:spPr>
            <a:xfrm>
              <a:off x="5034642"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3" name="箭头: V 形 12">
              <a:extLst>
                <a:ext uri="{FF2B5EF4-FFF2-40B4-BE49-F238E27FC236}">
                  <a16:creationId xmlns:a16="http://schemas.microsoft.com/office/drawing/2014/main" id="{964E3D6E-44C8-6D8C-96D3-D7962599F280}"/>
                </a:ext>
              </a:extLst>
            </p:cNvPr>
            <p:cNvSpPr/>
            <p:nvPr/>
          </p:nvSpPr>
          <p:spPr>
            <a:xfrm>
              <a:off x="5459185"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4" name="箭头: V 形 13">
              <a:extLst>
                <a:ext uri="{FF2B5EF4-FFF2-40B4-BE49-F238E27FC236}">
                  <a16:creationId xmlns:a16="http://schemas.microsoft.com/office/drawing/2014/main" id="{C7CE4FB8-8037-4510-2DFB-16337C54D586}"/>
                </a:ext>
              </a:extLst>
            </p:cNvPr>
            <p:cNvSpPr/>
            <p:nvPr/>
          </p:nvSpPr>
          <p:spPr>
            <a:xfrm>
              <a:off x="5883728"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8" name="组合 27">
            <a:extLst>
              <a:ext uri="{FF2B5EF4-FFF2-40B4-BE49-F238E27FC236}">
                <a16:creationId xmlns:a16="http://schemas.microsoft.com/office/drawing/2014/main" id="{C6BD6A16-AAEB-1874-3BDD-02542B95A2D2}"/>
              </a:ext>
            </a:extLst>
          </p:cNvPr>
          <p:cNvGrpSpPr/>
          <p:nvPr/>
        </p:nvGrpSpPr>
        <p:grpSpPr>
          <a:xfrm>
            <a:off x="14602294" y="3119036"/>
            <a:ext cx="1273629" cy="544286"/>
            <a:chOff x="5034642" y="3178630"/>
            <a:chExt cx="1273629" cy="544286"/>
          </a:xfrm>
        </p:grpSpPr>
        <p:sp>
          <p:nvSpPr>
            <p:cNvPr id="15" name="箭头: V 形 14">
              <a:extLst>
                <a:ext uri="{FF2B5EF4-FFF2-40B4-BE49-F238E27FC236}">
                  <a16:creationId xmlns:a16="http://schemas.microsoft.com/office/drawing/2014/main" id="{DAC755A2-91E9-5035-0279-9C4AEC0E194B}"/>
                </a:ext>
              </a:extLst>
            </p:cNvPr>
            <p:cNvSpPr/>
            <p:nvPr/>
          </p:nvSpPr>
          <p:spPr>
            <a:xfrm>
              <a:off x="5034642"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 name="箭头: V 形 15">
              <a:extLst>
                <a:ext uri="{FF2B5EF4-FFF2-40B4-BE49-F238E27FC236}">
                  <a16:creationId xmlns:a16="http://schemas.microsoft.com/office/drawing/2014/main" id="{0C4197B4-7EAB-4772-C549-9045C08F7057}"/>
                </a:ext>
              </a:extLst>
            </p:cNvPr>
            <p:cNvSpPr/>
            <p:nvPr/>
          </p:nvSpPr>
          <p:spPr>
            <a:xfrm>
              <a:off x="5459185"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7" name="箭头: V 形 16">
              <a:extLst>
                <a:ext uri="{FF2B5EF4-FFF2-40B4-BE49-F238E27FC236}">
                  <a16:creationId xmlns:a16="http://schemas.microsoft.com/office/drawing/2014/main" id="{27C87289-364A-5905-AD43-387BE6E48BD8}"/>
                </a:ext>
              </a:extLst>
            </p:cNvPr>
            <p:cNvSpPr/>
            <p:nvPr/>
          </p:nvSpPr>
          <p:spPr>
            <a:xfrm>
              <a:off x="5883728"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9" name="组合 28">
            <a:extLst>
              <a:ext uri="{FF2B5EF4-FFF2-40B4-BE49-F238E27FC236}">
                <a16:creationId xmlns:a16="http://schemas.microsoft.com/office/drawing/2014/main" id="{1216D703-C836-4F98-EB92-D2DD986B701A}"/>
              </a:ext>
            </a:extLst>
          </p:cNvPr>
          <p:cNvGrpSpPr/>
          <p:nvPr/>
        </p:nvGrpSpPr>
        <p:grpSpPr>
          <a:xfrm>
            <a:off x="14602293" y="4318365"/>
            <a:ext cx="1273629" cy="544286"/>
            <a:chOff x="5034642" y="4114802"/>
            <a:chExt cx="1273629" cy="544286"/>
          </a:xfrm>
        </p:grpSpPr>
        <p:sp>
          <p:nvSpPr>
            <p:cNvPr id="18" name="箭头: V 形 17">
              <a:extLst>
                <a:ext uri="{FF2B5EF4-FFF2-40B4-BE49-F238E27FC236}">
                  <a16:creationId xmlns:a16="http://schemas.microsoft.com/office/drawing/2014/main" id="{CC4564E0-FC55-471C-DB01-0D6A8E733EAC}"/>
                </a:ext>
              </a:extLst>
            </p:cNvPr>
            <p:cNvSpPr/>
            <p:nvPr/>
          </p:nvSpPr>
          <p:spPr>
            <a:xfrm>
              <a:off x="5034642"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 name="箭头: V 形 18">
              <a:extLst>
                <a:ext uri="{FF2B5EF4-FFF2-40B4-BE49-F238E27FC236}">
                  <a16:creationId xmlns:a16="http://schemas.microsoft.com/office/drawing/2014/main" id="{D197B5FE-A87B-C199-65BA-F7CBC6FCC91B}"/>
                </a:ext>
              </a:extLst>
            </p:cNvPr>
            <p:cNvSpPr/>
            <p:nvPr/>
          </p:nvSpPr>
          <p:spPr>
            <a:xfrm>
              <a:off x="5459185"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0" name="箭头: V 形 19">
              <a:extLst>
                <a:ext uri="{FF2B5EF4-FFF2-40B4-BE49-F238E27FC236}">
                  <a16:creationId xmlns:a16="http://schemas.microsoft.com/office/drawing/2014/main" id="{FE76D38E-056D-3339-CD20-0327052EE9FD}"/>
                </a:ext>
              </a:extLst>
            </p:cNvPr>
            <p:cNvSpPr/>
            <p:nvPr/>
          </p:nvSpPr>
          <p:spPr>
            <a:xfrm>
              <a:off x="5883728"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30" name="组合 29">
            <a:extLst>
              <a:ext uri="{FF2B5EF4-FFF2-40B4-BE49-F238E27FC236}">
                <a16:creationId xmlns:a16="http://schemas.microsoft.com/office/drawing/2014/main" id="{503D60A0-6211-EE49-AFC2-D281DAE7E836}"/>
              </a:ext>
            </a:extLst>
          </p:cNvPr>
          <p:cNvGrpSpPr/>
          <p:nvPr/>
        </p:nvGrpSpPr>
        <p:grpSpPr>
          <a:xfrm>
            <a:off x="14602292" y="5540556"/>
            <a:ext cx="1273629" cy="544286"/>
            <a:chOff x="5034642" y="5050974"/>
            <a:chExt cx="1273629" cy="544286"/>
          </a:xfrm>
        </p:grpSpPr>
        <p:sp>
          <p:nvSpPr>
            <p:cNvPr id="21" name="箭头: V 形 20">
              <a:extLst>
                <a:ext uri="{FF2B5EF4-FFF2-40B4-BE49-F238E27FC236}">
                  <a16:creationId xmlns:a16="http://schemas.microsoft.com/office/drawing/2014/main" id="{95E2F451-6E93-BF40-BD0D-6D79FF93319D}"/>
                </a:ext>
              </a:extLst>
            </p:cNvPr>
            <p:cNvSpPr/>
            <p:nvPr/>
          </p:nvSpPr>
          <p:spPr>
            <a:xfrm>
              <a:off x="5034642"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 name="箭头: V 形 21">
              <a:extLst>
                <a:ext uri="{FF2B5EF4-FFF2-40B4-BE49-F238E27FC236}">
                  <a16:creationId xmlns:a16="http://schemas.microsoft.com/office/drawing/2014/main" id="{BF31E7B3-B75D-5CC8-C428-0E043D712E0C}"/>
                </a:ext>
              </a:extLst>
            </p:cNvPr>
            <p:cNvSpPr/>
            <p:nvPr/>
          </p:nvSpPr>
          <p:spPr>
            <a:xfrm>
              <a:off x="5459185"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3" name="箭头: V 形 22">
              <a:extLst>
                <a:ext uri="{FF2B5EF4-FFF2-40B4-BE49-F238E27FC236}">
                  <a16:creationId xmlns:a16="http://schemas.microsoft.com/office/drawing/2014/main" id="{D1C4FAC9-CE1E-03CF-481D-0B9E98EF7996}"/>
                </a:ext>
              </a:extLst>
            </p:cNvPr>
            <p:cNvSpPr/>
            <p:nvPr/>
          </p:nvSpPr>
          <p:spPr>
            <a:xfrm>
              <a:off x="5883728"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37" name="组合 36">
            <a:extLst>
              <a:ext uri="{FF2B5EF4-FFF2-40B4-BE49-F238E27FC236}">
                <a16:creationId xmlns:a16="http://schemas.microsoft.com/office/drawing/2014/main" id="{A09072C5-F5A6-10E7-EDEC-23C47E068375}"/>
              </a:ext>
            </a:extLst>
          </p:cNvPr>
          <p:cNvGrpSpPr/>
          <p:nvPr/>
        </p:nvGrpSpPr>
        <p:grpSpPr>
          <a:xfrm>
            <a:off x="8060260" y="508321"/>
            <a:ext cx="2719668" cy="707886"/>
            <a:chOff x="7790950" y="577644"/>
            <a:chExt cx="2719668" cy="707886"/>
          </a:xfrm>
        </p:grpSpPr>
        <p:sp>
          <p:nvSpPr>
            <p:cNvPr id="31" name="文本框 30">
              <a:extLst>
                <a:ext uri="{FF2B5EF4-FFF2-40B4-BE49-F238E27FC236}">
                  <a16:creationId xmlns:a16="http://schemas.microsoft.com/office/drawing/2014/main" id="{D987818F-BF15-8CE7-0008-4D2BF2B5B275}"/>
                </a:ext>
              </a:extLst>
            </p:cNvPr>
            <p:cNvSpPr txBox="1"/>
            <p:nvPr/>
          </p:nvSpPr>
          <p:spPr>
            <a:xfrm>
              <a:off x="7790950" y="577644"/>
              <a:ext cx="271278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PART01</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i="1" dirty="0">
                  <a:solidFill>
                    <a:prstClr val="black"/>
                  </a:solidFill>
                  <a:latin typeface="Segoe Print" panose="02000600000000000000" pitchFamily="2" charset="0"/>
                  <a:ea typeface="方正舒体" panose="02010601030101010101" pitchFamily="2" charset="-122"/>
                  <a:cs typeface="Calibri" panose="020F0502020204030204" pitchFamily="34" charset="0"/>
                </a:rPr>
                <a:t>现有市场</a:t>
              </a:r>
              <a:endPar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Calibri" panose="020F0502020204030204" pitchFamily="34" charset="0"/>
              </a:endParaRPr>
            </a:p>
          </p:txBody>
        </p:sp>
        <p:sp>
          <p:nvSpPr>
            <p:cNvPr id="32" name="文本框 31">
              <a:extLst>
                <a:ext uri="{FF2B5EF4-FFF2-40B4-BE49-F238E27FC236}">
                  <a16:creationId xmlns:a16="http://schemas.microsoft.com/office/drawing/2014/main" id="{EBDF5DFC-DF95-6829-BE89-4AC61B31CD7D}"/>
                </a:ext>
              </a:extLst>
            </p:cNvPr>
            <p:cNvSpPr txBox="1"/>
            <p:nvPr/>
          </p:nvSpPr>
          <p:spPr>
            <a:xfrm>
              <a:off x="7797833" y="577644"/>
              <a:ext cx="2712785"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endPar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endParaRPr>
            </a:p>
          </p:txBody>
        </p:sp>
      </p:grpSp>
      <p:sp>
        <p:nvSpPr>
          <p:cNvPr id="33" name="文本框 32">
            <a:extLst>
              <a:ext uri="{FF2B5EF4-FFF2-40B4-BE49-F238E27FC236}">
                <a16:creationId xmlns:a16="http://schemas.microsoft.com/office/drawing/2014/main" id="{CBF8D2E7-AE00-CB87-0783-EF89D9A645A5}"/>
              </a:ext>
            </a:extLst>
          </p:cNvPr>
          <p:cNvSpPr txBox="1"/>
          <p:nvPr/>
        </p:nvSpPr>
        <p:spPr>
          <a:xfrm>
            <a:off x="17419860" y="1852252"/>
            <a:ext cx="2712785"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rPr>
              <a:t>最大挫折</a:t>
            </a:r>
          </a:p>
        </p:txBody>
      </p:sp>
      <p:sp>
        <p:nvSpPr>
          <p:cNvPr id="34" name="文本框 33">
            <a:extLst>
              <a:ext uri="{FF2B5EF4-FFF2-40B4-BE49-F238E27FC236}">
                <a16:creationId xmlns:a16="http://schemas.microsoft.com/office/drawing/2014/main" id="{18C9F239-55C1-160C-B82A-DD86A64825E1}"/>
              </a:ext>
            </a:extLst>
          </p:cNvPr>
          <p:cNvSpPr txBox="1"/>
          <p:nvPr/>
        </p:nvSpPr>
        <p:spPr>
          <a:xfrm>
            <a:off x="17395598" y="3106606"/>
            <a:ext cx="277507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华文行楷" panose="02010800040101010101" pitchFamily="2" charset="-122"/>
                <a:cs typeface="+mn-cs"/>
              </a:rPr>
              <a:t>猎豹与哪吒</a:t>
            </a:r>
            <a:endParaRPr kumimoji="0" lang="en-US" altLang="zh-CN" sz="2000" b="0" i="1" u="none" strike="noStrike" kern="1200" cap="none" spc="0" normalizeH="0" baseline="0" noProof="0" dirty="0">
              <a:ln>
                <a:noFill/>
              </a:ln>
              <a:solidFill>
                <a:prstClr val="black"/>
              </a:solidFill>
              <a:effectLst/>
              <a:uLnTx/>
              <a:uFillTx/>
              <a:latin typeface="Segoe Print" panose="02000600000000000000" pitchFamily="2" charset="0"/>
              <a:ea typeface="华文行楷" panose="02010800040101010101" pitchFamily="2" charset="-122"/>
              <a:cs typeface="+mn-cs"/>
            </a:endParaRPr>
          </a:p>
        </p:txBody>
      </p:sp>
      <p:sp>
        <p:nvSpPr>
          <p:cNvPr id="35" name="文本框 34">
            <a:extLst>
              <a:ext uri="{FF2B5EF4-FFF2-40B4-BE49-F238E27FC236}">
                <a16:creationId xmlns:a16="http://schemas.microsoft.com/office/drawing/2014/main" id="{C73B1CCF-EBF8-A973-66B6-0478023F15C3}"/>
              </a:ext>
            </a:extLst>
          </p:cNvPr>
          <p:cNvSpPr txBox="1"/>
          <p:nvPr/>
        </p:nvSpPr>
        <p:spPr>
          <a:xfrm>
            <a:off x="17548231" y="4269862"/>
            <a:ext cx="254370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rPr>
              <a:t>企业发展战略定位</a:t>
            </a:r>
          </a:p>
        </p:txBody>
      </p:sp>
      <p:sp>
        <p:nvSpPr>
          <p:cNvPr id="36" name="文本框 35">
            <a:extLst>
              <a:ext uri="{FF2B5EF4-FFF2-40B4-BE49-F238E27FC236}">
                <a16:creationId xmlns:a16="http://schemas.microsoft.com/office/drawing/2014/main" id="{53149AE2-23BE-4CA3-3576-7FEBEB39BE56}"/>
              </a:ext>
            </a:extLst>
          </p:cNvPr>
          <p:cNvSpPr txBox="1"/>
          <p:nvPr/>
        </p:nvSpPr>
        <p:spPr>
          <a:xfrm>
            <a:off x="17548231" y="5531765"/>
            <a:ext cx="254370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rPr>
              <a:t>相关解决办法及意见</a:t>
            </a:r>
          </a:p>
        </p:txBody>
      </p:sp>
    </p:spTree>
    <p:extLst>
      <p:ext uri="{BB962C8B-B14F-4D97-AF65-F5344CB8AC3E}">
        <p14:creationId xmlns:p14="http://schemas.microsoft.com/office/powerpoint/2010/main" val="22144897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E0DADB9E-3041-3F2E-C2D7-24F22C0433D8}"/>
              </a:ext>
            </a:extLst>
          </p:cNvPr>
          <p:cNvGrpSpPr/>
          <p:nvPr/>
        </p:nvGrpSpPr>
        <p:grpSpPr>
          <a:xfrm>
            <a:off x="694351" y="634898"/>
            <a:ext cx="559363" cy="5588203"/>
            <a:chOff x="841513" y="634898"/>
            <a:chExt cx="559363" cy="5588203"/>
          </a:xfrm>
        </p:grpSpPr>
        <p:sp>
          <p:nvSpPr>
            <p:cNvPr id="5" name="矩形 4">
              <a:extLst>
                <a:ext uri="{FF2B5EF4-FFF2-40B4-BE49-F238E27FC236}">
                  <a16:creationId xmlns:a16="http://schemas.microsoft.com/office/drawing/2014/main" id="{916A8C6F-3A31-87B5-2157-B94B57A24DF1}"/>
                </a:ext>
              </a:extLst>
            </p:cNvPr>
            <p:cNvSpPr/>
            <p:nvPr/>
          </p:nvSpPr>
          <p:spPr>
            <a:xfrm>
              <a:off x="841513" y="697396"/>
              <a:ext cx="311426" cy="5463208"/>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 name="矩形 5">
              <a:extLst>
                <a:ext uri="{FF2B5EF4-FFF2-40B4-BE49-F238E27FC236}">
                  <a16:creationId xmlns:a16="http://schemas.microsoft.com/office/drawing/2014/main" id="{A37AD9AF-7DA7-E2A2-6351-77DD8B9DD580}"/>
                </a:ext>
              </a:extLst>
            </p:cNvPr>
            <p:cNvSpPr/>
            <p:nvPr/>
          </p:nvSpPr>
          <p:spPr>
            <a:xfrm>
              <a:off x="1152939" y="697396"/>
              <a:ext cx="69032" cy="5463208"/>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 name="梯形 6">
              <a:extLst>
                <a:ext uri="{FF2B5EF4-FFF2-40B4-BE49-F238E27FC236}">
                  <a16:creationId xmlns:a16="http://schemas.microsoft.com/office/drawing/2014/main" id="{CCBE2FA7-995D-CB15-631A-3A29651882B9}"/>
                </a:ext>
              </a:extLst>
            </p:cNvPr>
            <p:cNvSpPr/>
            <p:nvPr/>
          </p:nvSpPr>
          <p:spPr>
            <a:xfrm rot="16200000">
              <a:off x="-1482678" y="3339547"/>
              <a:ext cx="5588203" cy="178905"/>
            </a:xfrm>
            <a:prstGeom prst="trapezoid">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grpSp>
      <p:grpSp>
        <p:nvGrpSpPr>
          <p:cNvPr id="9" name="组合 8">
            <a:extLst>
              <a:ext uri="{FF2B5EF4-FFF2-40B4-BE49-F238E27FC236}">
                <a16:creationId xmlns:a16="http://schemas.microsoft.com/office/drawing/2014/main" id="{EB3AFD8A-E5C9-7763-12F2-AFC2D8227D9F}"/>
              </a:ext>
            </a:extLst>
          </p:cNvPr>
          <p:cNvGrpSpPr/>
          <p:nvPr/>
        </p:nvGrpSpPr>
        <p:grpSpPr>
          <a:xfrm flipH="1">
            <a:off x="10970030" y="634897"/>
            <a:ext cx="559363" cy="5588203"/>
            <a:chOff x="841513" y="634898"/>
            <a:chExt cx="559363" cy="5588203"/>
          </a:xfrm>
        </p:grpSpPr>
        <p:sp>
          <p:nvSpPr>
            <p:cNvPr id="10" name="矩形 9">
              <a:extLst>
                <a:ext uri="{FF2B5EF4-FFF2-40B4-BE49-F238E27FC236}">
                  <a16:creationId xmlns:a16="http://schemas.microsoft.com/office/drawing/2014/main" id="{D410F94B-B3F8-896D-0E3A-A62EF8E8845D}"/>
                </a:ext>
              </a:extLst>
            </p:cNvPr>
            <p:cNvSpPr/>
            <p:nvPr/>
          </p:nvSpPr>
          <p:spPr>
            <a:xfrm>
              <a:off x="841513" y="697396"/>
              <a:ext cx="311426" cy="5463208"/>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1" name="矩形 10">
              <a:extLst>
                <a:ext uri="{FF2B5EF4-FFF2-40B4-BE49-F238E27FC236}">
                  <a16:creationId xmlns:a16="http://schemas.microsoft.com/office/drawing/2014/main" id="{2B15CF1B-E982-A38A-8149-FBFC215DB04D}"/>
                </a:ext>
              </a:extLst>
            </p:cNvPr>
            <p:cNvSpPr/>
            <p:nvPr/>
          </p:nvSpPr>
          <p:spPr>
            <a:xfrm>
              <a:off x="1152939" y="697396"/>
              <a:ext cx="69032" cy="5463208"/>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梯形 11">
              <a:extLst>
                <a:ext uri="{FF2B5EF4-FFF2-40B4-BE49-F238E27FC236}">
                  <a16:creationId xmlns:a16="http://schemas.microsoft.com/office/drawing/2014/main" id="{747CE057-4101-1C2D-C9D8-FECAAB76F429}"/>
                </a:ext>
              </a:extLst>
            </p:cNvPr>
            <p:cNvSpPr/>
            <p:nvPr/>
          </p:nvSpPr>
          <p:spPr>
            <a:xfrm rot="16200000">
              <a:off x="-1482678" y="3339547"/>
              <a:ext cx="5588203" cy="178905"/>
            </a:xfrm>
            <a:prstGeom prst="trapezoid">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grpSp>
      <p:sp>
        <p:nvSpPr>
          <p:cNvPr id="14" name="矩形 13">
            <a:extLst>
              <a:ext uri="{FF2B5EF4-FFF2-40B4-BE49-F238E27FC236}">
                <a16:creationId xmlns:a16="http://schemas.microsoft.com/office/drawing/2014/main" id="{27CA1F6F-1FC4-9658-B401-5D30C673FA8E}"/>
              </a:ext>
            </a:extLst>
          </p:cNvPr>
          <p:cNvSpPr/>
          <p:nvPr/>
        </p:nvSpPr>
        <p:spPr>
          <a:xfrm>
            <a:off x="1253715" y="634896"/>
            <a:ext cx="9716315" cy="5588203"/>
          </a:xfrm>
          <a:prstGeom prst="rect">
            <a:avLst/>
          </a:prstGeom>
          <a:solidFill>
            <a:schemeClr val="bg1"/>
          </a:solidFill>
          <a:ln>
            <a:noFill/>
          </a:ln>
          <a:effectLst>
            <a:outerShdw blurRad="317500" sx="101000" sy="101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5" name="矩形 14">
            <a:extLst>
              <a:ext uri="{FF2B5EF4-FFF2-40B4-BE49-F238E27FC236}">
                <a16:creationId xmlns:a16="http://schemas.microsoft.com/office/drawing/2014/main" id="{57046665-D19F-0835-3A6D-1FB01AB93715}"/>
              </a:ext>
            </a:extLst>
          </p:cNvPr>
          <p:cNvSpPr/>
          <p:nvPr/>
        </p:nvSpPr>
        <p:spPr>
          <a:xfrm>
            <a:off x="5590189" y="634892"/>
            <a:ext cx="505810" cy="5588206"/>
          </a:xfrm>
          <a:prstGeom prst="rect">
            <a:avLst/>
          </a:prstGeom>
          <a:gradFill>
            <a:gsLst>
              <a:gs pos="100000">
                <a:srgbClr val="A5A7A9"/>
              </a:gs>
              <a:gs pos="0">
                <a:srgbClr val="C0C2C5"/>
              </a:gs>
              <a:gs pos="100000">
                <a:srgbClr val="898B8D"/>
              </a:gs>
              <a:gs pos="0">
                <a:schemeClr val="bg1"/>
              </a:gs>
              <a:gs pos="100000">
                <a:srgbClr val="1C1D1D"/>
              </a:gs>
              <a:gs pos="100000">
                <a:schemeClr val="tx1"/>
              </a:gs>
              <a:gs pos="100000">
                <a:schemeClr val="tx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6" name="矩形 15">
            <a:extLst>
              <a:ext uri="{FF2B5EF4-FFF2-40B4-BE49-F238E27FC236}">
                <a16:creationId xmlns:a16="http://schemas.microsoft.com/office/drawing/2014/main" id="{A57E5ECE-3D32-0DA0-DF06-6534CED89EA4}"/>
              </a:ext>
            </a:extLst>
          </p:cNvPr>
          <p:cNvSpPr/>
          <p:nvPr/>
        </p:nvSpPr>
        <p:spPr>
          <a:xfrm flipH="1">
            <a:off x="6096000" y="634897"/>
            <a:ext cx="537556" cy="5588206"/>
          </a:xfrm>
          <a:prstGeom prst="rect">
            <a:avLst/>
          </a:prstGeom>
          <a:gradFill>
            <a:gsLst>
              <a:gs pos="100000">
                <a:srgbClr val="A5A7A9"/>
              </a:gs>
              <a:gs pos="0">
                <a:srgbClr val="C0C2C5"/>
              </a:gs>
              <a:gs pos="100000">
                <a:srgbClr val="898B8D"/>
              </a:gs>
              <a:gs pos="0">
                <a:schemeClr val="bg1"/>
              </a:gs>
              <a:gs pos="100000">
                <a:srgbClr val="1C1D1D"/>
              </a:gs>
              <a:gs pos="100000">
                <a:schemeClr val="tx1"/>
              </a:gs>
              <a:gs pos="100000">
                <a:schemeClr val="tx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7" name="文本框 16">
            <a:extLst>
              <a:ext uri="{FF2B5EF4-FFF2-40B4-BE49-F238E27FC236}">
                <a16:creationId xmlns:a16="http://schemas.microsoft.com/office/drawing/2014/main" id="{704D7CB0-8E24-FF75-1498-000E06A013DF}"/>
              </a:ext>
            </a:extLst>
          </p:cNvPr>
          <p:cNvSpPr txBox="1"/>
          <p:nvPr/>
        </p:nvSpPr>
        <p:spPr>
          <a:xfrm>
            <a:off x="1386234" y="772839"/>
            <a:ext cx="4203953" cy="50783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1</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、传统食堂运营效率低</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排队时间长，传统食堂常因高峰期排队导致就餐效率低下，时常出现叫号无回应、座位紧张等现象，学生体验差。</a:t>
            </a:r>
            <a:endPar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2</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、用户体验不足</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信息不透明：学生无法提前了解菜品信息，选择有限，形成信息隔膜。</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取餐流程繁琐：传统取餐方式缺乏指引，学生在取餐过程中容易产生混乱。</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缺乏信息交流平台：学生缺乏信息交流渠道，食堂信息无法大规模流通，导致学生对菜品、座位、服务等评价获取和反馈较少，难以做出优质用餐选择。</a:t>
            </a:r>
            <a:endPar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3</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、数字化水平低</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许多高校食堂尚未实现线上订餐、自助取餐等数字化功能，无法满足学生对便捷性的需求。</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3" name="图片 2">
            <a:extLst>
              <a:ext uri="{FF2B5EF4-FFF2-40B4-BE49-F238E27FC236}">
                <a16:creationId xmlns:a16="http://schemas.microsoft.com/office/drawing/2014/main" id="{2419C76D-A62E-BD9E-7401-D2693A8BB465}"/>
              </a:ext>
            </a:extLst>
          </p:cNvPr>
          <p:cNvPicPr>
            <a:picLocks noChangeAspect="1"/>
          </p:cNvPicPr>
          <p:nvPr/>
        </p:nvPicPr>
        <p:blipFill>
          <a:blip r:embed="rId2"/>
          <a:stretch>
            <a:fillRect/>
          </a:stretch>
        </p:blipFill>
        <p:spPr>
          <a:xfrm>
            <a:off x="7173499" y="868911"/>
            <a:ext cx="2302695" cy="2403687"/>
          </a:xfrm>
          <a:prstGeom prst="rect">
            <a:avLst/>
          </a:prstGeom>
        </p:spPr>
      </p:pic>
      <p:pic>
        <p:nvPicPr>
          <p:cNvPr id="13" name="图片 12">
            <a:extLst>
              <a:ext uri="{FF2B5EF4-FFF2-40B4-BE49-F238E27FC236}">
                <a16:creationId xmlns:a16="http://schemas.microsoft.com/office/drawing/2014/main" id="{01BC54CD-5915-CA69-58E5-729FDF4CE402}"/>
              </a:ext>
            </a:extLst>
          </p:cNvPr>
          <p:cNvPicPr>
            <a:picLocks noChangeAspect="1"/>
          </p:cNvPicPr>
          <p:nvPr/>
        </p:nvPicPr>
        <p:blipFill>
          <a:blip r:embed="rId3"/>
          <a:stretch>
            <a:fillRect/>
          </a:stretch>
        </p:blipFill>
        <p:spPr>
          <a:xfrm>
            <a:off x="7301486" y="3429000"/>
            <a:ext cx="2463057" cy="2403687"/>
          </a:xfrm>
          <a:prstGeom prst="rect">
            <a:avLst/>
          </a:prstGeom>
        </p:spPr>
      </p:pic>
    </p:spTree>
    <p:extLst>
      <p:ext uri="{BB962C8B-B14F-4D97-AF65-F5344CB8AC3E}">
        <p14:creationId xmlns:p14="http://schemas.microsoft.com/office/powerpoint/2010/main" val="3824096256"/>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14AA0-81C9-6E09-7229-D3D263062C9F}"/>
            </a:ext>
          </a:extLst>
        </p:cNvPr>
        <p:cNvGrpSpPr/>
        <p:nvPr/>
      </p:nvGrpSpPr>
      <p:grpSpPr>
        <a:xfrm>
          <a:off x="0" y="0"/>
          <a:ext cx="0" cy="0"/>
          <a:chOff x="0" y="0"/>
          <a:chExt cx="0" cy="0"/>
        </a:xfrm>
      </p:grpSpPr>
      <p:grpSp>
        <p:nvGrpSpPr>
          <p:cNvPr id="8" name="组合 7">
            <a:extLst>
              <a:ext uri="{FF2B5EF4-FFF2-40B4-BE49-F238E27FC236}">
                <a16:creationId xmlns:a16="http://schemas.microsoft.com/office/drawing/2014/main" id="{033EBF1F-9F31-EE75-683D-8CA3895D4B33}"/>
              </a:ext>
            </a:extLst>
          </p:cNvPr>
          <p:cNvGrpSpPr/>
          <p:nvPr/>
        </p:nvGrpSpPr>
        <p:grpSpPr>
          <a:xfrm>
            <a:off x="694351" y="634898"/>
            <a:ext cx="559363" cy="5588203"/>
            <a:chOff x="841513" y="634898"/>
            <a:chExt cx="559363" cy="5588203"/>
          </a:xfrm>
        </p:grpSpPr>
        <p:sp>
          <p:nvSpPr>
            <p:cNvPr id="5" name="矩形 4">
              <a:extLst>
                <a:ext uri="{FF2B5EF4-FFF2-40B4-BE49-F238E27FC236}">
                  <a16:creationId xmlns:a16="http://schemas.microsoft.com/office/drawing/2014/main" id="{2C7E4B4F-7D62-00A6-6087-84CFB897E92A}"/>
                </a:ext>
              </a:extLst>
            </p:cNvPr>
            <p:cNvSpPr/>
            <p:nvPr/>
          </p:nvSpPr>
          <p:spPr>
            <a:xfrm>
              <a:off x="841513" y="697396"/>
              <a:ext cx="311426" cy="5463208"/>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 name="矩形 5">
              <a:extLst>
                <a:ext uri="{FF2B5EF4-FFF2-40B4-BE49-F238E27FC236}">
                  <a16:creationId xmlns:a16="http://schemas.microsoft.com/office/drawing/2014/main" id="{E3284BAE-4214-B948-460B-922BB4E295D0}"/>
                </a:ext>
              </a:extLst>
            </p:cNvPr>
            <p:cNvSpPr/>
            <p:nvPr/>
          </p:nvSpPr>
          <p:spPr>
            <a:xfrm>
              <a:off x="1152939" y="697396"/>
              <a:ext cx="69032" cy="5463208"/>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 name="梯形 6">
              <a:extLst>
                <a:ext uri="{FF2B5EF4-FFF2-40B4-BE49-F238E27FC236}">
                  <a16:creationId xmlns:a16="http://schemas.microsoft.com/office/drawing/2014/main" id="{B6DA0927-1723-4509-EF99-6DE4DD44A8FC}"/>
                </a:ext>
              </a:extLst>
            </p:cNvPr>
            <p:cNvSpPr/>
            <p:nvPr/>
          </p:nvSpPr>
          <p:spPr>
            <a:xfrm rot="16200000">
              <a:off x="-1482678" y="3339547"/>
              <a:ext cx="5588203" cy="178905"/>
            </a:xfrm>
            <a:prstGeom prst="trapezoid">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grpSp>
      <p:grpSp>
        <p:nvGrpSpPr>
          <p:cNvPr id="9" name="组合 8">
            <a:extLst>
              <a:ext uri="{FF2B5EF4-FFF2-40B4-BE49-F238E27FC236}">
                <a16:creationId xmlns:a16="http://schemas.microsoft.com/office/drawing/2014/main" id="{3681FD75-7E93-539E-87B0-148A3B730C03}"/>
              </a:ext>
            </a:extLst>
          </p:cNvPr>
          <p:cNvGrpSpPr/>
          <p:nvPr/>
        </p:nvGrpSpPr>
        <p:grpSpPr>
          <a:xfrm flipH="1">
            <a:off x="10970030" y="634897"/>
            <a:ext cx="559363" cy="5588203"/>
            <a:chOff x="841513" y="634898"/>
            <a:chExt cx="559363" cy="5588203"/>
          </a:xfrm>
        </p:grpSpPr>
        <p:sp>
          <p:nvSpPr>
            <p:cNvPr id="10" name="矩形 9">
              <a:extLst>
                <a:ext uri="{FF2B5EF4-FFF2-40B4-BE49-F238E27FC236}">
                  <a16:creationId xmlns:a16="http://schemas.microsoft.com/office/drawing/2014/main" id="{F6876C6A-E02A-CDCC-7C82-4DD2BAB7F27D}"/>
                </a:ext>
              </a:extLst>
            </p:cNvPr>
            <p:cNvSpPr/>
            <p:nvPr/>
          </p:nvSpPr>
          <p:spPr>
            <a:xfrm>
              <a:off x="841513" y="697396"/>
              <a:ext cx="311426" cy="5463208"/>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1" name="矩形 10">
              <a:extLst>
                <a:ext uri="{FF2B5EF4-FFF2-40B4-BE49-F238E27FC236}">
                  <a16:creationId xmlns:a16="http://schemas.microsoft.com/office/drawing/2014/main" id="{748C244A-3660-DBE2-D390-A01F88044493}"/>
                </a:ext>
              </a:extLst>
            </p:cNvPr>
            <p:cNvSpPr/>
            <p:nvPr/>
          </p:nvSpPr>
          <p:spPr>
            <a:xfrm>
              <a:off x="1152939" y="697396"/>
              <a:ext cx="69032" cy="5463208"/>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梯形 11">
              <a:extLst>
                <a:ext uri="{FF2B5EF4-FFF2-40B4-BE49-F238E27FC236}">
                  <a16:creationId xmlns:a16="http://schemas.microsoft.com/office/drawing/2014/main" id="{5D836999-EC84-2807-721D-AAB0CACAA2FD}"/>
                </a:ext>
              </a:extLst>
            </p:cNvPr>
            <p:cNvSpPr/>
            <p:nvPr/>
          </p:nvSpPr>
          <p:spPr>
            <a:xfrm rot="16200000">
              <a:off x="-1482678" y="3339547"/>
              <a:ext cx="5588203" cy="178905"/>
            </a:xfrm>
            <a:prstGeom prst="trapezoid">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grpSp>
      <p:sp>
        <p:nvSpPr>
          <p:cNvPr id="14" name="矩形 13">
            <a:extLst>
              <a:ext uri="{FF2B5EF4-FFF2-40B4-BE49-F238E27FC236}">
                <a16:creationId xmlns:a16="http://schemas.microsoft.com/office/drawing/2014/main" id="{FFE588FA-54A7-C838-8DC9-1E43E4A4B5A6}"/>
              </a:ext>
            </a:extLst>
          </p:cNvPr>
          <p:cNvSpPr/>
          <p:nvPr/>
        </p:nvSpPr>
        <p:spPr>
          <a:xfrm>
            <a:off x="1253715" y="634896"/>
            <a:ext cx="9716315" cy="5588203"/>
          </a:xfrm>
          <a:prstGeom prst="rect">
            <a:avLst/>
          </a:prstGeom>
          <a:solidFill>
            <a:schemeClr val="bg1"/>
          </a:solidFill>
          <a:ln>
            <a:noFill/>
          </a:ln>
          <a:effectLst>
            <a:outerShdw blurRad="317500" sx="101000" sy="101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5" name="矩形 14">
            <a:extLst>
              <a:ext uri="{FF2B5EF4-FFF2-40B4-BE49-F238E27FC236}">
                <a16:creationId xmlns:a16="http://schemas.microsoft.com/office/drawing/2014/main" id="{64B06A8F-6B1B-B450-DFB4-698AE744678C}"/>
              </a:ext>
            </a:extLst>
          </p:cNvPr>
          <p:cNvSpPr/>
          <p:nvPr/>
        </p:nvSpPr>
        <p:spPr>
          <a:xfrm>
            <a:off x="5590189" y="634892"/>
            <a:ext cx="505810" cy="5588206"/>
          </a:xfrm>
          <a:prstGeom prst="rect">
            <a:avLst/>
          </a:prstGeom>
          <a:gradFill>
            <a:gsLst>
              <a:gs pos="100000">
                <a:srgbClr val="A5A7A9"/>
              </a:gs>
              <a:gs pos="0">
                <a:srgbClr val="C0C2C5"/>
              </a:gs>
              <a:gs pos="100000">
                <a:srgbClr val="898B8D"/>
              </a:gs>
              <a:gs pos="0">
                <a:schemeClr val="bg1"/>
              </a:gs>
              <a:gs pos="100000">
                <a:srgbClr val="1C1D1D"/>
              </a:gs>
              <a:gs pos="100000">
                <a:schemeClr val="tx1"/>
              </a:gs>
              <a:gs pos="100000">
                <a:schemeClr val="tx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6" name="矩形 15">
            <a:extLst>
              <a:ext uri="{FF2B5EF4-FFF2-40B4-BE49-F238E27FC236}">
                <a16:creationId xmlns:a16="http://schemas.microsoft.com/office/drawing/2014/main" id="{1A3C616F-C23C-5ACB-3060-1A8322BB2E6B}"/>
              </a:ext>
            </a:extLst>
          </p:cNvPr>
          <p:cNvSpPr/>
          <p:nvPr/>
        </p:nvSpPr>
        <p:spPr>
          <a:xfrm flipH="1">
            <a:off x="6096000" y="634897"/>
            <a:ext cx="537556" cy="5588206"/>
          </a:xfrm>
          <a:prstGeom prst="rect">
            <a:avLst/>
          </a:prstGeom>
          <a:gradFill>
            <a:gsLst>
              <a:gs pos="100000">
                <a:srgbClr val="A5A7A9"/>
              </a:gs>
              <a:gs pos="0">
                <a:srgbClr val="C0C2C5"/>
              </a:gs>
              <a:gs pos="100000">
                <a:srgbClr val="898B8D"/>
              </a:gs>
              <a:gs pos="0">
                <a:schemeClr val="bg1"/>
              </a:gs>
              <a:gs pos="100000">
                <a:srgbClr val="1C1D1D"/>
              </a:gs>
              <a:gs pos="100000">
                <a:schemeClr val="tx1"/>
              </a:gs>
              <a:gs pos="100000">
                <a:schemeClr val="tx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8" name="文本框 17">
            <a:extLst>
              <a:ext uri="{FF2B5EF4-FFF2-40B4-BE49-F238E27FC236}">
                <a16:creationId xmlns:a16="http://schemas.microsoft.com/office/drawing/2014/main" id="{8BFFECBE-A836-65BF-22DF-CC7A0A9A6051}"/>
              </a:ext>
            </a:extLst>
          </p:cNvPr>
          <p:cNvSpPr txBox="1"/>
          <p:nvPr/>
        </p:nvSpPr>
        <p:spPr>
          <a:xfrm>
            <a:off x="7228238" y="4158093"/>
            <a:ext cx="294938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hlinkClick r:id="rId2" action="ppaction://hlinkfile"/>
              </a:rPr>
              <a:t>C:\Users\96404\Desktop\</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hlinkClick r:id="rId2" action="ppaction://hlinkfile"/>
              </a:rPr>
              <a:t>调查问卷汇总</a:t>
            </a: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hlinkClick r:id="rId2" action="ppaction://hlinkfile"/>
              </a:rPr>
              <a:t>.docx</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4" name="图片 3">
            <a:extLst>
              <a:ext uri="{FF2B5EF4-FFF2-40B4-BE49-F238E27FC236}">
                <a16:creationId xmlns:a16="http://schemas.microsoft.com/office/drawing/2014/main" id="{AA6D7D60-687A-B139-C0E8-FB03698D83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8410" y="2331639"/>
            <a:ext cx="1849568" cy="1386634"/>
          </a:xfrm>
          <a:prstGeom prst="rect">
            <a:avLst/>
          </a:prstGeom>
        </p:spPr>
      </p:pic>
      <p:pic>
        <p:nvPicPr>
          <p:cNvPr id="20" name="图片 19">
            <a:extLst>
              <a:ext uri="{FF2B5EF4-FFF2-40B4-BE49-F238E27FC236}">
                <a16:creationId xmlns:a16="http://schemas.microsoft.com/office/drawing/2014/main" id="{BA291918-F64B-8016-14C0-4E2CEA41B4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01139" y="1034383"/>
            <a:ext cx="1689049" cy="1266292"/>
          </a:xfrm>
          <a:prstGeom prst="rect">
            <a:avLst/>
          </a:prstGeom>
        </p:spPr>
      </p:pic>
      <p:pic>
        <p:nvPicPr>
          <p:cNvPr id="22" name="图片 21">
            <a:extLst>
              <a:ext uri="{FF2B5EF4-FFF2-40B4-BE49-F238E27FC236}">
                <a16:creationId xmlns:a16="http://schemas.microsoft.com/office/drawing/2014/main" id="{416659C2-92AF-0A19-1B89-8D9806D27C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12972" y="3043348"/>
            <a:ext cx="1545029" cy="1158319"/>
          </a:xfrm>
          <a:prstGeom prst="rect">
            <a:avLst/>
          </a:prstGeom>
        </p:spPr>
      </p:pic>
      <p:pic>
        <p:nvPicPr>
          <p:cNvPr id="24" name="图片 23">
            <a:extLst>
              <a:ext uri="{FF2B5EF4-FFF2-40B4-BE49-F238E27FC236}">
                <a16:creationId xmlns:a16="http://schemas.microsoft.com/office/drawing/2014/main" id="{CB59B191-283B-C52E-2867-908A87FDD84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47393" y="2832846"/>
            <a:ext cx="2106590" cy="1579325"/>
          </a:xfrm>
          <a:prstGeom prst="rect">
            <a:avLst/>
          </a:prstGeom>
        </p:spPr>
      </p:pic>
      <p:pic>
        <p:nvPicPr>
          <p:cNvPr id="26" name="图片 25">
            <a:extLst>
              <a:ext uri="{FF2B5EF4-FFF2-40B4-BE49-F238E27FC236}">
                <a16:creationId xmlns:a16="http://schemas.microsoft.com/office/drawing/2014/main" id="{0FE170C0-9DC9-6553-3775-9B61C18191A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702932" y="945707"/>
            <a:ext cx="1729541" cy="1296648"/>
          </a:xfrm>
          <a:prstGeom prst="rect">
            <a:avLst/>
          </a:prstGeom>
        </p:spPr>
      </p:pic>
      <p:pic>
        <p:nvPicPr>
          <p:cNvPr id="28" name="图片 27">
            <a:extLst>
              <a:ext uri="{FF2B5EF4-FFF2-40B4-BE49-F238E27FC236}">
                <a16:creationId xmlns:a16="http://schemas.microsoft.com/office/drawing/2014/main" id="{2D4C4890-20F6-A797-9C71-710B7FE4204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78912" y="4535625"/>
            <a:ext cx="1895280" cy="1420904"/>
          </a:xfrm>
          <a:prstGeom prst="rect">
            <a:avLst/>
          </a:prstGeom>
        </p:spPr>
      </p:pic>
      <p:pic>
        <p:nvPicPr>
          <p:cNvPr id="30" name="图片 29">
            <a:extLst>
              <a:ext uri="{FF2B5EF4-FFF2-40B4-BE49-F238E27FC236}">
                <a16:creationId xmlns:a16="http://schemas.microsoft.com/office/drawing/2014/main" id="{89637AD9-5726-FCF6-864A-D0B098F02C9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524488" y="1034383"/>
            <a:ext cx="1557388" cy="1167584"/>
          </a:xfrm>
          <a:prstGeom prst="rect">
            <a:avLst/>
          </a:prstGeom>
        </p:spPr>
      </p:pic>
      <p:sp>
        <p:nvSpPr>
          <p:cNvPr id="2" name="文本框 1">
            <a:extLst>
              <a:ext uri="{FF2B5EF4-FFF2-40B4-BE49-F238E27FC236}">
                <a16:creationId xmlns:a16="http://schemas.microsoft.com/office/drawing/2014/main" id="{422DC461-A31A-951A-55B0-84F12AB4ADEC}"/>
              </a:ext>
            </a:extLst>
          </p:cNvPr>
          <p:cNvSpPr txBox="1"/>
          <p:nvPr/>
        </p:nvSpPr>
        <p:spPr>
          <a:xfrm>
            <a:off x="6633556" y="4995512"/>
            <a:ext cx="3703977" cy="646331"/>
          </a:xfrm>
          <a:prstGeom prst="rect">
            <a:avLst/>
          </a:prstGeom>
          <a:noFill/>
        </p:spPr>
        <p:txBody>
          <a:bodyPr wrap="square" rtlCol="0">
            <a:spAutoFit/>
          </a:bodyPr>
          <a:lstStyle/>
          <a:p>
            <a:r>
              <a:rPr lang="zh-CN" altLang="en-US" dirty="0"/>
              <a:t>走访调查食堂管理人员、员工、学生、教师等四类人群</a:t>
            </a:r>
          </a:p>
        </p:txBody>
      </p:sp>
    </p:spTree>
    <p:extLst>
      <p:ext uri="{BB962C8B-B14F-4D97-AF65-F5344CB8AC3E}">
        <p14:creationId xmlns:p14="http://schemas.microsoft.com/office/powerpoint/2010/main" val="3020372752"/>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EE63AD6-4B29-9271-75E8-C5843E68C14C}"/>
              </a:ext>
            </a:extLst>
          </p:cNvPr>
          <p:cNvSpPr txBox="1"/>
          <p:nvPr/>
        </p:nvSpPr>
        <p:spPr>
          <a:xfrm>
            <a:off x="385011" y="117693"/>
            <a:ext cx="11444437" cy="6740307"/>
          </a:xfrm>
          <a:prstGeom prst="rect">
            <a:avLst/>
          </a:prstGeom>
          <a:noFill/>
        </p:spPr>
        <p:txBody>
          <a:bodyPr wrap="square" rtlCol="0">
            <a:spAutoFit/>
          </a:bodyPr>
          <a:lstStyle/>
          <a:p>
            <a:r>
              <a:rPr lang="zh-CN" altLang="en-US" sz="1600"/>
              <a:t>中央财经大学子衿食堂走访调研报告</a:t>
            </a:r>
          </a:p>
          <a:p>
            <a:endParaRPr lang="zh-CN" altLang="en-US" sz="1600"/>
          </a:p>
          <a:p>
            <a:r>
              <a:rPr lang="zh-CN" altLang="en-US" sz="1600"/>
              <a:t>在校园生活里，食堂与师生的日常体验紧密相连。为给大家打造更优质的就餐环境，我们深入走访了子衿食堂，与师生、食堂职工及管理人员进行了交流。</a:t>
            </a:r>
          </a:p>
          <a:p>
            <a:endParaRPr lang="zh-CN" altLang="en-US" sz="1600"/>
          </a:p>
          <a:p>
            <a:r>
              <a:rPr lang="zh-CN" altLang="en-US" sz="1600"/>
              <a:t>中央财经大学会计学院的李同学无奈地表示：“每到饭点，食堂里人特别多。在一层买份土豆烧牛肉（</a:t>
            </a:r>
            <a:r>
              <a:rPr lang="en-US" altLang="zh-CN" sz="1600"/>
              <a:t>12</a:t>
            </a:r>
            <a:r>
              <a:rPr lang="zh-CN" altLang="en-US" sz="1600"/>
              <a:t>元）、清炒时蔬（</a:t>
            </a:r>
            <a:r>
              <a:rPr lang="en-US" altLang="zh-CN" sz="1600"/>
              <a:t>5</a:t>
            </a:r>
            <a:r>
              <a:rPr lang="zh-CN" altLang="en-US" sz="1600"/>
              <a:t>元）再加上米饭（</a:t>
            </a:r>
            <a:r>
              <a:rPr lang="en-US" altLang="zh-CN" sz="1600"/>
              <a:t>1</a:t>
            </a:r>
            <a:r>
              <a:rPr lang="zh-CN" altLang="en-US" sz="1600"/>
              <a:t>元）的套餐，排队起码得</a:t>
            </a:r>
            <a:r>
              <a:rPr lang="en-US" altLang="zh-CN" sz="1600"/>
              <a:t>20</a:t>
            </a:r>
            <a:r>
              <a:rPr lang="zh-CN" altLang="en-US" sz="1600"/>
              <a:t>分钟。要是去二层点菜，等菜时间也很长。三层虽然环境好点，但找座位太难了，有时候找十几分钟都找不到，只能打包回宿舍吃，真的很影响心情。”</a:t>
            </a:r>
          </a:p>
          <a:p>
            <a:endParaRPr lang="zh-CN" altLang="en-US" sz="1600"/>
          </a:p>
          <a:p>
            <a:r>
              <a:rPr lang="zh-CN" altLang="en-US" sz="1600"/>
              <a:t>法学院的赵同学也对食堂的价格和品质提出看法：“三层有些菜品价格偏高，性价比不高。我上次点了一份辣子鸡（假设在私厨区售卖），要</a:t>
            </a:r>
            <a:r>
              <a:rPr lang="en-US" altLang="zh-CN" sz="1600"/>
              <a:t>48</a:t>
            </a:r>
            <a:r>
              <a:rPr lang="zh-CN" altLang="en-US" sz="1600"/>
              <a:t>元，可分量却不多。相比之下，基本伙的主食价格实惠，像花卷</a:t>
            </a:r>
            <a:r>
              <a:rPr lang="en-US" altLang="zh-CN" sz="1600"/>
              <a:t>0.4</a:t>
            </a:r>
            <a:r>
              <a:rPr lang="zh-CN" altLang="en-US" sz="1600"/>
              <a:t>元</a:t>
            </a:r>
            <a:r>
              <a:rPr lang="en-US" altLang="zh-CN" sz="1600"/>
              <a:t>/</a:t>
            </a:r>
            <a:r>
              <a:rPr lang="zh-CN" altLang="en-US" sz="1600"/>
              <a:t>个、小米粥</a:t>
            </a:r>
            <a:r>
              <a:rPr lang="en-US" altLang="zh-CN" sz="1600"/>
              <a:t>0.4</a:t>
            </a:r>
            <a:r>
              <a:rPr lang="zh-CN" altLang="en-US" sz="1600"/>
              <a:t>元</a:t>
            </a:r>
            <a:r>
              <a:rPr lang="en-US" altLang="zh-CN" sz="1600"/>
              <a:t>/</a:t>
            </a:r>
            <a:r>
              <a:rPr lang="zh-CN" altLang="en-US" sz="1600"/>
              <a:t>份，我经常吃。不过，部分低价菜的质量不太好，比如一层的卤蛋（</a:t>
            </a:r>
            <a:r>
              <a:rPr lang="en-US" altLang="zh-CN" sz="1600"/>
              <a:t>1</a:t>
            </a:r>
            <a:r>
              <a:rPr lang="zh-CN" altLang="en-US" sz="1600"/>
              <a:t>元）吃起来口感干硬，咸菜（</a:t>
            </a:r>
            <a:r>
              <a:rPr lang="en-US" altLang="zh-CN" sz="1600"/>
              <a:t>0.5</a:t>
            </a:r>
            <a:r>
              <a:rPr lang="zh-CN" altLang="en-US" sz="1600"/>
              <a:t>元）还特别咸。还有些饮料比校外超市卖得贵，感觉不太合理。”</a:t>
            </a:r>
          </a:p>
          <a:p>
            <a:endParaRPr lang="zh-CN" altLang="en-US" sz="1600"/>
          </a:p>
          <a:p>
            <a:r>
              <a:rPr lang="zh-CN" altLang="en-US" sz="1600"/>
              <a:t>统计与数学学院的刘书茂老师上完高数课后来到食堂，他说道：“上完课挺累的，就想着赶紧来食堂吃顿饭，结果一看这人流量，找个座位都困难。从数学专业角度看，完全可以利用数学方法来优化食堂运营。可以收集食堂不同时间段的人流量、菜品销售数据、座位使用情况等信息，构建数学模型进行分析。通过模型精准预测高峰时段，据此合理安排工作人员和出餐时间，还能更好地调配座位资源，提升食堂的整体运营效率。”</a:t>
            </a:r>
          </a:p>
          <a:p>
            <a:endParaRPr lang="zh-CN" altLang="en-US" sz="1600"/>
          </a:p>
          <a:p>
            <a:r>
              <a:rPr lang="zh-CN" altLang="en-US" sz="1600"/>
              <a:t>与食堂工作人员沟通时，在食堂工作多年的张姨感慨：“我们每天在这儿忙得不可开交，一到饭点，点餐的同学太多了，全靠我们人工记，特别容易出错。有些同学有特殊饮食要求，像食物过敏不能吃某些东西，我们没有专门的记录平台，有时就容易疏忽，压力真的很大。”</a:t>
            </a:r>
          </a:p>
          <a:p>
            <a:endParaRPr lang="zh-CN" altLang="en-US" sz="1600"/>
          </a:p>
          <a:p>
            <a:r>
              <a:rPr lang="zh-CN" altLang="en-US" sz="1600"/>
              <a:t>食堂管理人员刘主管提到运营管理中的难题：“现在食堂的数据管理比较混乱，财务、营销和菜品销售数据都是分开记录的，没有统一的数字化系统。每天人工统计这些数据，既费时间又容易出错。这就导致我们没办法及时准确分析数据，也不能根据菜品销售情况调整采购计划，经常出现食材浪费或供应不足的情况。另外，在推出新菜品或调整旧菜品时，因为缺乏数字化的顾客反馈渠道，只能凭经验，效果不太理想。”</a:t>
            </a:r>
            <a:endParaRPr lang="zh-CN" altLang="en-US" sz="1600" dirty="0"/>
          </a:p>
        </p:txBody>
      </p:sp>
    </p:spTree>
    <p:extLst>
      <p:ext uri="{BB962C8B-B14F-4D97-AF65-F5344CB8AC3E}">
        <p14:creationId xmlns:p14="http://schemas.microsoft.com/office/powerpoint/2010/main" val="249251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CA50B-FD28-7336-2668-8DC3B5A1017F}"/>
            </a:ext>
          </a:extLst>
        </p:cNvPr>
        <p:cNvGrpSpPr/>
        <p:nvPr/>
      </p:nvGrpSpPr>
      <p:grpSpPr>
        <a:xfrm>
          <a:off x="0" y="0"/>
          <a:ext cx="0" cy="0"/>
          <a:chOff x="0" y="0"/>
          <a:chExt cx="0" cy="0"/>
        </a:xfrm>
      </p:grpSpPr>
      <p:grpSp>
        <p:nvGrpSpPr>
          <p:cNvPr id="8" name="组合 7">
            <a:extLst>
              <a:ext uri="{FF2B5EF4-FFF2-40B4-BE49-F238E27FC236}">
                <a16:creationId xmlns:a16="http://schemas.microsoft.com/office/drawing/2014/main" id="{2666E2A5-1885-8B36-6382-C181677DC94C}"/>
              </a:ext>
            </a:extLst>
          </p:cNvPr>
          <p:cNvGrpSpPr/>
          <p:nvPr/>
        </p:nvGrpSpPr>
        <p:grpSpPr>
          <a:xfrm>
            <a:off x="694351" y="634898"/>
            <a:ext cx="559363" cy="5588203"/>
            <a:chOff x="841513" y="634898"/>
            <a:chExt cx="559363" cy="5588203"/>
          </a:xfrm>
        </p:grpSpPr>
        <p:sp>
          <p:nvSpPr>
            <p:cNvPr id="5" name="矩形 4">
              <a:extLst>
                <a:ext uri="{FF2B5EF4-FFF2-40B4-BE49-F238E27FC236}">
                  <a16:creationId xmlns:a16="http://schemas.microsoft.com/office/drawing/2014/main" id="{FF3FB586-C432-5186-EF30-3A09674BECD7}"/>
                </a:ext>
              </a:extLst>
            </p:cNvPr>
            <p:cNvSpPr/>
            <p:nvPr/>
          </p:nvSpPr>
          <p:spPr>
            <a:xfrm>
              <a:off x="841513" y="697396"/>
              <a:ext cx="311426" cy="5463208"/>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 name="矩形 5">
              <a:extLst>
                <a:ext uri="{FF2B5EF4-FFF2-40B4-BE49-F238E27FC236}">
                  <a16:creationId xmlns:a16="http://schemas.microsoft.com/office/drawing/2014/main" id="{14403750-3AE3-E213-17E7-12A8675206B0}"/>
                </a:ext>
              </a:extLst>
            </p:cNvPr>
            <p:cNvSpPr/>
            <p:nvPr/>
          </p:nvSpPr>
          <p:spPr>
            <a:xfrm>
              <a:off x="1152939" y="697396"/>
              <a:ext cx="69032" cy="5463208"/>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 name="梯形 6">
              <a:extLst>
                <a:ext uri="{FF2B5EF4-FFF2-40B4-BE49-F238E27FC236}">
                  <a16:creationId xmlns:a16="http://schemas.microsoft.com/office/drawing/2014/main" id="{8EB6EEBE-097C-5FEA-E5E8-44DA3D181640}"/>
                </a:ext>
              </a:extLst>
            </p:cNvPr>
            <p:cNvSpPr/>
            <p:nvPr/>
          </p:nvSpPr>
          <p:spPr>
            <a:xfrm rot="16200000">
              <a:off x="-1482678" y="3339547"/>
              <a:ext cx="5588203" cy="178905"/>
            </a:xfrm>
            <a:prstGeom prst="trapezoid">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grpSp>
      <p:grpSp>
        <p:nvGrpSpPr>
          <p:cNvPr id="9" name="组合 8">
            <a:extLst>
              <a:ext uri="{FF2B5EF4-FFF2-40B4-BE49-F238E27FC236}">
                <a16:creationId xmlns:a16="http://schemas.microsoft.com/office/drawing/2014/main" id="{E7230341-38A6-384B-D2AC-14E729521FF1}"/>
              </a:ext>
            </a:extLst>
          </p:cNvPr>
          <p:cNvGrpSpPr/>
          <p:nvPr/>
        </p:nvGrpSpPr>
        <p:grpSpPr>
          <a:xfrm flipH="1">
            <a:off x="10970030" y="634897"/>
            <a:ext cx="559363" cy="5588203"/>
            <a:chOff x="841513" y="634898"/>
            <a:chExt cx="559363" cy="5588203"/>
          </a:xfrm>
        </p:grpSpPr>
        <p:sp>
          <p:nvSpPr>
            <p:cNvPr id="10" name="矩形 9">
              <a:extLst>
                <a:ext uri="{FF2B5EF4-FFF2-40B4-BE49-F238E27FC236}">
                  <a16:creationId xmlns:a16="http://schemas.microsoft.com/office/drawing/2014/main" id="{F809FD85-DC01-7D47-BA48-1DC796BA7CE4}"/>
                </a:ext>
              </a:extLst>
            </p:cNvPr>
            <p:cNvSpPr/>
            <p:nvPr/>
          </p:nvSpPr>
          <p:spPr>
            <a:xfrm>
              <a:off x="841513" y="697396"/>
              <a:ext cx="311426" cy="5463208"/>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1" name="矩形 10">
              <a:extLst>
                <a:ext uri="{FF2B5EF4-FFF2-40B4-BE49-F238E27FC236}">
                  <a16:creationId xmlns:a16="http://schemas.microsoft.com/office/drawing/2014/main" id="{5F97C470-37FD-6AFF-891E-80DC60DD9C1E}"/>
                </a:ext>
              </a:extLst>
            </p:cNvPr>
            <p:cNvSpPr/>
            <p:nvPr/>
          </p:nvSpPr>
          <p:spPr>
            <a:xfrm>
              <a:off x="1152939" y="697396"/>
              <a:ext cx="69032" cy="5463208"/>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梯形 11">
              <a:extLst>
                <a:ext uri="{FF2B5EF4-FFF2-40B4-BE49-F238E27FC236}">
                  <a16:creationId xmlns:a16="http://schemas.microsoft.com/office/drawing/2014/main" id="{261D568C-E09D-D85A-BC50-CB6453C2FE9E}"/>
                </a:ext>
              </a:extLst>
            </p:cNvPr>
            <p:cNvSpPr/>
            <p:nvPr/>
          </p:nvSpPr>
          <p:spPr>
            <a:xfrm rot="16200000">
              <a:off x="-1482678" y="3339547"/>
              <a:ext cx="5588203" cy="178905"/>
            </a:xfrm>
            <a:prstGeom prst="trapezoid">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grpSp>
      <p:sp>
        <p:nvSpPr>
          <p:cNvPr id="14" name="矩形 13">
            <a:extLst>
              <a:ext uri="{FF2B5EF4-FFF2-40B4-BE49-F238E27FC236}">
                <a16:creationId xmlns:a16="http://schemas.microsoft.com/office/drawing/2014/main" id="{43F0653A-1269-2451-E226-062FDA333328}"/>
              </a:ext>
            </a:extLst>
          </p:cNvPr>
          <p:cNvSpPr/>
          <p:nvPr/>
        </p:nvSpPr>
        <p:spPr>
          <a:xfrm>
            <a:off x="1253715" y="634896"/>
            <a:ext cx="9716315" cy="5588203"/>
          </a:xfrm>
          <a:prstGeom prst="rect">
            <a:avLst/>
          </a:prstGeom>
          <a:solidFill>
            <a:schemeClr val="bg1"/>
          </a:solidFill>
          <a:ln>
            <a:noFill/>
          </a:ln>
          <a:effectLst>
            <a:outerShdw blurRad="317500" sx="101000" sy="101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5" name="矩形 14">
            <a:extLst>
              <a:ext uri="{FF2B5EF4-FFF2-40B4-BE49-F238E27FC236}">
                <a16:creationId xmlns:a16="http://schemas.microsoft.com/office/drawing/2014/main" id="{8311FE13-A79B-2D9E-6A5E-4D57BE1FA26E}"/>
              </a:ext>
            </a:extLst>
          </p:cNvPr>
          <p:cNvSpPr/>
          <p:nvPr/>
        </p:nvSpPr>
        <p:spPr>
          <a:xfrm>
            <a:off x="5590189" y="634892"/>
            <a:ext cx="505810" cy="5588206"/>
          </a:xfrm>
          <a:prstGeom prst="rect">
            <a:avLst/>
          </a:prstGeom>
          <a:gradFill>
            <a:gsLst>
              <a:gs pos="100000">
                <a:srgbClr val="A5A7A9"/>
              </a:gs>
              <a:gs pos="0">
                <a:srgbClr val="C0C2C5"/>
              </a:gs>
              <a:gs pos="100000">
                <a:srgbClr val="898B8D"/>
              </a:gs>
              <a:gs pos="0">
                <a:schemeClr val="bg1"/>
              </a:gs>
              <a:gs pos="100000">
                <a:srgbClr val="1C1D1D"/>
              </a:gs>
              <a:gs pos="100000">
                <a:schemeClr val="tx1"/>
              </a:gs>
              <a:gs pos="100000">
                <a:schemeClr val="tx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6" name="矩形 15">
            <a:extLst>
              <a:ext uri="{FF2B5EF4-FFF2-40B4-BE49-F238E27FC236}">
                <a16:creationId xmlns:a16="http://schemas.microsoft.com/office/drawing/2014/main" id="{44CDCDB1-FAE2-E0ED-45B2-35C1FD97DCF6}"/>
              </a:ext>
            </a:extLst>
          </p:cNvPr>
          <p:cNvSpPr/>
          <p:nvPr/>
        </p:nvSpPr>
        <p:spPr>
          <a:xfrm flipH="1">
            <a:off x="6096000" y="634897"/>
            <a:ext cx="537556" cy="5588206"/>
          </a:xfrm>
          <a:prstGeom prst="rect">
            <a:avLst/>
          </a:prstGeom>
          <a:gradFill>
            <a:gsLst>
              <a:gs pos="100000">
                <a:srgbClr val="A5A7A9"/>
              </a:gs>
              <a:gs pos="0">
                <a:srgbClr val="C0C2C5"/>
              </a:gs>
              <a:gs pos="100000">
                <a:srgbClr val="898B8D"/>
              </a:gs>
              <a:gs pos="0">
                <a:schemeClr val="bg1"/>
              </a:gs>
              <a:gs pos="100000">
                <a:srgbClr val="1C1D1D"/>
              </a:gs>
              <a:gs pos="100000">
                <a:schemeClr val="tx1"/>
              </a:gs>
              <a:gs pos="100000">
                <a:schemeClr val="tx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 name="文本框 2">
            <a:extLst>
              <a:ext uri="{FF2B5EF4-FFF2-40B4-BE49-F238E27FC236}">
                <a16:creationId xmlns:a16="http://schemas.microsoft.com/office/drawing/2014/main" id="{45E88254-B960-9B9B-B580-B475A32C2A31}"/>
              </a:ext>
            </a:extLst>
          </p:cNvPr>
          <p:cNvSpPr txBox="1"/>
          <p:nvPr/>
        </p:nvSpPr>
        <p:spPr>
          <a:xfrm>
            <a:off x="1432620" y="866774"/>
            <a:ext cx="4203953" cy="5016758"/>
          </a:xfrm>
          <a:prstGeom prst="rect">
            <a:avLst/>
          </a:prstGeom>
          <a:noFill/>
        </p:spPr>
        <p:txBody>
          <a:bodyPr wrap="square" rtlCol="0">
            <a:spAutoFit/>
          </a:bodyPr>
          <a:lstStyle/>
          <a:p>
            <a:r>
              <a:rPr lang="zh-CN" altLang="en-US" sz="1600" dirty="0"/>
              <a:t>在高校餐饮场景中，高峰期平均排队时长超过 </a:t>
            </a:r>
            <a:r>
              <a:rPr lang="en-US" altLang="zh-CN" sz="1600" dirty="0"/>
              <a:t>22 </a:t>
            </a:r>
            <a:r>
              <a:rPr lang="zh-CN" altLang="en-US" sz="1600" dirty="0"/>
              <a:t>分钟（据 </a:t>
            </a:r>
            <a:r>
              <a:rPr lang="en-US" altLang="zh-CN" sz="1600" dirty="0"/>
              <a:t>2023 </a:t>
            </a:r>
            <a:r>
              <a:rPr lang="zh-CN" altLang="en-US" sz="1600" dirty="0"/>
              <a:t>年</a:t>
            </a:r>
            <a:r>
              <a:rPr lang="en-US" altLang="zh-CN" sz="1600" dirty="0"/>
              <a:t>《</a:t>
            </a:r>
            <a:r>
              <a:rPr lang="zh-CN" altLang="en-US" sz="1600" dirty="0"/>
              <a:t>中国高校餐饮白皮书</a:t>
            </a:r>
            <a:r>
              <a:rPr lang="en-US" altLang="zh-CN" sz="1600" dirty="0"/>
              <a:t>》</a:t>
            </a:r>
            <a:r>
              <a:rPr lang="zh-CN" altLang="en-US" sz="1600" dirty="0"/>
              <a:t>抽样数据），传统人工服务模式存在多重系统瓶颈：</a:t>
            </a:r>
            <a:endParaRPr lang="en-US" altLang="zh-CN" sz="1600" dirty="0"/>
          </a:p>
          <a:p>
            <a:r>
              <a:rPr lang="zh-CN" altLang="en-US" sz="1600" dirty="0"/>
              <a:t>流程断点：窗口取餐、人工结算、自主寻座环节割裂，产生 </a:t>
            </a:r>
            <a:r>
              <a:rPr lang="en-US" altLang="zh-CN" sz="1600" dirty="0"/>
              <a:t>30%</a:t>
            </a:r>
            <a:r>
              <a:rPr lang="zh-CN" altLang="en-US" sz="1600" dirty="0"/>
              <a:t>以上无效移动（清华大学饮食中心行为动线研究）；</a:t>
            </a:r>
            <a:endParaRPr lang="en-US" altLang="zh-CN" sz="1600" dirty="0"/>
          </a:p>
          <a:p>
            <a:r>
              <a:rPr lang="zh-CN" altLang="en-US" sz="1600" dirty="0"/>
              <a:t>响应失灵：</a:t>
            </a:r>
            <a:r>
              <a:rPr lang="en-US" altLang="zh-CN" sz="1600" dirty="0"/>
              <a:t>68%</a:t>
            </a:r>
            <a:r>
              <a:rPr lang="zh-CN" altLang="en-US" sz="1600" dirty="0"/>
              <a:t>的学生遭遇过叫号系统无应答（</a:t>
            </a:r>
            <a:r>
              <a:rPr lang="en-US" altLang="zh-CN" sz="1600" dirty="0"/>
              <a:t>2022 </a:t>
            </a:r>
            <a:r>
              <a:rPr lang="zh-CN" altLang="en-US" sz="1600" dirty="0"/>
              <a:t>年美团校园餐饮调研），餐品完成状态缺乏可视化追踪；</a:t>
            </a:r>
            <a:endParaRPr lang="en-US" altLang="zh-CN" sz="1600" dirty="0"/>
          </a:p>
          <a:p>
            <a:r>
              <a:rPr lang="zh-CN" altLang="en-US" sz="1600" dirty="0"/>
              <a:t>空间错配：午间</a:t>
            </a:r>
            <a:r>
              <a:rPr lang="en-US" altLang="zh-CN" sz="1600" dirty="0"/>
              <a:t>12:00-12:45 </a:t>
            </a:r>
            <a:r>
              <a:rPr lang="zh-CN" altLang="en-US" sz="1600" dirty="0"/>
              <a:t>时段座位占用率超 </a:t>
            </a:r>
            <a:r>
              <a:rPr lang="en-US" altLang="zh-CN" sz="1600" dirty="0"/>
              <a:t>160%</a:t>
            </a:r>
            <a:r>
              <a:rPr lang="zh-CN" altLang="en-US" sz="1600" dirty="0"/>
              <a:t>（北京大学食堂热力图监测），但 </a:t>
            </a:r>
            <a:r>
              <a:rPr lang="en-US" altLang="zh-CN" sz="1600" dirty="0"/>
              <a:t>30%</a:t>
            </a:r>
            <a:r>
              <a:rPr lang="zh-CN" altLang="en-US" sz="1600" dirty="0"/>
              <a:t>座位因桌面残留餐盘无法循环利用</a:t>
            </a:r>
            <a:endParaRPr lang="en-US" altLang="zh-CN" sz="1600" dirty="0"/>
          </a:p>
          <a:p>
            <a:r>
              <a:rPr lang="zh-CN" altLang="en-US" sz="1600" dirty="0"/>
              <a:t>当前部分高校试点的改良措施呈现碎片化特征；智能叫号系统未与座位管理系统打通，导致「取餐</a:t>
            </a:r>
            <a:r>
              <a:rPr lang="en-US" altLang="zh-CN" sz="1600" dirty="0"/>
              <a:t>-</a:t>
            </a:r>
            <a:r>
              <a:rPr lang="zh-CN" altLang="en-US" sz="1600" dirty="0"/>
              <a:t>寻座」二次排队</a:t>
            </a:r>
            <a:r>
              <a:rPr lang="en-US" altLang="zh-CN" sz="1600" dirty="0"/>
              <a:t>;</a:t>
            </a:r>
            <a:r>
              <a:rPr lang="zh-CN" altLang="en-US" sz="1600" dirty="0"/>
              <a:t>电子屏菜单仅实现单向信息传递，缺乏动态供需调节能力（如某 </a:t>
            </a:r>
            <a:r>
              <a:rPr lang="en-US" altLang="zh-CN" sz="1600" dirty="0"/>
              <a:t>211 </a:t>
            </a:r>
            <a:r>
              <a:rPr lang="zh-CN" altLang="en-US" sz="1600" dirty="0"/>
              <a:t>院校改造后出餐效率仅提升 </a:t>
            </a:r>
            <a:r>
              <a:rPr lang="en-US" altLang="zh-CN" sz="1600" dirty="0"/>
              <a:t>12%</a:t>
            </a:r>
            <a:r>
              <a:rPr lang="zh-CN" altLang="en-US" sz="1600" dirty="0"/>
              <a:t>）硬件升级未匹配管理颗粒度，餐线补货仍依赖人工经验判断</a:t>
            </a:r>
          </a:p>
        </p:txBody>
      </p:sp>
      <p:pic>
        <p:nvPicPr>
          <p:cNvPr id="18" name="图片 17">
            <a:extLst>
              <a:ext uri="{FF2B5EF4-FFF2-40B4-BE49-F238E27FC236}">
                <a16:creationId xmlns:a16="http://schemas.microsoft.com/office/drawing/2014/main" id="{DEAD70D4-E23F-06B6-AF0A-54E4A904C235}"/>
              </a:ext>
            </a:extLst>
          </p:cNvPr>
          <p:cNvPicPr>
            <a:picLocks noChangeAspect="1"/>
          </p:cNvPicPr>
          <p:nvPr/>
        </p:nvPicPr>
        <p:blipFill>
          <a:blip r:embed="rId2"/>
          <a:stretch>
            <a:fillRect/>
          </a:stretch>
        </p:blipFill>
        <p:spPr>
          <a:xfrm>
            <a:off x="7101718" y="866774"/>
            <a:ext cx="2847975" cy="2528202"/>
          </a:xfrm>
          <a:prstGeom prst="rect">
            <a:avLst/>
          </a:prstGeom>
        </p:spPr>
      </p:pic>
      <p:pic>
        <p:nvPicPr>
          <p:cNvPr id="20" name="图片 19">
            <a:extLst>
              <a:ext uri="{FF2B5EF4-FFF2-40B4-BE49-F238E27FC236}">
                <a16:creationId xmlns:a16="http://schemas.microsoft.com/office/drawing/2014/main" id="{7246601C-DEDA-B20F-9DDD-EE1829DD6D32}"/>
              </a:ext>
            </a:extLst>
          </p:cNvPr>
          <p:cNvPicPr>
            <a:picLocks noChangeAspect="1"/>
          </p:cNvPicPr>
          <p:nvPr/>
        </p:nvPicPr>
        <p:blipFill>
          <a:blip r:embed="rId3"/>
          <a:stretch>
            <a:fillRect/>
          </a:stretch>
        </p:blipFill>
        <p:spPr>
          <a:xfrm>
            <a:off x="7116336" y="3424804"/>
            <a:ext cx="2799422" cy="2735799"/>
          </a:xfrm>
          <a:prstGeom prst="rect">
            <a:avLst/>
          </a:prstGeom>
        </p:spPr>
      </p:pic>
    </p:spTree>
    <p:extLst>
      <p:ext uri="{BB962C8B-B14F-4D97-AF65-F5344CB8AC3E}">
        <p14:creationId xmlns:p14="http://schemas.microsoft.com/office/powerpoint/2010/main" val="6498758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5B7E3-AF15-FDA8-6E87-EA581362149F}"/>
            </a:ext>
          </a:extLst>
        </p:cNvPr>
        <p:cNvGrpSpPr/>
        <p:nvPr/>
      </p:nvGrpSpPr>
      <p:grpSpPr>
        <a:xfrm>
          <a:off x="0" y="0"/>
          <a:ext cx="0" cy="0"/>
          <a:chOff x="0" y="0"/>
          <a:chExt cx="0" cy="0"/>
        </a:xfrm>
      </p:grpSpPr>
      <p:grpSp>
        <p:nvGrpSpPr>
          <p:cNvPr id="8" name="组合 7">
            <a:extLst>
              <a:ext uri="{FF2B5EF4-FFF2-40B4-BE49-F238E27FC236}">
                <a16:creationId xmlns:a16="http://schemas.microsoft.com/office/drawing/2014/main" id="{A96469A7-6CC0-5CDA-EEF2-9CC3FF6E1F19}"/>
              </a:ext>
            </a:extLst>
          </p:cNvPr>
          <p:cNvGrpSpPr/>
          <p:nvPr/>
        </p:nvGrpSpPr>
        <p:grpSpPr>
          <a:xfrm>
            <a:off x="694351" y="634898"/>
            <a:ext cx="559363" cy="5588203"/>
            <a:chOff x="841513" y="634898"/>
            <a:chExt cx="559363" cy="5588203"/>
          </a:xfrm>
        </p:grpSpPr>
        <p:sp>
          <p:nvSpPr>
            <p:cNvPr id="5" name="矩形 4">
              <a:extLst>
                <a:ext uri="{FF2B5EF4-FFF2-40B4-BE49-F238E27FC236}">
                  <a16:creationId xmlns:a16="http://schemas.microsoft.com/office/drawing/2014/main" id="{C9D11170-BFAA-B7C7-EE60-1C294E113225}"/>
                </a:ext>
              </a:extLst>
            </p:cNvPr>
            <p:cNvSpPr/>
            <p:nvPr/>
          </p:nvSpPr>
          <p:spPr>
            <a:xfrm>
              <a:off x="841513" y="697396"/>
              <a:ext cx="311426" cy="5463208"/>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 name="矩形 5">
              <a:extLst>
                <a:ext uri="{FF2B5EF4-FFF2-40B4-BE49-F238E27FC236}">
                  <a16:creationId xmlns:a16="http://schemas.microsoft.com/office/drawing/2014/main" id="{17201E38-4B3D-632D-E38F-417F452DED95}"/>
                </a:ext>
              </a:extLst>
            </p:cNvPr>
            <p:cNvSpPr/>
            <p:nvPr/>
          </p:nvSpPr>
          <p:spPr>
            <a:xfrm>
              <a:off x="1152939" y="697396"/>
              <a:ext cx="69032" cy="5463208"/>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 name="梯形 6">
              <a:extLst>
                <a:ext uri="{FF2B5EF4-FFF2-40B4-BE49-F238E27FC236}">
                  <a16:creationId xmlns:a16="http://schemas.microsoft.com/office/drawing/2014/main" id="{48DEB9C8-3057-4DD9-9DF4-65D193961A12}"/>
                </a:ext>
              </a:extLst>
            </p:cNvPr>
            <p:cNvSpPr/>
            <p:nvPr/>
          </p:nvSpPr>
          <p:spPr>
            <a:xfrm rot="16200000">
              <a:off x="-1482678" y="3339547"/>
              <a:ext cx="5588203" cy="178905"/>
            </a:xfrm>
            <a:prstGeom prst="trapezoid">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grpSp>
      <p:grpSp>
        <p:nvGrpSpPr>
          <p:cNvPr id="9" name="组合 8">
            <a:extLst>
              <a:ext uri="{FF2B5EF4-FFF2-40B4-BE49-F238E27FC236}">
                <a16:creationId xmlns:a16="http://schemas.microsoft.com/office/drawing/2014/main" id="{E0FF573D-9D3D-7D18-D7A5-98307C3099DA}"/>
              </a:ext>
            </a:extLst>
          </p:cNvPr>
          <p:cNvGrpSpPr/>
          <p:nvPr/>
        </p:nvGrpSpPr>
        <p:grpSpPr>
          <a:xfrm flipH="1">
            <a:off x="10970030" y="634897"/>
            <a:ext cx="559363" cy="5588203"/>
            <a:chOff x="841513" y="634898"/>
            <a:chExt cx="559363" cy="5588203"/>
          </a:xfrm>
        </p:grpSpPr>
        <p:sp>
          <p:nvSpPr>
            <p:cNvPr id="10" name="矩形 9">
              <a:extLst>
                <a:ext uri="{FF2B5EF4-FFF2-40B4-BE49-F238E27FC236}">
                  <a16:creationId xmlns:a16="http://schemas.microsoft.com/office/drawing/2014/main" id="{63B1B653-1F29-806C-A53B-60B8D3225E54}"/>
                </a:ext>
              </a:extLst>
            </p:cNvPr>
            <p:cNvSpPr/>
            <p:nvPr/>
          </p:nvSpPr>
          <p:spPr>
            <a:xfrm>
              <a:off x="841513" y="697396"/>
              <a:ext cx="311426" cy="5463208"/>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1" name="矩形 10">
              <a:extLst>
                <a:ext uri="{FF2B5EF4-FFF2-40B4-BE49-F238E27FC236}">
                  <a16:creationId xmlns:a16="http://schemas.microsoft.com/office/drawing/2014/main" id="{0513053B-DF5A-24F9-F7C9-1565CE981B06}"/>
                </a:ext>
              </a:extLst>
            </p:cNvPr>
            <p:cNvSpPr/>
            <p:nvPr/>
          </p:nvSpPr>
          <p:spPr>
            <a:xfrm>
              <a:off x="1152939" y="697396"/>
              <a:ext cx="69032" cy="5463208"/>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梯形 11">
              <a:extLst>
                <a:ext uri="{FF2B5EF4-FFF2-40B4-BE49-F238E27FC236}">
                  <a16:creationId xmlns:a16="http://schemas.microsoft.com/office/drawing/2014/main" id="{9C47834D-0BEE-0F67-65BD-18DE3FAB075D}"/>
                </a:ext>
              </a:extLst>
            </p:cNvPr>
            <p:cNvSpPr/>
            <p:nvPr/>
          </p:nvSpPr>
          <p:spPr>
            <a:xfrm rot="16200000">
              <a:off x="-1482678" y="3339547"/>
              <a:ext cx="5588203" cy="178905"/>
            </a:xfrm>
            <a:prstGeom prst="trapezoid">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grpSp>
      <p:sp>
        <p:nvSpPr>
          <p:cNvPr id="14" name="矩形 13">
            <a:extLst>
              <a:ext uri="{FF2B5EF4-FFF2-40B4-BE49-F238E27FC236}">
                <a16:creationId xmlns:a16="http://schemas.microsoft.com/office/drawing/2014/main" id="{BD000A00-C17A-DBF7-21B6-43311DCE3D39}"/>
              </a:ext>
            </a:extLst>
          </p:cNvPr>
          <p:cNvSpPr/>
          <p:nvPr/>
        </p:nvSpPr>
        <p:spPr>
          <a:xfrm>
            <a:off x="1253715" y="634896"/>
            <a:ext cx="9716315" cy="5588203"/>
          </a:xfrm>
          <a:prstGeom prst="rect">
            <a:avLst/>
          </a:prstGeom>
          <a:solidFill>
            <a:schemeClr val="bg1"/>
          </a:solidFill>
          <a:ln>
            <a:noFill/>
          </a:ln>
          <a:effectLst>
            <a:outerShdw blurRad="317500" sx="101000" sy="101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5" name="矩形 14">
            <a:extLst>
              <a:ext uri="{FF2B5EF4-FFF2-40B4-BE49-F238E27FC236}">
                <a16:creationId xmlns:a16="http://schemas.microsoft.com/office/drawing/2014/main" id="{89BE74FF-2E6A-6519-8ECD-747495C6B3FA}"/>
              </a:ext>
            </a:extLst>
          </p:cNvPr>
          <p:cNvSpPr/>
          <p:nvPr/>
        </p:nvSpPr>
        <p:spPr>
          <a:xfrm>
            <a:off x="5590189" y="634892"/>
            <a:ext cx="505810" cy="5588206"/>
          </a:xfrm>
          <a:prstGeom prst="rect">
            <a:avLst/>
          </a:prstGeom>
          <a:gradFill>
            <a:gsLst>
              <a:gs pos="100000">
                <a:srgbClr val="A5A7A9"/>
              </a:gs>
              <a:gs pos="0">
                <a:srgbClr val="C0C2C5"/>
              </a:gs>
              <a:gs pos="100000">
                <a:srgbClr val="898B8D"/>
              </a:gs>
              <a:gs pos="0">
                <a:schemeClr val="bg1"/>
              </a:gs>
              <a:gs pos="100000">
                <a:srgbClr val="1C1D1D"/>
              </a:gs>
              <a:gs pos="100000">
                <a:schemeClr val="tx1"/>
              </a:gs>
              <a:gs pos="100000">
                <a:schemeClr val="tx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6" name="矩形 15">
            <a:extLst>
              <a:ext uri="{FF2B5EF4-FFF2-40B4-BE49-F238E27FC236}">
                <a16:creationId xmlns:a16="http://schemas.microsoft.com/office/drawing/2014/main" id="{5A98D96D-F153-F399-3415-E983DFE4FC50}"/>
              </a:ext>
            </a:extLst>
          </p:cNvPr>
          <p:cNvSpPr/>
          <p:nvPr/>
        </p:nvSpPr>
        <p:spPr>
          <a:xfrm flipH="1">
            <a:off x="6096000" y="634897"/>
            <a:ext cx="537556" cy="5588206"/>
          </a:xfrm>
          <a:prstGeom prst="rect">
            <a:avLst/>
          </a:prstGeom>
          <a:gradFill>
            <a:gsLst>
              <a:gs pos="100000">
                <a:srgbClr val="A5A7A9"/>
              </a:gs>
              <a:gs pos="0">
                <a:srgbClr val="C0C2C5"/>
              </a:gs>
              <a:gs pos="100000">
                <a:srgbClr val="898B8D"/>
              </a:gs>
              <a:gs pos="0">
                <a:schemeClr val="bg1"/>
              </a:gs>
              <a:gs pos="100000">
                <a:srgbClr val="1C1D1D"/>
              </a:gs>
              <a:gs pos="100000">
                <a:schemeClr val="tx1"/>
              </a:gs>
              <a:gs pos="100000">
                <a:schemeClr val="tx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7" name="文本框 16">
            <a:extLst>
              <a:ext uri="{FF2B5EF4-FFF2-40B4-BE49-F238E27FC236}">
                <a16:creationId xmlns:a16="http://schemas.microsoft.com/office/drawing/2014/main" id="{84421014-F78B-1C26-819C-E3A57C5F193B}"/>
              </a:ext>
            </a:extLst>
          </p:cNvPr>
          <p:cNvSpPr txBox="1"/>
          <p:nvPr/>
        </p:nvSpPr>
        <p:spPr>
          <a:xfrm>
            <a:off x="1432620" y="772839"/>
            <a:ext cx="4203953" cy="501675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调研数据进一步揭示了学生们对于食堂叫餐取号 </a:t>
            </a:r>
            <a:r>
              <a:rPr kumimoji="0" lang="en-US" altLang="zh-CN"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app </a:t>
            </a:r>
            <a:r>
              <a:rPr kumimoji="0" lang="zh-CN" altLang="en-US"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的具体功能期待：高达 </a:t>
            </a:r>
            <a:r>
              <a:rPr kumimoji="0" lang="en-US" altLang="zh-CN"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85%</a:t>
            </a:r>
            <a:r>
              <a:rPr kumimoji="0" lang="zh-CN" altLang="en-US"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的学生强烈期待 </a:t>
            </a:r>
            <a:r>
              <a:rPr kumimoji="0" lang="en-US" altLang="zh-CN"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app </a:t>
            </a:r>
            <a:r>
              <a:rPr kumimoji="0" lang="zh-CN" altLang="en-US"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能够提供各窗口的菜品及价格展示功能。这一功能可以帮助学生在下单前全面了解各个窗口的供应情况，避免盲目排队，从而节省宝贵的时间。</a:t>
            </a:r>
            <a:r>
              <a:rPr kumimoji="0" lang="en-US" altLang="zh-CN"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80%</a:t>
            </a:r>
            <a:r>
              <a:rPr kumimoji="0" lang="zh-CN" altLang="en-US"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的学生希望 </a:t>
            </a:r>
            <a:r>
              <a:rPr kumimoji="0" lang="en-US" altLang="zh-CN"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app </a:t>
            </a:r>
            <a:r>
              <a:rPr kumimoji="0" lang="zh-CN" altLang="en-US"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能够实时显示食堂的人流量。这一功能可以帮助学生避开用餐高峰期，合理安排自己的用餐时间，减少排队等待的烦恼。</a:t>
            </a:r>
            <a:r>
              <a:rPr kumimoji="0" lang="en-US" altLang="zh-CN"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70%</a:t>
            </a:r>
            <a:r>
              <a:rPr kumimoji="0" lang="zh-CN" altLang="en-US"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的学生希望 </a:t>
            </a:r>
            <a:r>
              <a:rPr kumimoji="0" lang="en-US" altLang="zh-CN"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app </a:t>
            </a:r>
            <a:r>
              <a:rPr kumimoji="0" lang="zh-CN" altLang="en-US"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能够提供空座位查询功能。这一功能可以帮助学生快速找到空座位，避免在食堂内四处寻找座位的尴尬，提升用餐体验的舒适度。</a:t>
            </a:r>
            <a:r>
              <a:rPr kumimoji="0" lang="en-US" altLang="zh-CN"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60%</a:t>
            </a:r>
            <a:r>
              <a:rPr kumimoji="0" lang="zh-CN" altLang="en-US"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的学生希望 </a:t>
            </a:r>
            <a:r>
              <a:rPr kumimoji="0" lang="en-US" altLang="zh-CN"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app </a:t>
            </a:r>
            <a:r>
              <a:rPr kumimoji="0" lang="zh-CN" altLang="en-US"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能够提供取餐进度提醒。这一功能可以帮助学生实时掌握自己的订单状态，合理安排取餐时间，避免在取餐口长时间等待。此外，</a:t>
            </a:r>
            <a:r>
              <a:rPr kumimoji="0" lang="en-US" altLang="zh-CN"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44%</a:t>
            </a:r>
            <a:r>
              <a:rPr kumimoji="0" lang="zh-CN" altLang="en-US"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的学生希望 </a:t>
            </a:r>
            <a:r>
              <a:rPr kumimoji="0" lang="en-US" altLang="zh-CN"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app </a:t>
            </a:r>
            <a:r>
              <a:rPr kumimoji="0" lang="zh-CN" altLang="en-US"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能够提供选座预约服务。这一功能可以满足部分学生对于特定座位的需求，例如喜欢安静角落或者靠近朋友座位的同学，进一步提升用餐体验的个性化程度。</a:t>
            </a: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4" name="图片 3">
            <a:extLst>
              <a:ext uri="{FF2B5EF4-FFF2-40B4-BE49-F238E27FC236}">
                <a16:creationId xmlns:a16="http://schemas.microsoft.com/office/drawing/2014/main" id="{D47BCA33-2496-9EDD-9390-E5FEF52909D4}"/>
              </a:ext>
            </a:extLst>
          </p:cNvPr>
          <p:cNvPicPr>
            <a:picLocks noChangeAspect="1"/>
          </p:cNvPicPr>
          <p:nvPr/>
        </p:nvPicPr>
        <p:blipFill>
          <a:blip r:embed="rId2"/>
          <a:stretch>
            <a:fillRect/>
          </a:stretch>
        </p:blipFill>
        <p:spPr>
          <a:xfrm>
            <a:off x="6576287" y="1106214"/>
            <a:ext cx="4261222" cy="2508379"/>
          </a:xfrm>
          <a:prstGeom prst="rect">
            <a:avLst/>
          </a:prstGeom>
        </p:spPr>
      </p:pic>
      <p:pic>
        <p:nvPicPr>
          <p:cNvPr id="19" name="图片 18">
            <a:extLst>
              <a:ext uri="{FF2B5EF4-FFF2-40B4-BE49-F238E27FC236}">
                <a16:creationId xmlns:a16="http://schemas.microsoft.com/office/drawing/2014/main" id="{4C352C67-9751-4709-8BD8-6DCE8109DE66}"/>
              </a:ext>
            </a:extLst>
          </p:cNvPr>
          <p:cNvPicPr>
            <a:picLocks noChangeAspect="1"/>
          </p:cNvPicPr>
          <p:nvPr/>
        </p:nvPicPr>
        <p:blipFill>
          <a:blip r:embed="rId3"/>
          <a:stretch>
            <a:fillRect/>
          </a:stretch>
        </p:blipFill>
        <p:spPr>
          <a:xfrm>
            <a:off x="6812461" y="3614593"/>
            <a:ext cx="3893127" cy="2387977"/>
          </a:xfrm>
          <a:prstGeom prst="rect">
            <a:avLst/>
          </a:prstGeom>
        </p:spPr>
      </p:pic>
    </p:spTree>
    <p:extLst>
      <p:ext uri="{BB962C8B-B14F-4D97-AF65-F5344CB8AC3E}">
        <p14:creationId xmlns:p14="http://schemas.microsoft.com/office/powerpoint/2010/main" val="40962853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E91AF-2881-530A-76EB-FBC4ECD7DB5A}"/>
            </a:ext>
          </a:extLst>
        </p:cNvPr>
        <p:cNvGrpSpPr/>
        <p:nvPr/>
      </p:nvGrpSpPr>
      <p:grpSpPr>
        <a:xfrm>
          <a:off x="0" y="0"/>
          <a:ext cx="0" cy="0"/>
          <a:chOff x="0" y="0"/>
          <a:chExt cx="0" cy="0"/>
        </a:xfrm>
      </p:grpSpPr>
      <p:pic>
        <p:nvPicPr>
          <p:cNvPr id="26" name="图片 25">
            <a:extLst>
              <a:ext uri="{FF2B5EF4-FFF2-40B4-BE49-F238E27FC236}">
                <a16:creationId xmlns:a16="http://schemas.microsoft.com/office/drawing/2014/main" id="{3A7C3795-6D94-F9C7-0664-B4DDE36C04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612" y="-37821"/>
            <a:ext cx="11165305" cy="6895821"/>
          </a:xfrm>
          <a:prstGeom prst="rect">
            <a:avLst/>
          </a:prstGeom>
        </p:spPr>
      </p:pic>
      <p:sp>
        <p:nvSpPr>
          <p:cNvPr id="5" name="文本框 4">
            <a:extLst>
              <a:ext uri="{FF2B5EF4-FFF2-40B4-BE49-F238E27FC236}">
                <a16:creationId xmlns:a16="http://schemas.microsoft.com/office/drawing/2014/main" id="{B9BA519A-BF92-253E-5337-4710820C2CE4}"/>
              </a:ext>
            </a:extLst>
          </p:cNvPr>
          <p:cNvSpPr txBox="1"/>
          <p:nvPr/>
        </p:nvSpPr>
        <p:spPr>
          <a:xfrm>
            <a:off x="3718560" y="2432414"/>
            <a:ext cx="4581625" cy="218521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600" b="0" i="0" u="none" strike="noStrike" kern="1200" cap="none" spc="0" normalizeH="0" baseline="0" noProof="0" dirty="0">
                <a:ln>
                  <a:noFill/>
                </a:ln>
                <a:solidFill>
                  <a:srgbClr val="4472C4"/>
                </a:solidFill>
                <a:effectLst/>
                <a:uLnTx/>
                <a:uFillTx/>
                <a:latin typeface="华文行楷" panose="02010800040101010101" pitchFamily="2" charset="-122"/>
                <a:ea typeface="华文行楷" panose="02010800040101010101" pitchFamily="2" charset="-122"/>
                <a:cs typeface="+mn-cs"/>
              </a:rPr>
              <a:t>目录</a:t>
            </a:r>
            <a:endParaRPr kumimoji="0" lang="en-US" altLang="zh-CN" sz="9600" b="0" i="0" u="none" strike="noStrike" kern="1200" cap="none" spc="0" normalizeH="0" baseline="0" noProof="0" dirty="0">
              <a:ln>
                <a:noFill/>
              </a:ln>
              <a:solidFill>
                <a:srgbClr val="4472C4"/>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4472C4"/>
                </a:solidFill>
                <a:effectLst/>
                <a:uLnTx/>
                <a:uFillTx/>
                <a:latin typeface="等线" panose="02010600030101010101" pitchFamily="2" charset="-122"/>
                <a:ea typeface="等线" panose="02010600030101010101" pitchFamily="2" charset="-122"/>
                <a:cs typeface="+mn-cs"/>
              </a:rPr>
              <a:t>content</a:t>
            </a:r>
            <a:endParaRPr kumimoji="0" lang="zh-CN" altLang="en-US" sz="4000" b="0" i="0" u="none" strike="noStrike" kern="1200" cap="none" spc="0" normalizeH="0" baseline="0" noProof="0" dirty="0">
              <a:ln>
                <a:noFill/>
              </a:ln>
              <a:solidFill>
                <a:srgbClr val="4472C4"/>
              </a:solidFill>
              <a:effectLst/>
              <a:uLnTx/>
              <a:uFillTx/>
              <a:latin typeface="等线" panose="02010600030101010101" pitchFamily="2" charset="-122"/>
              <a:ea typeface="等线" panose="02010600030101010101" pitchFamily="2" charset="-122"/>
              <a:cs typeface="+mn-cs"/>
            </a:endParaRPr>
          </a:p>
        </p:txBody>
      </p:sp>
      <p:sp>
        <p:nvSpPr>
          <p:cNvPr id="8" name="任意多边形: 形状 7">
            <a:extLst>
              <a:ext uri="{FF2B5EF4-FFF2-40B4-BE49-F238E27FC236}">
                <a16:creationId xmlns:a16="http://schemas.microsoft.com/office/drawing/2014/main" id="{F503FF59-28BC-07A5-1385-C5A75F84C4F9}"/>
              </a:ext>
            </a:extLst>
          </p:cNvPr>
          <p:cNvSpPr/>
          <p:nvPr/>
        </p:nvSpPr>
        <p:spPr>
          <a:xfrm>
            <a:off x="2416142"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0" name="任意多边形: 形状 9">
            <a:extLst>
              <a:ext uri="{FF2B5EF4-FFF2-40B4-BE49-F238E27FC236}">
                <a16:creationId xmlns:a16="http://schemas.microsoft.com/office/drawing/2014/main" id="{2DD99245-375F-538A-929F-9979DD00C5BF}"/>
              </a:ext>
            </a:extLst>
          </p:cNvPr>
          <p:cNvSpPr/>
          <p:nvPr/>
        </p:nvSpPr>
        <p:spPr>
          <a:xfrm>
            <a:off x="2649756"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solidFill>
            <a:schemeClr val="accent1">
              <a:lumMod val="20000"/>
              <a:lumOff val="80000"/>
            </a:schemeClr>
          </a:solidFill>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1" name="任意多边形: 形状 10">
            <a:extLst>
              <a:ext uri="{FF2B5EF4-FFF2-40B4-BE49-F238E27FC236}">
                <a16:creationId xmlns:a16="http://schemas.microsoft.com/office/drawing/2014/main" id="{5D861E0C-519C-5C3B-EC19-B8A6B4225B4D}"/>
              </a:ext>
            </a:extLst>
          </p:cNvPr>
          <p:cNvSpPr/>
          <p:nvPr/>
        </p:nvSpPr>
        <p:spPr>
          <a:xfrm>
            <a:off x="2883370"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solidFill>
            <a:schemeClr val="bg1"/>
          </a:solidFill>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4" name="文本框 3">
            <a:extLst>
              <a:ext uri="{FF2B5EF4-FFF2-40B4-BE49-F238E27FC236}">
                <a16:creationId xmlns:a16="http://schemas.microsoft.com/office/drawing/2014/main" id="{5E44EA9E-C7AD-EA13-7374-E059F71300EF}"/>
              </a:ext>
            </a:extLst>
          </p:cNvPr>
          <p:cNvSpPr txBox="1"/>
          <p:nvPr/>
        </p:nvSpPr>
        <p:spPr>
          <a:xfrm>
            <a:off x="-426120" y="2336391"/>
            <a:ext cx="4581625" cy="218521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600" b="0" i="0" u="none" strike="noStrike" kern="1200" cap="none" spc="0" normalizeH="0" baseline="0" noProof="0" dirty="0">
                <a:ln>
                  <a:noFill/>
                </a:ln>
                <a:solidFill>
                  <a:srgbClr val="C00000"/>
                </a:solidFill>
                <a:effectLst/>
                <a:uLnTx/>
                <a:uFillTx/>
                <a:latin typeface="华文行楷" panose="02010800040101010101" pitchFamily="2" charset="-122"/>
                <a:ea typeface="华文行楷" panose="02010800040101010101" pitchFamily="2" charset="-122"/>
                <a:cs typeface="+mn-cs"/>
              </a:rPr>
              <a:t>目录</a:t>
            </a:r>
            <a:endParaRPr kumimoji="0" lang="en-US" altLang="zh-CN" sz="9600" b="0" i="0" u="none" strike="noStrike" kern="1200" cap="none" spc="0" normalizeH="0" baseline="0" noProof="0" dirty="0">
              <a:ln>
                <a:noFill/>
              </a:ln>
              <a:solidFill>
                <a:srgbClr val="C00000"/>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C00000"/>
                </a:solidFill>
                <a:effectLst/>
                <a:uLnTx/>
                <a:uFillTx/>
                <a:latin typeface="等线" panose="02010600030101010101" pitchFamily="2" charset="-122"/>
                <a:ea typeface="等线" panose="02010600030101010101" pitchFamily="2" charset="-122"/>
                <a:cs typeface="+mn-cs"/>
              </a:rPr>
              <a:t>content</a:t>
            </a:r>
            <a:endParaRPr kumimoji="0" lang="zh-CN" altLang="en-US" sz="4000" b="0" i="0" u="none" strike="noStrike" kern="1200" cap="none" spc="0" normalizeH="0" baseline="0" noProof="0" dirty="0">
              <a:ln>
                <a:noFill/>
              </a:ln>
              <a:solidFill>
                <a:srgbClr val="C00000"/>
              </a:solidFill>
              <a:effectLst/>
              <a:uLnTx/>
              <a:uFillTx/>
              <a:latin typeface="等线" panose="02010600030101010101" pitchFamily="2" charset="-122"/>
              <a:ea typeface="等线" panose="02010600030101010101" pitchFamily="2" charset="-122"/>
              <a:cs typeface="+mn-cs"/>
            </a:endParaRPr>
          </a:p>
        </p:txBody>
      </p:sp>
      <p:grpSp>
        <p:nvGrpSpPr>
          <p:cNvPr id="24" name="组合 23">
            <a:extLst>
              <a:ext uri="{FF2B5EF4-FFF2-40B4-BE49-F238E27FC236}">
                <a16:creationId xmlns:a16="http://schemas.microsoft.com/office/drawing/2014/main" id="{A32E3672-F3E3-F02D-D283-D429146D8A34}"/>
              </a:ext>
            </a:extLst>
          </p:cNvPr>
          <p:cNvGrpSpPr/>
          <p:nvPr/>
        </p:nvGrpSpPr>
        <p:grpSpPr>
          <a:xfrm>
            <a:off x="5248543" y="642621"/>
            <a:ext cx="1273629" cy="544286"/>
            <a:chOff x="5034642" y="1306286"/>
            <a:chExt cx="1273629" cy="544286"/>
          </a:xfrm>
        </p:grpSpPr>
        <p:sp>
          <p:nvSpPr>
            <p:cNvPr id="6" name="箭头: V 形 5">
              <a:extLst>
                <a:ext uri="{FF2B5EF4-FFF2-40B4-BE49-F238E27FC236}">
                  <a16:creationId xmlns:a16="http://schemas.microsoft.com/office/drawing/2014/main" id="{A2F9130F-0615-E624-2AC1-F5D2579D75EB}"/>
                </a:ext>
              </a:extLst>
            </p:cNvPr>
            <p:cNvSpPr/>
            <p:nvPr/>
          </p:nvSpPr>
          <p:spPr>
            <a:xfrm>
              <a:off x="5034642"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 name="箭头: V 形 6">
              <a:extLst>
                <a:ext uri="{FF2B5EF4-FFF2-40B4-BE49-F238E27FC236}">
                  <a16:creationId xmlns:a16="http://schemas.microsoft.com/office/drawing/2014/main" id="{F26BA599-AD46-6ADC-6EA8-2D8AD3E25471}"/>
                </a:ext>
              </a:extLst>
            </p:cNvPr>
            <p:cNvSpPr/>
            <p:nvPr/>
          </p:nvSpPr>
          <p:spPr>
            <a:xfrm>
              <a:off x="5459185"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9" name="箭头: V 形 8">
              <a:extLst>
                <a:ext uri="{FF2B5EF4-FFF2-40B4-BE49-F238E27FC236}">
                  <a16:creationId xmlns:a16="http://schemas.microsoft.com/office/drawing/2014/main" id="{651F2437-31B6-9D05-BA63-090C0D94587F}"/>
                </a:ext>
              </a:extLst>
            </p:cNvPr>
            <p:cNvSpPr/>
            <p:nvPr/>
          </p:nvSpPr>
          <p:spPr>
            <a:xfrm>
              <a:off x="5883728"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5" name="组合 24">
            <a:extLst>
              <a:ext uri="{FF2B5EF4-FFF2-40B4-BE49-F238E27FC236}">
                <a16:creationId xmlns:a16="http://schemas.microsoft.com/office/drawing/2014/main" id="{9BBC4694-0F7B-1E96-FA14-5C386E821CD6}"/>
              </a:ext>
            </a:extLst>
          </p:cNvPr>
          <p:cNvGrpSpPr/>
          <p:nvPr/>
        </p:nvGrpSpPr>
        <p:grpSpPr>
          <a:xfrm>
            <a:off x="14602294" y="1888947"/>
            <a:ext cx="1273629" cy="544286"/>
            <a:chOff x="5034642" y="2242458"/>
            <a:chExt cx="1273629" cy="544286"/>
          </a:xfrm>
        </p:grpSpPr>
        <p:sp>
          <p:nvSpPr>
            <p:cNvPr id="12" name="箭头: V 形 11">
              <a:extLst>
                <a:ext uri="{FF2B5EF4-FFF2-40B4-BE49-F238E27FC236}">
                  <a16:creationId xmlns:a16="http://schemas.microsoft.com/office/drawing/2014/main" id="{C73A709C-613B-71D1-D67D-7A4AF6FAED7D}"/>
                </a:ext>
              </a:extLst>
            </p:cNvPr>
            <p:cNvSpPr/>
            <p:nvPr/>
          </p:nvSpPr>
          <p:spPr>
            <a:xfrm>
              <a:off x="5034642"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3" name="箭头: V 形 12">
              <a:extLst>
                <a:ext uri="{FF2B5EF4-FFF2-40B4-BE49-F238E27FC236}">
                  <a16:creationId xmlns:a16="http://schemas.microsoft.com/office/drawing/2014/main" id="{09C6762F-50AD-92C1-76E1-399D98E8FC5D}"/>
                </a:ext>
              </a:extLst>
            </p:cNvPr>
            <p:cNvSpPr/>
            <p:nvPr/>
          </p:nvSpPr>
          <p:spPr>
            <a:xfrm>
              <a:off x="5459185"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4" name="箭头: V 形 13">
              <a:extLst>
                <a:ext uri="{FF2B5EF4-FFF2-40B4-BE49-F238E27FC236}">
                  <a16:creationId xmlns:a16="http://schemas.microsoft.com/office/drawing/2014/main" id="{C9B54B8A-B35C-A39F-EDCE-AB7618D43AC6}"/>
                </a:ext>
              </a:extLst>
            </p:cNvPr>
            <p:cNvSpPr/>
            <p:nvPr/>
          </p:nvSpPr>
          <p:spPr>
            <a:xfrm>
              <a:off x="5883728"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8" name="组合 27">
            <a:extLst>
              <a:ext uri="{FF2B5EF4-FFF2-40B4-BE49-F238E27FC236}">
                <a16:creationId xmlns:a16="http://schemas.microsoft.com/office/drawing/2014/main" id="{29BA5173-148C-5E44-153B-745032D71F80}"/>
              </a:ext>
            </a:extLst>
          </p:cNvPr>
          <p:cNvGrpSpPr/>
          <p:nvPr/>
        </p:nvGrpSpPr>
        <p:grpSpPr>
          <a:xfrm>
            <a:off x="14602294" y="3119036"/>
            <a:ext cx="1273629" cy="544286"/>
            <a:chOff x="5034642" y="3178630"/>
            <a:chExt cx="1273629" cy="544286"/>
          </a:xfrm>
        </p:grpSpPr>
        <p:sp>
          <p:nvSpPr>
            <p:cNvPr id="15" name="箭头: V 形 14">
              <a:extLst>
                <a:ext uri="{FF2B5EF4-FFF2-40B4-BE49-F238E27FC236}">
                  <a16:creationId xmlns:a16="http://schemas.microsoft.com/office/drawing/2014/main" id="{0AE45A33-0A38-18C4-A98A-D8F37330BD71}"/>
                </a:ext>
              </a:extLst>
            </p:cNvPr>
            <p:cNvSpPr/>
            <p:nvPr/>
          </p:nvSpPr>
          <p:spPr>
            <a:xfrm>
              <a:off x="5034642"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 name="箭头: V 形 15">
              <a:extLst>
                <a:ext uri="{FF2B5EF4-FFF2-40B4-BE49-F238E27FC236}">
                  <a16:creationId xmlns:a16="http://schemas.microsoft.com/office/drawing/2014/main" id="{BD3367A9-6A37-8880-52DC-3037FFDB6CA8}"/>
                </a:ext>
              </a:extLst>
            </p:cNvPr>
            <p:cNvSpPr/>
            <p:nvPr/>
          </p:nvSpPr>
          <p:spPr>
            <a:xfrm>
              <a:off x="5459185"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7" name="箭头: V 形 16">
              <a:extLst>
                <a:ext uri="{FF2B5EF4-FFF2-40B4-BE49-F238E27FC236}">
                  <a16:creationId xmlns:a16="http://schemas.microsoft.com/office/drawing/2014/main" id="{4CF1CCE9-5C7B-A665-8B64-336D356A1C57}"/>
                </a:ext>
              </a:extLst>
            </p:cNvPr>
            <p:cNvSpPr/>
            <p:nvPr/>
          </p:nvSpPr>
          <p:spPr>
            <a:xfrm>
              <a:off x="5883728"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9" name="组合 28">
            <a:extLst>
              <a:ext uri="{FF2B5EF4-FFF2-40B4-BE49-F238E27FC236}">
                <a16:creationId xmlns:a16="http://schemas.microsoft.com/office/drawing/2014/main" id="{FE11AEE3-2472-6A1A-7B34-110027159808}"/>
              </a:ext>
            </a:extLst>
          </p:cNvPr>
          <p:cNvGrpSpPr/>
          <p:nvPr/>
        </p:nvGrpSpPr>
        <p:grpSpPr>
          <a:xfrm>
            <a:off x="14602293" y="4318365"/>
            <a:ext cx="1273629" cy="544286"/>
            <a:chOff x="5034642" y="4114802"/>
            <a:chExt cx="1273629" cy="544286"/>
          </a:xfrm>
        </p:grpSpPr>
        <p:sp>
          <p:nvSpPr>
            <p:cNvPr id="18" name="箭头: V 形 17">
              <a:extLst>
                <a:ext uri="{FF2B5EF4-FFF2-40B4-BE49-F238E27FC236}">
                  <a16:creationId xmlns:a16="http://schemas.microsoft.com/office/drawing/2014/main" id="{9B6B0757-FDF9-6ADC-AE53-2E2E3B5BAB6C}"/>
                </a:ext>
              </a:extLst>
            </p:cNvPr>
            <p:cNvSpPr/>
            <p:nvPr/>
          </p:nvSpPr>
          <p:spPr>
            <a:xfrm>
              <a:off x="5034642"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 name="箭头: V 形 18">
              <a:extLst>
                <a:ext uri="{FF2B5EF4-FFF2-40B4-BE49-F238E27FC236}">
                  <a16:creationId xmlns:a16="http://schemas.microsoft.com/office/drawing/2014/main" id="{1CBB91C6-B37F-6E8A-8CF1-02C7F6AC321F}"/>
                </a:ext>
              </a:extLst>
            </p:cNvPr>
            <p:cNvSpPr/>
            <p:nvPr/>
          </p:nvSpPr>
          <p:spPr>
            <a:xfrm>
              <a:off x="5459185"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0" name="箭头: V 形 19">
              <a:extLst>
                <a:ext uri="{FF2B5EF4-FFF2-40B4-BE49-F238E27FC236}">
                  <a16:creationId xmlns:a16="http://schemas.microsoft.com/office/drawing/2014/main" id="{D9B7E5F7-9824-C495-019F-CA1DED4A370C}"/>
                </a:ext>
              </a:extLst>
            </p:cNvPr>
            <p:cNvSpPr/>
            <p:nvPr/>
          </p:nvSpPr>
          <p:spPr>
            <a:xfrm>
              <a:off x="5883728"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30" name="组合 29">
            <a:extLst>
              <a:ext uri="{FF2B5EF4-FFF2-40B4-BE49-F238E27FC236}">
                <a16:creationId xmlns:a16="http://schemas.microsoft.com/office/drawing/2014/main" id="{B97930E2-21E3-5D65-F9FD-8E2DCF414F5F}"/>
              </a:ext>
            </a:extLst>
          </p:cNvPr>
          <p:cNvGrpSpPr/>
          <p:nvPr/>
        </p:nvGrpSpPr>
        <p:grpSpPr>
          <a:xfrm>
            <a:off x="14602292" y="5540556"/>
            <a:ext cx="1273629" cy="544286"/>
            <a:chOff x="5034642" y="5050974"/>
            <a:chExt cx="1273629" cy="544286"/>
          </a:xfrm>
        </p:grpSpPr>
        <p:sp>
          <p:nvSpPr>
            <p:cNvPr id="21" name="箭头: V 形 20">
              <a:extLst>
                <a:ext uri="{FF2B5EF4-FFF2-40B4-BE49-F238E27FC236}">
                  <a16:creationId xmlns:a16="http://schemas.microsoft.com/office/drawing/2014/main" id="{AAA945A2-E317-ED19-7614-0AD97D67C292}"/>
                </a:ext>
              </a:extLst>
            </p:cNvPr>
            <p:cNvSpPr/>
            <p:nvPr/>
          </p:nvSpPr>
          <p:spPr>
            <a:xfrm>
              <a:off x="5034642"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 name="箭头: V 形 21">
              <a:extLst>
                <a:ext uri="{FF2B5EF4-FFF2-40B4-BE49-F238E27FC236}">
                  <a16:creationId xmlns:a16="http://schemas.microsoft.com/office/drawing/2014/main" id="{BBD26467-45AD-80EB-6F84-A96F7144A3B0}"/>
                </a:ext>
              </a:extLst>
            </p:cNvPr>
            <p:cNvSpPr/>
            <p:nvPr/>
          </p:nvSpPr>
          <p:spPr>
            <a:xfrm>
              <a:off x="5459185"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3" name="箭头: V 形 22">
              <a:extLst>
                <a:ext uri="{FF2B5EF4-FFF2-40B4-BE49-F238E27FC236}">
                  <a16:creationId xmlns:a16="http://schemas.microsoft.com/office/drawing/2014/main" id="{002E0623-12E6-03AD-B966-CAC360F919AD}"/>
                </a:ext>
              </a:extLst>
            </p:cNvPr>
            <p:cNvSpPr/>
            <p:nvPr/>
          </p:nvSpPr>
          <p:spPr>
            <a:xfrm>
              <a:off x="5883728"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37" name="组合 36">
            <a:extLst>
              <a:ext uri="{FF2B5EF4-FFF2-40B4-BE49-F238E27FC236}">
                <a16:creationId xmlns:a16="http://schemas.microsoft.com/office/drawing/2014/main" id="{E306865C-A3F6-DD6C-4129-6D376BF814A1}"/>
              </a:ext>
            </a:extLst>
          </p:cNvPr>
          <p:cNvGrpSpPr/>
          <p:nvPr/>
        </p:nvGrpSpPr>
        <p:grpSpPr>
          <a:xfrm>
            <a:off x="8060260" y="508321"/>
            <a:ext cx="2719668" cy="707886"/>
            <a:chOff x="7790950" y="577644"/>
            <a:chExt cx="2719668" cy="707886"/>
          </a:xfrm>
        </p:grpSpPr>
        <p:sp>
          <p:nvSpPr>
            <p:cNvPr id="31" name="文本框 30">
              <a:extLst>
                <a:ext uri="{FF2B5EF4-FFF2-40B4-BE49-F238E27FC236}">
                  <a16:creationId xmlns:a16="http://schemas.microsoft.com/office/drawing/2014/main" id="{EE876354-072B-77C4-45FB-C8A2B4EA8A8E}"/>
                </a:ext>
              </a:extLst>
            </p:cNvPr>
            <p:cNvSpPr txBox="1"/>
            <p:nvPr/>
          </p:nvSpPr>
          <p:spPr>
            <a:xfrm>
              <a:off x="7790950" y="577644"/>
              <a:ext cx="271278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Calibri" panose="020F0502020204030204" pitchFamily="34" charset="0"/>
                </a:rPr>
                <a:t>现有市场</a:t>
              </a:r>
            </a:p>
          </p:txBody>
        </p:sp>
        <p:sp>
          <p:nvSpPr>
            <p:cNvPr id="32" name="文本框 31">
              <a:extLst>
                <a:ext uri="{FF2B5EF4-FFF2-40B4-BE49-F238E27FC236}">
                  <a16:creationId xmlns:a16="http://schemas.microsoft.com/office/drawing/2014/main" id="{023F1346-A13F-E99B-8851-5829D418107B}"/>
                </a:ext>
              </a:extLst>
            </p:cNvPr>
            <p:cNvSpPr txBox="1"/>
            <p:nvPr/>
          </p:nvSpPr>
          <p:spPr>
            <a:xfrm>
              <a:off x="7797833" y="577644"/>
              <a:ext cx="2712785"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endPar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endParaRPr>
            </a:p>
          </p:txBody>
        </p:sp>
      </p:grpSp>
      <p:sp>
        <p:nvSpPr>
          <p:cNvPr id="33" name="文本框 32">
            <a:extLst>
              <a:ext uri="{FF2B5EF4-FFF2-40B4-BE49-F238E27FC236}">
                <a16:creationId xmlns:a16="http://schemas.microsoft.com/office/drawing/2014/main" id="{72AD2F83-39A1-1EE6-738C-D545F6BE0AF3}"/>
              </a:ext>
            </a:extLst>
          </p:cNvPr>
          <p:cNvSpPr txBox="1"/>
          <p:nvPr/>
        </p:nvSpPr>
        <p:spPr>
          <a:xfrm>
            <a:off x="17419860" y="1852252"/>
            <a:ext cx="2712785"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rPr>
              <a:t>我们的创新点</a:t>
            </a:r>
          </a:p>
        </p:txBody>
      </p:sp>
      <p:sp>
        <p:nvSpPr>
          <p:cNvPr id="34" name="文本框 33">
            <a:extLst>
              <a:ext uri="{FF2B5EF4-FFF2-40B4-BE49-F238E27FC236}">
                <a16:creationId xmlns:a16="http://schemas.microsoft.com/office/drawing/2014/main" id="{122A066E-C678-666E-829B-A3FFEDA7E06F}"/>
              </a:ext>
            </a:extLst>
          </p:cNvPr>
          <p:cNvSpPr txBox="1"/>
          <p:nvPr/>
        </p:nvSpPr>
        <p:spPr>
          <a:xfrm>
            <a:off x="17395598" y="3106606"/>
            <a:ext cx="277507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华文行楷" panose="02010800040101010101" pitchFamily="2" charset="-122"/>
                <a:cs typeface="+mn-cs"/>
              </a:rPr>
              <a:t>猎豹与哪吒</a:t>
            </a:r>
            <a:endParaRPr kumimoji="0" lang="en-US" altLang="zh-CN" sz="2000" b="0" i="1" u="none" strike="noStrike" kern="1200" cap="none" spc="0" normalizeH="0" baseline="0" noProof="0" dirty="0">
              <a:ln>
                <a:noFill/>
              </a:ln>
              <a:solidFill>
                <a:prstClr val="black"/>
              </a:solidFill>
              <a:effectLst/>
              <a:uLnTx/>
              <a:uFillTx/>
              <a:latin typeface="Segoe Print" panose="02000600000000000000" pitchFamily="2" charset="0"/>
              <a:ea typeface="华文行楷" panose="02010800040101010101" pitchFamily="2" charset="-122"/>
              <a:cs typeface="+mn-cs"/>
            </a:endParaRPr>
          </a:p>
        </p:txBody>
      </p:sp>
      <p:sp>
        <p:nvSpPr>
          <p:cNvPr id="35" name="文本框 34">
            <a:extLst>
              <a:ext uri="{FF2B5EF4-FFF2-40B4-BE49-F238E27FC236}">
                <a16:creationId xmlns:a16="http://schemas.microsoft.com/office/drawing/2014/main" id="{FA3BD91E-604D-8428-6601-3D216FA93944}"/>
              </a:ext>
            </a:extLst>
          </p:cNvPr>
          <p:cNvSpPr txBox="1"/>
          <p:nvPr/>
        </p:nvSpPr>
        <p:spPr>
          <a:xfrm>
            <a:off x="17548231" y="4269862"/>
            <a:ext cx="254370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rPr>
              <a:t>企业发展战略定位</a:t>
            </a:r>
          </a:p>
        </p:txBody>
      </p:sp>
      <p:sp>
        <p:nvSpPr>
          <p:cNvPr id="36" name="文本框 35">
            <a:extLst>
              <a:ext uri="{FF2B5EF4-FFF2-40B4-BE49-F238E27FC236}">
                <a16:creationId xmlns:a16="http://schemas.microsoft.com/office/drawing/2014/main" id="{227C4EF3-5044-AFBC-3FC0-6E6DA740DED4}"/>
              </a:ext>
            </a:extLst>
          </p:cNvPr>
          <p:cNvSpPr txBox="1"/>
          <p:nvPr/>
        </p:nvSpPr>
        <p:spPr>
          <a:xfrm>
            <a:off x="17548231" y="5531765"/>
            <a:ext cx="254370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rPr>
              <a:t>相关解决办法及意见</a:t>
            </a:r>
          </a:p>
        </p:txBody>
      </p:sp>
    </p:spTree>
    <p:extLst>
      <p:ext uri="{BB962C8B-B14F-4D97-AF65-F5344CB8AC3E}">
        <p14:creationId xmlns:p14="http://schemas.microsoft.com/office/powerpoint/2010/main" val="26525263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631A1-D531-06D8-062E-13025D60946C}"/>
            </a:ext>
          </a:extLst>
        </p:cNvPr>
        <p:cNvGrpSpPr/>
        <p:nvPr/>
      </p:nvGrpSpPr>
      <p:grpSpPr>
        <a:xfrm>
          <a:off x="0" y="0"/>
          <a:ext cx="0" cy="0"/>
          <a:chOff x="0" y="0"/>
          <a:chExt cx="0" cy="0"/>
        </a:xfrm>
      </p:grpSpPr>
      <p:pic>
        <p:nvPicPr>
          <p:cNvPr id="26" name="图片 25">
            <a:extLst>
              <a:ext uri="{FF2B5EF4-FFF2-40B4-BE49-F238E27FC236}">
                <a16:creationId xmlns:a16="http://schemas.microsoft.com/office/drawing/2014/main" id="{0B879990-4CB8-2B0F-6ACF-A43E6A4B3B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4678" y="-37821"/>
            <a:ext cx="11165305" cy="6895821"/>
          </a:xfrm>
          <a:prstGeom prst="rect">
            <a:avLst/>
          </a:prstGeom>
        </p:spPr>
      </p:pic>
      <p:sp>
        <p:nvSpPr>
          <p:cNvPr id="5" name="文本框 4">
            <a:extLst>
              <a:ext uri="{FF2B5EF4-FFF2-40B4-BE49-F238E27FC236}">
                <a16:creationId xmlns:a16="http://schemas.microsoft.com/office/drawing/2014/main" id="{8BA29A30-7532-D1C2-7270-B8D60219A526}"/>
              </a:ext>
            </a:extLst>
          </p:cNvPr>
          <p:cNvSpPr txBox="1"/>
          <p:nvPr/>
        </p:nvSpPr>
        <p:spPr>
          <a:xfrm>
            <a:off x="3718560" y="2432414"/>
            <a:ext cx="4581625" cy="218521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600" b="0" i="0" u="none" strike="noStrike" kern="1200" cap="none" spc="0" normalizeH="0" baseline="0" noProof="0" dirty="0">
                <a:ln>
                  <a:noFill/>
                </a:ln>
                <a:solidFill>
                  <a:srgbClr val="4472C4"/>
                </a:solidFill>
                <a:effectLst/>
                <a:uLnTx/>
                <a:uFillTx/>
                <a:latin typeface="华文行楷" panose="02010800040101010101" pitchFamily="2" charset="-122"/>
                <a:ea typeface="华文行楷" panose="02010800040101010101" pitchFamily="2" charset="-122"/>
                <a:cs typeface="+mn-cs"/>
              </a:rPr>
              <a:t>目录</a:t>
            </a:r>
            <a:endParaRPr kumimoji="0" lang="en-US" altLang="zh-CN" sz="9600" b="0" i="0" u="none" strike="noStrike" kern="1200" cap="none" spc="0" normalizeH="0" baseline="0" noProof="0" dirty="0">
              <a:ln>
                <a:noFill/>
              </a:ln>
              <a:solidFill>
                <a:srgbClr val="4472C4"/>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4472C4"/>
                </a:solidFill>
                <a:effectLst/>
                <a:uLnTx/>
                <a:uFillTx/>
                <a:latin typeface="等线" panose="02010600030101010101" pitchFamily="2" charset="-122"/>
                <a:ea typeface="等线" panose="02010600030101010101" pitchFamily="2" charset="-122"/>
                <a:cs typeface="+mn-cs"/>
              </a:rPr>
              <a:t>content</a:t>
            </a:r>
            <a:endParaRPr kumimoji="0" lang="zh-CN" altLang="en-US" sz="4000" b="0" i="0" u="none" strike="noStrike" kern="1200" cap="none" spc="0" normalizeH="0" baseline="0" noProof="0" dirty="0">
              <a:ln>
                <a:noFill/>
              </a:ln>
              <a:solidFill>
                <a:srgbClr val="4472C4"/>
              </a:solidFill>
              <a:effectLst/>
              <a:uLnTx/>
              <a:uFillTx/>
              <a:latin typeface="等线" panose="02010600030101010101" pitchFamily="2" charset="-122"/>
              <a:ea typeface="等线" panose="02010600030101010101" pitchFamily="2" charset="-122"/>
              <a:cs typeface="+mn-cs"/>
            </a:endParaRPr>
          </a:p>
        </p:txBody>
      </p:sp>
      <p:sp>
        <p:nvSpPr>
          <p:cNvPr id="8" name="任意多边形: 形状 7">
            <a:extLst>
              <a:ext uri="{FF2B5EF4-FFF2-40B4-BE49-F238E27FC236}">
                <a16:creationId xmlns:a16="http://schemas.microsoft.com/office/drawing/2014/main" id="{F0C175CC-C073-D3F1-85F3-B1C7B806D82F}"/>
              </a:ext>
            </a:extLst>
          </p:cNvPr>
          <p:cNvSpPr/>
          <p:nvPr/>
        </p:nvSpPr>
        <p:spPr>
          <a:xfrm>
            <a:off x="2416142"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0" name="任意多边形: 形状 9">
            <a:extLst>
              <a:ext uri="{FF2B5EF4-FFF2-40B4-BE49-F238E27FC236}">
                <a16:creationId xmlns:a16="http://schemas.microsoft.com/office/drawing/2014/main" id="{771C3977-C205-1D2A-786C-17E0B9350BA6}"/>
              </a:ext>
            </a:extLst>
          </p:cNvPr>
          <p:cNvSpPr/>
          <p:nvPr/>
        </p:nvSpPr>
        <p:spPr>
          <a:xfrm>
            <a:off x="2649756"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solidFill>
            <a:schemeClr val="accent1">
              <a:lumMod val="20000"/>
              <a:lumOff val="80000"/>
            </a:schemeClr>
          </a:solidFill>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1" name="任意多边形: 形状 10">
            <a:extLst>
              <a:ext uri="{FF2B5EF4-FFF2-40B4-BE49-F238E27FC236}">
                <a16:creationId xmlns:a16="http://schemas.microsoft.com/office/drawing/2014/main" id="{8A123A18-4A0A-6698-BEE3-EE57386BBC6C}"/>
              </a:ext>
            </a:extLst>
          </p:cNvPr>
          <p:cNvSpPr/>
          <p:nvPr/>
        </p:nvSpPr>
        <p:spPr>
          <a:xfrm>
            <a:off x="2883370"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solidFill>
            <a:schemeClr val="bg1"/>
          </a:solidFill>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4" name="文本框 3">
            <a:extLst>
              <a:ext uri="{FF2B5EF4-FFF2-40B4-BE49-F238E27FC236}">
                <a16:creationId xmlns:a16="http://schemas.microsoft.com/office/drawing/2014/main" id="{A18076D6-4013-C755-736C-186F0DC91337}"/>
              </a:ext>
            </a:extLst>
          </p:cNvPr>
          <p:cNvSpPr txBox="1"/>
          <p:nvPr/>
        </p:nvSpPr>
        <p:spPr>
          <a:xfrm>
            <a:off x="-426120" y="2336391"/>
            <a:ext cx="4581625" cy="218521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600" b="0" i="0" u="none" strike="noStrike" kern="1200" cap="none" spc="0" normalizeH="0" baseline="0" noProof="0" dirty="0">
                <a:ln>
                  <a:noFill/>
                </a:ln>
                <a:solidFill>
                  <a:srgbClr val="C00000"/>
                </a:solidFill>
                <a:effectLst/>
                <a:uLnTx/>
                <a:uFillTx/>
                <a:latin typeface="华文行楷" panose="02010800040101010101" pitchFamily="2" charset="-122"/>
                <a:ea typeface="华文行楷" panose="02010800040101010101" pitchFamily="2" charset="-122"/>
                <a:cs typeface="+mn-cs"/>
              </a:rPr>
              <a:t>目录</a:t>
            </a:r>
            <a:endParaRPr kumimoji="0" lang="en-US" altLang="zh-CN" sz="9600" b="0" i="0" u="none" strike="noStrike" kern="1200" cap="none" spc="0" normalizeH="0" baseline="0" noProof="0" dirty="0">
              <a:ln>
                <a:noFill/>
              </a:ln>
              <a:solidFill>
                <a:srgbClr val="C00000"/>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C00000"/>
                </a:solidFill>
                <a:effectLst/>
                <a:uLnTx/>
                <a:uFillTx/>
                <a:latin typeface="等线" panose="02010600030101010101" pitchFamily="2" charset="-122"/>
                <a:ea typeface="等线" panose="02010600030101010101" pitchFamily="2" charset="-122"/>
                <a:cs typeface="+mn-cs"/>
              </a:rPr>
              <a:t>content</a:t>
            </a:r>
            <a:endParaRPr kumimoji="0" lang="zh-CN" altLang="en-US" sz="4000" b="0" i="0" u="none" strike="noStrike" kern="1200" cap="none" spc="0" normalizeH="0" baseline="0" noProof="0" dirty="0">
              <a:ln>
                <a:noFill/>
              </a:ln>
              <a:solidFill>
                <a:srgbClr val="C00000"/>
              </a:solidFill>
              <a:effectLst/>
              <a:uLnTx/>
              <a:uFillTx/>
              <a:latin typeface="等线" panose="02010600030101010101" pitchFamily="2" charset="-122"/>
              <a:ea typeface="等线" panose="02010600030101010101" pitchFamily="2" charset="-122"/>
              <a:cs typeface="+mn-cs"/>
            </a:endParaRPr>
          </a:p>
        </p:txBody>
      </p:sp>
      <p:grpSp>
        <p:nvGrpSpPr>
          <p:cNvPr id="24" name="组合 23">
            <a:extLst>
              <a:ext uri="{FF2B5EF4-FFF2-40B4-BE49-F238E27FC236}">
                <a16:creationId xmlns:a16="http://schemas.microsoft.com/office/drawing/2014/main" id="{2584F18F-D3AB-5CB3-59F8-DE81AFF6E65B}"/>
              </a:ext>
            </a:extLst>
          </p:cNvPr>
          <p:cNvGrpSpPr/>
          <p:nvPr/>
        </p:nvGrpSpPr>
        <p:grpSpPr>
          <a:xfrm>
            <a:off x="5248543" y="642621"/>
            <a:ext cx="1273629" cy="544286"/>
            <a:chOff x="5034642" y="1306286"/>
            <a:chExt cx="1273629" cy="544286"/>
          </a:xfrm>
        </p:grpSpPr>
        <p:sp>
          <p:nvSpPr>
            <p:cNvPr id="6" name="箭头: V 形 5">
              <a:extLst>
                <a:ext uri="{FF2B5EF4-FFF2-40B4-BE49-F238E27FC236}">
                  <a16:creationId xmlns:a16="http://schemas.microsoft.com/office/drawing/2014/main" id="{87AB5AD0-A16D-462F-200C-7B5BD26FA3CD}"/>
                </a:ext>
              </a:extLst>
            </p:cNvPr>
            <p:cNvSpPr/>
            <p:nvPr/>
          </p:nvSpPr>
          <p:spPr>
            <a:xfrm>
              <a:off x="5034642"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 name="箭头: V 形 6">
              <a:extLst>
                <a:ext uri="{FF2B5EF4-FFF2-40B4-BE49-F238E27FC236}">
                  <a16:creationId xmlns:a16="http://schemas.microsoft.com/office/drawing/2014/main" id="{6E19B56F-73F9-D574-B36A-5200DAF76F48}"/>
                </a:ext>
              </a:extLst>
            </p:cNvPr>
            <p:cNvSpPr/>
            <p:nvPr/>
          </p:nvSpPr>
          <p:spPr>
            <a:xfrm>
              <a:off x="5459185"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9" name="箭头: V 形 8">
              <a:extLst>
                <a:ext uri="{FF2B5EF4-FFF2-40B4-BE49-F238E27FC236}">
                  <a16:creationId xmlns:a16="http://schemas.microsoft.com/office/drawing/2014/main" id="{B7CD8B7C-1900-CCD8-94A4-6C1B002DD1EA}"/>
                </a:ext>
              </a:extLst>
            </p:cNvPr>
            <p:cNvSpPr/>
            <p:nvPr/>
          </p:nvSpPr>
          <p:spPr>
            <a:xfrm>
              <a:off x="5883728"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5" name="组合 24">
            <a:extLst>
              <a:ext uri="{FF2B5EF4-FFF2-40B4-BE49-F238E27FC236}">
                <a16:creationId xmlns:a16="http://schemas.microsoft.com/office/drawing/2014/main" id="{CA60CA19-3E3B-6767-DCF8-5B341B96FD76}"/>
              </a:ext>
            </a:extLst>
          </p:cNvPr>
          <p:cNvGrpSpPr/>
          <p:nvPr/>
        </p:nvGrpSpPr>
        <p:grpSpPr>
          <a:xfrm>
            <a:off x="5249577" y="1711368"/>
            <a:ext cx="1273629" cy="544286"/>
            <a:chOff x="5034642" y="2242458"/>
            <a:chExt cx="1273629" cy="544286"/>
          </a:xfrm>
        </p:grpSpPr>
        <p:sp>
          <p:nvSpPr>
            <p:cNvPr id="12" name="箭头: V 形 11">
              <a:extLst>
                <a:ext uri="{FF2B5EF4-FFF2-40B4-BE49-F238E27FC236}">
                  <a16:creationId xmlns:a16="http://schemas.microsoft.com/office/drawing/2014/main" id="{DFFFC756-A3CE-7188-53B1-22B01154E9BE}"/>
                </a:ext>
              </a:extLst>
            </p:cNvPr>
            <p:cNvSpPr/>
            <p:nvPr/>
          </p:nvSpPr>
          <p:spPr>
            <a:xfrm>
              <a:off x="5034642"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3" name="箭头: V 形 12">
              <a:extLst>
                <a:ext uri="{FF2B5EF4-FFF2-40B4-BE49-F238E27FC236}">
                  <a16:creationId xmlns:a16="http://schemas.microsoft.com/office/drawing/2014/main" id="{43F01391-F9D6-B22D-630C-0BC45387B39C}"/>
                </a:ext>
              </a:extLst>
            </p:cNvPr>
            <p:cNvSpPr/>
            <p:nvPr/>
          </p:nvSpPr>
          <p:spPr>
            <a:xfrm>
              <a:off x="5459185"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4" name="箭头: V 形 13">
              <a:extLst>
                <a:ext uri="{FF2B5EF4-FFF2-40B4-BE49-F238E27FC236}">
                  <a16:creationId xmlns:a16="http://schemas.microsoft.com/office/drawing/2014/main" id="{5ADB9579-404F-8E71-C908-E4DB21EAFACF}"/>
                </a:ext>
              </a:extLst>
            </p:cNvPr>
            <p:cNvSpPr/>
            <p:nvPr/>
          </p:nvSpPr>
          <p:spPr>
            <a:xfrm>
              <a:off x="5883728"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8" name="组合 27">
            <a:extLst>
              <a:ext uri="{FF2B5EF4-FFF2-40B4-BE49-F238E27FC236}">
                <a16:creationId xmlns:a16="http://schemas.microsoft.com/office/drawing/2014/main" id="{A03B0E80-B5E3-A700-7BF8-3E733884C788}"/>
              </a:ext>
            </a:extLst>
          </p:cNvPr>
          <p:cNvGrpSpPr/>
          <p:nvPr/>
        </p:nvGrpSpPr>
        <p:grpSpPr>
          <a:xfrm>
            <a:off x="14602294" y="3119036"/>
            <a:ext cx="1273629" cy="544286"/>
            <a:chOff x="5034642" y="3178630"/>
            <a:chExt cx="1273629" cy="544286"/>
          </a:xfrm>
        </p:grpSpPr>
        <p:sp>
          <p:nvSpPr>
            <p:cNvPr id="15" name="箭头: V 形 14">
              <a:extLst>
                <a:ext uri="{FF2B5EF4-FFF2-40B4-BE49-F238E27FC236}">
                  <a16:creationId xmlns:a16="http://schemas.microsoft.com/office/drawing/2014/main" id="{A9CA9108-95DA-DB7E-AF8F-5801CD0CF1F6}"/>
                </a:ext>
              </a:extLst>
            </p:cNvPr>
            <p:cNvSpPr/>
            <p:nvPr/>
          </p:nvSpPr>
          <p:spPr>
            <a:xfrm>
              <a:off x="5034642"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 name="箭头: V 形 15">
              <a:extLst>
                <a:ext uri="{FF2B5EF4-FFF2-40B4-BE49-F238E27FC236}">
                  <a16:creationId xmlns:a16="http://schemas.microsoft.com/office/drawing/2014/main" id="{64D25881-3BE0-AFB7-AA12-40563168D7B4}"/>
                </a:ext>
              </a:extLst>
            </p:cNvPr>
            <p:cNvSpPr/>
            <p:nvPr/>
          </p:nvSpPr>
          <p:spPr>
            <a:xfrm>
              <a:off x="5459185"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7" name="箭头: V 形 16">
              <a:extLst>
                <a:ext uri="{FF2B5EF4-FFF2-40B4-BE49-F238E27FC236}">
                  <a16:creationId xmlns:a16="http://schemas.microsoft.com/office/drawing/2014/main" id="{7380BFA8-AAD3-D92A-9D8F-19032643E944}"/>
                </a:ext>
              </a:extLst>
            </p:cNvPr>
            <p:cNvSpPr/>
            <p:nvPr/>
          </p:nvSpPr>
          <p:spPr>
            <a:xfrm>
              <a:off x="5883728"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9" name="组合 28">
            <a:extLst>
              <a:ext uri="{FF2B5EF4-FFF2-40B4-BE49-F238E27FC236}">
                <a16:creationId xmlns:a16="http://schemas.microsoft.com/office/drawing/2014/main" id="{C0F6400F-C8B6-42A1-FD13-8A5BF7A6E627}"/>
              </a:ext>
            </a:extLst>
          </p:cNvPr>
          <p:cNvGrpSpPr/>
          <p:nvPr/>
        </p:nvGrpSpPr>
        <p:grpSpPr>
          <a:xfrm>
            <a:off x="14602293" y="4318365"/>
            <a:ext cx="1273629" cy="544286"/>
            <a:chOff x="5034642" y="4114802"/>
            <a:chExt cx="1273629" cy="544286"/>
          </a:xfrm>
        </p:grpSpPr>
        <p:sp>
          <p:nvSpPr>
            <p:cNvPr id="18" name="箭头: V 形 17">
              <a:extLst>
                <a:ext uri="{FF2B5EF4-FFF2-40B4-BE49-F238E27FC236}">
                  <a16:creationId xmlns:a16="http://schemas.microsoft.com/office/drawing/2014/main" id="{01490B26-E58D-644B-2FCA-21F6E86C60E1}"/>
                </a:ext>
              </a:extLst>
            </p:cNvPr>
            <p:cNvSpPr/>
            <p:nvPr/>
          </p:nvSpPr>
          <p:spPr>
            <a:xfrm>
              <a:off x="5034642"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 name="箭头: V 形 18">
              <a:extLst>
                <a:ext uri="{FF2B5EF4-FFF2-40B4-BE49-F238E27FC236}">
                  <a16:creationId xmlns:a16="http://schemas.microsoft.com/office/drawing/2014/main" id="{23788C35-0FF8-456E-30E6-847082BDCE4A}"/>
                </a:ext>
              </a:extLst>
            </p:cNvPr>
            <p:cNvSpPr/>
            <p:nvPr/>
          </p:nvSpPr>
          <p:spPr>
            <a:xfrm>
              <a:off x="5459185"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0" name="箭头: V 形 19">
              <a:extLst>
                <a:ext uri="{FF2B5EF4-FFF2-40B4-BE49-F238E27FC236}">
                  <a16:creationId xmlns:a16="http://schemas.microsoft.com/office/drawing/2014/main" id="{7EAA2CCC-66DD-A8DD-C518-E094B0CBE61B}"/>
                </a:ext>
              </a:extLst>
            </p:cNvPr>
            <p:cNvSpPr/>
            <p:nvPr/>
          </p:nvSpPr>
          <p:spPr>
            <a:xfrm>
              <a:off x="5883728"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30" name="组合 29">
            <a:extLst>
              <a:ext uri="{FF2B5EF4-FFF2-40B4-BE49-F238E27FC236}">
                <a16:creationId xmlns:a16="http://schemas.microsoft.com/office/drawing/2014/main" id="{02429A5F-06F6-CE26-4FA0-9F5C32FE08E2}"/>
              </a:ext>
            </a:extLst>
          </p:cNvPr>
          <p:cNvGrpSpPr/>
          <p:nvPr/>
        </p:nvGrpSpPr>
        <p:grpSpPr>
          <a:xfrm>
            <a:off x="14602292" y="5540556"/>
            <a:ext cx="1273629" cy="544286"/>
            <a:chOff x="5034642" y="5050974"/>
            <a:chExt cx="1273629" cy="544286"/>
          </a:xfrm>
        </p:grpSpPr>
        <p:sp>
          <p:nvSpPr>
            <p:cNvPr id="21" name="箭头: V 形 20">
              <a:extLst>
                <a:ext uri="{FF2B5EF4-FFF2-40B4-BE49-F238E27FC236}">
                  <a16:creationId xmlns:a16="http://schemas.microsoft.com/office/drawing/2014/main" id="{09F7A4F8-35A3-1FF4-8712-3AFB50086B4D}"/>
                </a:ext>
              </a:extLst>
            </p:cNvPr>
            <p:cNvSpPr/>
            <p:nvPr/>
          </p:nvSpPr>
          <p:spPr>
            <a:xfrm>
              <a:off x="5034642"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 name="箭头: V 形 21">
              <a:extLst>
                <a:ext uri="{FF2B5EF4-FFF2-40B4-BE49-F238E27FC236}">
                  <a16:creationId xmlns:a16="http://schemas.microsoft.com/office/drawing/2014/main" id="{AD4C9BC9-4984-B1CE-8B60-745CE3B2D956}"/>
                </a:ext>
              </a:extLst>
            </p:cNvPr>
            <p:cNvSpPr/>
            <p:nvPr/>
          </p:nvSpPr>
          <p:spPr>
            <a:xfrm>
              <a:off x="5459185"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3" name="箭头: V 形 22">
              <a:extLst>
                <a:ext uri="{FF2B5EF4-FFF2-40B4-BE49-F238E27FC236}">
                  <a16:creationId xmlns:a16="http://schemas.microsoft.com/office/drawing/2014/main" id="{449896D5-C166-725F-7A70-4C31DEF18DCB}"/>
                </a:ext>
              </a:extLst>
            </p:cNvPr>
            <p:cNvSpPr/>
            <p:nvPr/>
          </p:nvSpPr>
          <p:spPr>
            <a:xfrm>
              <a:off x="5883728"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37" name="组合 36">
            <a:extLst>
              <a:ext uri="{FF2B5EF4-FFF2-40B4-BE49-F238E27FC236}">
                <a16:creationId xmlns:a16="http://schemas.microsoft.com/office/drawing/2014/main" id="{F633EA82-9760-9C07-928E-8E27395CC10B}"/>
              </a:ext>
            </a:extLst>
          </p:cNvPr>
          <p:cNvGrpSpPr/>
          <p:nvPr/>
        </p:nvGrpSpPr>
        <p:grpSpPr>
          <a:xfrm>
            <a:off x="8060260" y="508321"/>
            <a:ext cx="2719668" cy="707886"/>
            <a:chOff x="7790950" y="577644"/>
            <a:chExt cx="2719668" cy="707886"/>
          </a:xfrm>
        </p:grpSpPr>
        <p:sp>
          <p:nvSpPr>
            <p:cNvPr id="31" name="文本框 30">
              <a:extLst>
                <a:ext uri="{FF2B5EF4-FFF2-40B4-BE49-F238E27FC236}">
                  <a16:creationId xmlns:a16="http://schemas.microsoft.com/office/drawing/2014/main" id="{A477DB7A-A617-3E4D-9149-4C399F56A19D}"/>
                </a:ext>
              </a:extLst>
            </p:cNvPr>
            <p:cNvSpPr txBox="1"/>
            <p:nvPr/>
          </p:nvSpPr>
          <p:spPr>
            <a:xfrm>
              <a:off x="7790950" y="577644"/>
              <a:ext cx="271278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a:ln>
                    <a:noFill/>
                  </a:ln>
                  <a:solidFill>
                    <a:prstClr val="black"/>
                  </a:solidFill>
                  <a:effectLst/>
                  <a:uLnTx/>
                  <a:uFillTx/>
                  <a:latin typeface="Segoe Print" panose="02000600000000000000" pitchFamily="2" charset="0"/>
                  <a:ea typeface="方正舒体" panose="02010601030101010101" pitchFamily="2" charset="-122"/>
                  <a:cs typeface="Calibri" panose="020F0502020204030204" pitchFamily="34" charset="0"/>
                </a:rPr>
                <a:t>现有市场</a:t>
              </a:r>
              <a:endPar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Calibri" panose="020F0502020204030204" pitchFamily="34" charset="0"/>
              </a:endParaRPr>
            </a:p>
          </p:txBody>
        </p:sp>
        <p:sp>
          <p:nvSpPr>
            <p:cNvPr id="32" name="文本框 31">
              <a:extLst>
                <a:ext uri="{FF2B5EF4-FFF2-40B4-BE49-F238E27FC236}">
                  <a16:creationId xmlns:a16="http://schemas.microsoft.com/office/drawing/2014/main" id="{DE8FB92D-7230-0283-734E-C437732554A6}"/>
                </a:ext>
              </a:extLst>
            </p:cNvPr>
            <p:cNvSpPr txBox="1"/>
            <p:nvPr/>
          </p:nvSpPr>
          <p:spPr>
            <a:xfrm>
              <a:off x="7797833" y="577644"/>
              <a:ext cx="2712785"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endPar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endParaRPr>
            </a:p>
          </p:txBody>
        </p:sp>
      </p:grpSp>
      <p:sp>
        <p:nvSpPr>
          <p:cNvPr id="33" name="文本框 32">
            <a:extLst>
              <a:ext uri="{FF2B5EF4-FFF2-40B4-BE49-F238E27FC236}">
                <a16:creationId xmlns:a16="http://schemas.microsoft.com/office/drawing/2014/main" id="{EE4A44FF-11AB-9D19-3F53-9079FCF1B9F3}"/>
              </a:ext>
            </a:extLst>
          </p:cNvPr>
          <p:cNvSpPr txBox="1"/>
          <p:nvPr/>
        </p:nvSpPr>
        <p:spPr>
          <a:xfrm>
            <a:off x="8067143" y="1674673"/>
            <a:ext cx="2712785"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PART02</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i="1" dirty="0">
                <a:solidFill>
                  <a:prstClr val="black"/>
                </a:solidFill>
                <a:latin typeface="Segoe Print" panose="02000600000000000000" pitchFamily="2" charset="0"/>
                <a:ea typeface="方正舒体" panose="02010601030101010101" pitchFamily="2" charset="-122"/>
              </a:rPr>
              <a:t>我们的创新点</a:t>
            </a:r>
            <a:endPar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endParaRPr>
          </a:p>
        </p:txBody>
      </p:sp>
      <p:sp>
        <p:nvSpPr>
          <p:cNvPr id="34" name="文本框 33">
            <a:extLst>
              <a:ext uri="{FF2B5EF4-FFF2-40B4-BE49-F238E27FC236}">
                <a16:creationId xmlns:a16="http://schemas.microsoft.com/office/drawing/2014/main" id="{F9F695A7-4916-2016-74C2-2DC406CF84AB}"/>
              </a:ext>
            </a:extLst>
          </p:cNvPr>
          <p:cNvSpPr txBox="1"/>
          <p:nvPr/>
        </p:nvSpPr>
        <p:spPr>
          <a:xfrm>
            <a:off x="17395598" y="3106606"/>
            <a:ext cx="277507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华文行楷" panose="02010800040101010101" pitchFamily="2" charset="-122"/>
                <a:cs typeface="+mn-cs"/>
              </a:rPr>
              <a:t>猎豹与哪吒</a:t>
            </a:r>
            <a:endParaRPr kumimoji="0" lang="en-US" altLang="zh-CN" sz="2000" b="0" i="1" u="none" strike="noStrike" kern="1200" cap="none" spc="0" normalizeH="0" baseline="0" noProof="0" dirty="0">
              <a:ln>
                <a:noFill/>
              </a:ln>
              <a:solidFill>
                <a:prstClr val="black"/>
              </a:solidFill>
              <a:effectLst/>
              <a:uLnTx/>
              <a:uFillTx/>
              <a:latin typeface="Segoe Print" panose="02000600000000000000" pitchFamily="2" charset="0"/>
              <a:ea typeface="华文行楷" panose="02010800040101010101" pitchFamily="2" charset="-122"/>
              <a:cs typeface="+mn-cs"/>
            </a:endParaRPr>
          </a:p>
        </p:txBody>
      </p:sp>
      <p:sp>
        <p:nvSpPr>
          <p:cNvPr id="35" name="文本框 34">
            <a:extLst>
              <a:ext uri="{FF2B5EF4-FFF2-40B4-BE49-F238E27FC236}">
                <a16:creationId xmlns:a16="http://schemas.microsoft.com/office/drawing/2014/main" id="{E8166C60-60B7-96B0-B1C1-EA99A32B9C12}"/>
              </a:ext>
            </a:extLst>
          </p:cNvPr>
          <p:cNvSpPr txBox="1"/>
          <p:nvPr/>
        </p:nvSpPr>
        <p:spPr>
          <a:xfrm>
            <a:off x="17548231" y="4269862"/>
            <a:ext cx="254370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rPr>
              <a:t>企业发展战略定位</a:t>
            </a:r>
          </a:p>
        </p:txBody>
      </p:sp>
      <p:sp>
        <p:nvSpPr>
          <p:cNvPr id="36" name="文本框 35">
            <a:extLst>
              <a:ext uri="{FF2B5EF4-FFF2-40B4-BE49-F238E27FC236}">
                <a16:creationId xmlns:a16="http://schemas.microsoft.com/office/drawing/2014/main" id="{B784D240-FB2F-6CA7-52C9-8488B1D6FF86}"/>
              </a:ext>
            </a:extLst>
          </p:cNvPr>
          <p:cNvSpPr txBox="1"/>
          <p:nvPr/>
        </p:nvSpPr>
        <p:spPr>
          <a:xfrm>
            <a:off x="17548231" y="5531765"/>
            <a:ext cx="254370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rPr>
              <a:t>相关解决办法及意见</a:t>
            </a:r>
          </a:p>
        </p:txBody>
      </p:sp>
    </p:spTree>
    <p:extLst>
      <p:ext uri="{BB962C8B-B14F-4D97-AF65-F5344CB8AC3E}">
        <p14:creationId xmlns:p14="http://schemas.microsoft.com/office/powerpoint/2010/main" val="1370909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EE24FED6-30CC-A0B2-9831-8C733CCF52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814321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30CACFF-D575-4044-CE55-DABC2ED529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1556" y="503375"/>
            <a:ext cx="4307741" cy="5851250"/>
          </a:xfrm>
          <a:prstGeom prst="rect">
            <a:avLst/>
          </a:prstGeom>
        </p:spPr>
      </p:pic>
      <p:sp>
        <p:nvSpPr>
          <p:cNvPr id="6" name="文本框 5">
            <a:extLst>
              <a:ext uri="{FF2B5EF4-FFF2-40B4-BE49-F238E27FC236}">
                <a16:creationId xmlns:a16="http://schemas.microsoft.com/office/drawing/2014/main" id="{8235D3D8-3D8F-53A1-5853-3F755A1445C5}"/>
              </a:ext>
            </a:extLst>
          </p:cNvPr>
          <p:cNvSpPr txBox="1"/>
          <p:nvPr/>
        </p:nvSpPr>
        <p:spPr>
          <a:xfrm>
            <a:off x="6391174" y="616017"/>
            <a:ext cx="5024388" cy="5078313"/>
          </a:xfrm>
          <a:prstGeom prst="rect">
            <a:avLst/>
          </a:prstGeom>
          <a:noFill/>
        </p:spPr>
        <p:txBody>
          <a:bodyPr wrap="square" rtlCol="0">
            <a:spAutoFit/>
          </a:bodyPr>
          <a:lstStyle/>
          <a:p>
            <a:r>
              <a:rPr lang="zh-CN" altLang="en-US" dirty="0"/>
              <a:t>系统总体设计即对有关系统全局问题的设计，也就是设计系统总的处理方案，又称系统概要设计。它包括系统规划与系统功能设计等内容。</a:t>
            </a:r>
          </a:p>
          <a:p>
            <a:r>
              <a:rPr lang="zh-CN" altLang="en-US" dirty="0"/>
              <a:t>“智慧食堂”系统主要有两类用户。分别是用户模块和管理员模块，详细规划如图</a:t>
            </a:r>
            <a:r>
              <a:rPr lang="en-US" altLang="zh-CN" dirty="0"/>
              <a:t>4-1</a:t>
            </a:r>
            <a:r>
              <a:rPr lang="zh-CN" altLang="en-US" dirty="0"/>
              <a:t>所示。</a:t>
            </a:r>
            <a:endParaRPr lang="en-US" altLang="zh-CN" dirty="0"/>
          </a:p>
          <a:p>
            <a:r>
              <a:rPr lang="zh-CN" altLang="en-US" dirty="0"/>
              <a:t>其中各子模块的主要功能如下：</a:t>
            </a:r>
          </a:p>
          <a:p>
            <a:r>
              <a:rPr lang="en-US" altLang="zh-CN" dirty="0"/>
              <a:t>1</a:t>
            </a:r>
            <a:r>
              <a:rPr lang="zh-CN" altLang="en-US" dirty="0"/>
              <a:t>、用户登录：用户进入网页先输入用户名与密码，选择权限登录，验证密码是否正确。如果密码正确，要记录登录的用户名和登录类型。</a:t>
            </a:r>
          </a:p>
          <a:p>
            <a:r>
              <a:rPr lang="en-US" altLang="zh-CN" dirty="0"/>
              <a:t>2</a:t>
            </a:r>
            <a:r>
              <a:rPr lang="zh-CN" altLang="en-US" dirty="0"/>
              <a:t>、新用户注册：新用户填写用户账号，用户姓名，密码，确认密码，联系方式等信息，完成注册。</a:t>
            </a:r>
          </a:p>
          <a:p>
            <a:r>
              <a:rPr lang="en-US" altLang="zh-CN" dirty="0"/>
              <a:t>3</a:t>
            </a:r>
            <a:r>
              <a:rPr lang="zh-CN" altLang="en-US" dirty="0"/>
              <a:t>、查看“智慧食堂”系统信息：用户登录成功后，能够按分类或者查找“智慧食堂”信息进行管理。</a:t>
            </a:r>
          </a:p>
          <a:p>
            <a:r>
              <a:rPr lang="en-US" altLang="zh-CN" dirty="0"/>
              <a:t>4</a:t>
            </a:r>
            <a:r>
              <a:rPr lang="zh-CN" altLang="en-US" dirty="0"/>
              <a:t>、主页内容管理：管理员登录以后，可以对首页，个人中心，用户管理，菜品分类管理，菜品信息管理，留言板管理，系统管理，订单管理进行详细操作。</a:t>
            </a:r>
          </a:p>
        </p:txBody>
      </p:sp>
    </p:spTree>
    <p:extLst>
      <p:ext uri="{BB962C8B-B14F-4D97-AF65-F5344CB8AC3E}">
        <p14:creationId xmlns:p14="http://schemas.microsoft.com/office/powerpoint/2010/main" val="2953144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3FD7C24F-5416-7BBE-A588-DD8B6D7B2E20}"/>
              </a:ext>
            </a:extLst>
          </p:cNvPr>
          <p:cNvSpPr/>
          <p:nvPr/>
        </p:nvSpPr>
        <p:spPr>
          <a:xfrm>
            <a:off x="0" y="0"/>
            <a:ext cx="12192000" cy="6894513"/>
          </a:xfrm>
          <a:prstGeom prst="rect">
            <a:avLst/>
          </a:prstGeom>
          <a:solidFill>
            <a:schemeClr val="tx1">
              <a:lumMod val="95000"/>
              <a:lumOff val="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useBgFill="1">
        <p:nvSpPr>
          <p:cNvPr id="8" name="椭圆 7">
            <a:extLst>
              <a:ext uri="{FF2B5EF4-FFF2-40B4-BE49-F238E27FC236}">
                <a16:creationId xmlns:a16="http://schemas.microsoft.com/office/drawing/2014/main" id="{26D389F0-ECA2-380B-2DC9-3298A59C1FC0}"/>
              </a:ext>
            </a:extLst>
          </p:cNvPr>
          <p:cNvSpPr/>
          <p:nvPr/>
        </p:nvSpPr>
        <p:spPr>
          <a:xfrm>
            <a:off x="402657" y="698251"/>
            <a:ext cx="5534526" cy="5534526"/>
          </a:xfrm>
          <a:prstGeom prst="ellipse">
            <a:avLst/>
          </a:prstGeom>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useBgFill="1">
        <p:nvSpPr>
          <p:cNvPr id="9" name="椭圆 8">
            <a:extLst>
              <a:ext uri="{FF2B5EF4-FFF2-40B4-BE49-F238E27FC236}">
                <a16:creationId xmlns:a16="http://schemas.microsoft.com/office/drawing/2014/main" id="{E029C82C-A7FA-526D-E5B1-73DEF0239F96}"/>
              </a:ext>
            </a:extLst>
          </p:cNvPr>
          <p:cNvSpPr/>
          <p:nvPr/>
        </p:nvSpPr>
        <p:spPr>
          <a:xfrm>
            <a:off x="918412" y="1214005"/>
            <a:ext cx="4503017" cy="4503017"/>
          </a:xfrm>
          <a:prstGeom prst="ellipse">
            <a:avLst/>
          </a:prstGeom>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useBgFill="1">
        <p:nvSpPr>
          <p:cNvPr id="10" name="椭圆 9">
            <a:extLst>
              <a:ext uri="{FF2B5EF4-FFF2-40B4-BE49-F238E27FC236}">
                <a16:creationId xmlns:a16="http://schemas.microsoft.com/office/drawing/2014/main" id="{21FD8F90-0B6C-4A75-03E3-BC6283D62D8F}"/>
              </a:ext>
            </a:extLst>
          </p:cNvPr>
          <p:cNvSpPr/>
          <p:nvPr/>
        </p:nvSpPr>
        <p:spPr>
          <a:xfrm>
            <a:off x="1331495" y="1627088"/>
            <a:ext cx="3676850" cy="3676850"/>
          </a:xfrm>
          <a:prstGeom prst="ellipse">
            <a:avLst/>
          </a:prstGeom>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2" name="文本框 1">
            <a:extLst>
              <a:ext uri="{FF2B5EF4-FFF2-40B4-BE49-F238E27FC236}">
                <a16:creationId xmlns:a16="http://schemas.microsoft.com/office/drawing/2014/main" id="{C0392D12-7DF1-0D27-406B-0C5EE3379C66}"/>
              </a:ext>
            </a:extLst>
          </p:cNvPr>
          <p:cNvSpPr txBox="1"/>
          <p:nvPr/>
        </p:nvSpPr>
        <p:spPr>
          <a:xfrm>
            <a:off x="6339840" y="58846"/>
            <a:ext cx="5666282" cy="6740307"/>
          </a:xfrm>
          <a:prstGeom prst="rect">
            <a:avLst/>
          </a:prstGeom>
          <a:noFill/>
        </p:spPr>
        <p:txBody>
          <a:bodyPr wrap="square" rtlCol="0">
            <a:spAutoFit/>
          </a:bodyPr>
          <a:lstStyle/>
          <a:p>
            <a:r>
              <a:rPr lang="zh-CN" altLang="en-US" dirty="0">
                <a:solidFill>
                  <a:schemeClr val="bg1"/>
                </a:solidFill>
              </a:rPr>
              <a:t>一、多模态</a:t>
            </a:r>
            <a:r>
              <a:rPr lang="en-US" altLang="zh-CN" dirty="0">
                <a:solidFill>
                  <a:schemeClr val="bg1"/>
                </a:solidFill>
              </a:rPr>
              <a:t>AI</a:t>
            </a:r>
            <a:r>
              <a:rPr lang="zh-CN" altLang="en-US" dirty="0">
                <a:solidFill>
                  <a:schemeClr val="bg1"/>
                </a:solidFill>
              </a:rPr>
              <a:t>视觉结算系统</a:t>
            </a:r>
          </a:p>
          <a:p>
            <a:r>
              <a:rPr lang="en-US" altLang="zh-CN" dirty="0">
                <a:solidFill>
                  <a:schemeClr val="bg1"/>
                </a:solidFill>
              </a:rPr>
              <a:t>【</a:t>
            </a:r>
            <a:r>
              <a:rPr lang="zh-CN" altLang="en-US" dirty="0">
                <a:solidFill>
                  <a:schemeClr val="bg1"/>
                </a:solidFill>
              </a:rPr>
              <a:t>算法创新</a:t>
            </a:r>
            <a:r>
              <a:rPr lang="en-US" altLang="zh-CN" dirty="0">
                <a:solidFill>
                  <a:schemeClr val="bg1"/>
                </a:solidFill>
              </a:rPr>
              <a:t>】</a:t>
            </a:r>
          </a:p>
          <a:p>
            <a:r>
              <a:rPr lang="en-US" altLang="zh-CN" dirty="0">
                <a:solidFill>
                  <a:schemeClr val="bg1"/>
                </a:solidFill>
              </a:rPr>
              <a:t>1. </a:t>
            </a:r>
            <a:r>
              <a:rPr lang="zh-CN" altLang="en-US" dirty="0">
                <a:solidFill>
                  <a:schemeClr val="bg1"/>
                </a:solidFill>
              </a:rPr>
              <a:t>首创</a:t>
            </a:r>
            <a:r>
              <a:rPr lang="en-US" altLang="zh-CN" dirty="0">
                <a:solidFill>
                  <a:schemeClr val="bg1"/>
                </a:solidFill>
              </a:rPr>
              <a:t>"</a:t>
            </a:r>
            <a:r>
              <a:rPr lang="zh-CN" altLang="en-US" dirty="0">
                <a:solidFill>
                  <a:schemeClr val="bg1"/>
                </a:solidFill>
              </a:rPr>
              <a:t>光谱指纹</a:t>
            </a:r>
            <a:r>
              <a:rPr lang="en-US" altLang="zh-CN" dirty="0">
                <a:solidFill>
                  <a:schemeClr val="bg1"/>
                </a:solidFill>
              </a:rPr>
              <a:t>+</a:t>
            </a:r>
            <a:r>
              <a:rPr lang="zh-CN" altLang="en-US" dirty="0">
                <a:solidFill>
                  <a:schemeClr val="bg1"/>
                </a:solidFill>
              </a:rPr>
              <a:t>三维拓扑</a:t>
            </a:r>
            <a:r>
              <a:rPr lang="en-US" altLang="zh-CN" dirty="0">
                <a:solidFill>
                  <a:schemeClr val="bg1"/>
                </a:solidFill>
              </a:rPr>
              <a:t>"</a:t>
            </a:r>
            <a:r>
              <a:rPr lang="zh-CN" altLang="en-US" dirty="0">
                <a:solidFill>
                  <a:schemeClr val="bg1"/>
                </a:solidFill>
              </a:rPr>
              <a:t>双流神经网络算法</a:t>
            </a:r>
          </a:p>
          <a:p>
            <a:r>
              <a:rPr lang="en-US" altLang="zh-CN" dirty="0">
                <a:solidFill>
                  <a:schemeClr val="bg1"/>
                </a:solidFill>
              </a:rPr>
              <a:t>- </a:t>
            </a:r>
            <a:r>
              <a:rPr lang="zh-CN" altLang="en-US" dirty="0">
                <a:solidFill>
                  <a:schemeClr val="bg1"/>
                </a:solidFill>
              </a:rPr>
              <a:t>构建跨模态特征融合模型，将</a:t>
            </a:r>
            <a:r>
              <a:rPr lang="en-US" altLang="zh-CN" dirty="0">
                <a:solidFill>
                  <a:schemeClr val="bg1"/>
                </a:solidFill>
              </a:rPr>
              <a:t>400-1700nm</a:t>
            </a:r>
            <a:r>
              <a:rPr lang="zh-CN" altLang="en-US" dirty="0">
                <a:solidFill>
                  <a:schemeClr val="bg1"/>
                </a:solidFill>
              </a:rPr>
              <a:t>多光谱特征与毫米级三维点云数据融合</a:t>
            </a:r>
          </a:p>
          <a:p>
            <a:r>
              <a:rPr lang="en-US" altLang="zh-CN" dirty="0">
                <a:solidFill>
                  <a:schemeClr val="bg1"/>
                </a:solidFill>
              </a:rPr>
              <a:t>- </a:t>
            </a:r>
            <a:r>
              <a:rPr lang="zh-CN" altLang="en-US" dirty="0">
                <a:solidFill>
                  <a:schemeClr val="bg1"/>
                </a:solidFill>
              </a:rPr>
              <a:t>开发基于图卷积网络的堆叠菜品解构算法，实现</a:t>
            </a:r>
            <a:r>
              <a:rPr lang="en-US" altLang="zh-CN" dirty="0">
                <a:solidFill>
                  <a:schemeClr val="bg1"/>
                </a:solidFill>
              </a:rPr>
              <a:t>99.3%</a:t>
            </a:r>
            <a:r>
              <a:rPr lang="zh-CN" altLang="en-US" dirty="0">
                <a:solidFill>
                  <a:schemeClr val="bg1"/>
                </a:solidFill>
              </a:rPr>
              <a:t>的堆叠解耦精度</a:t>
            </a:r>
          </a:p>
          <a:p>
            <a:endParaRPr lang="zh-CN" altLang="en-US" dirty="0">
              <a:solidFill>
                <a:schemeClr val="bg1"/>
              </a:solidFill>
            </a:endParaRPr>
          </a:p>
          <a:p>
            <a:r>
              <a:rPr lang="en-US" altLang="zh-CN" dirty="0">
                <a:solidFill>
                  <a:schemeClr val="bg1"/>
                </a:solidFill>
              </a:rPr>
              <a:t>2. </a:t>
            </a:r>
            <a:r>
              <a:rPr lang="zh-CN" altLang="en-US" dirty="0">
                <a:solidFill>
                  <a:schemeClr val="bg1"/>
                </a:solidFill>
              </a:rPr>
              <a:t>动态对抗式增量学习框架</a:t>
            </a:r>
          </a:p>
          <a:p>
            <a:r>
              <a:rPr lang="en-US" altLang="zh-CN" dirty="0">
                <a:solidFill>
                  <a:schemeClr val="bg1"/>
                </a:solidFill>
              </a:rPr>
              <a:t>- </a:t>
            </a:r>
            <a:r>
              <a:rPr lang="zh-CN" altLang="en-US" dirty="0">
                <a:solidFill>
                  <a:schemeClr val="bg1"/>
                </a:solidFill>
              </a:rPr>
              <a:t>引入元学习机制，每天自动生成</a:t>
            </a:r>
            <a:r>
              <a:rPr lang="en-US" altLang="zh-CN" dirty="0">
                <a:solidFill>
                  <a:schemeClr val="bg1"/>
                </a:solidFill>
              </a:rPr>
              <a:t>2000</a:t>
            </a:r>
            <a:r>
              <a:rPr lang="zh-CN" altLang="en-US" dirty="0">
                <a:solidFill>
                  <a:schemeClr val="bg1"/>
                </a:solidFill>
              </a:rPr>
              <a:t>组虚拟菜品对抗样本</a:t>
            </a:r>
          </a:p>
          <a:p>
            <a:r>
              <a:rPr lang="en-US" altLang="zh-CN" dirty="0">
                <a:solidFill>
                  <a:schemeClr val="bg1"/>
                </a:solidFill>
              </a:rPr>
              <a:t>- </a:t>
            </a:r>
            <a:r>
              <a:rPr lang="zh-CN" altLang="en-US" dirty="0">
                <a:solidFill>
                  <a:schemeClr val="bg1"/>
                </a:solidFill>
              </a:rPr>
              <a:t>实现模型日更新迭代，新菜品识别准确率</a:t>
            </a:r>
            <a:r>
              <a:rPr lang="en-US" altLang="zh-CN" dirty="0">
                <a:solidFill>
                  <a:schemeClr val="bg1"/>
                </a:solidFill>
              </a:rPr>
              <a:t>24</a:t>
            </a:r>
            <a:r>
              <a:rPr lang="zh-CN" altLang="en-US" dirty="0">
                <a:solidFill>
                  <a:schemeClr val="bg1"/>
                </a:solidFill>
              </a:rPr>
              <a:t>小时内提升至</a:t>
            </a:r>
            <a:r>
              <a:rPr lang="en-US" altLang="zh-CN" dirty="0">
                <a:solidFill>
                  <a:schemeClr val="bg1"/>
                </a:solidFill>
              </a:rPr>
              <a:t>95%</a:t>
            </a:r>
          </a:p>
          <a:p>
            <a:r>
              <a:rPr lang="en-US" altLang="zh-CN" dirty="0">
                <a:solidFill>
                  <a:schemeClr val="bg1"/>
                </a:solidFill>
              </a:rPr>
              <a:t>【</a:t>
            </a:r>
            <a:r>
              <a:rPr lang="zh-CN" altLang="en-US" dirty="0">
                <a:solidFill>
                  <a:schemeClr val="bg1"/>
                </a:solidFill>
              </a:rPr>
              <a:t>实体创新</a:t>
            </a:r>
            <a:r>
              <a:rPr lang="en-US" altLang="zh-CN" dirty="0">
                <a:solidFill>
                  <a:schemeClr val="bg1"/>
                </a:solidFill>
              </a:rPr>
              <a:t>】</a:t>
            </a:r>
          </a:p>
          <a:p>
            <a:r>
              <a:rPr lang="en-US" altLang="zh-CN" dirty="0">
                <a:solidFill>
                  <a:schemeClr val="bg1"/>
                </a:solidFill>
              </a:rPr>
              <a:t>1. </a:t>
            </a:r>
            <a:r>
              <a:rPr lang="zh-CN" altLang="en-US" dirty="0">
                <a:solidFill>
                  <a:schemeClr val="bg1"/>
                </a:solidFill>
              </a:rPr>
              <a:t>多模态感知终端</a:t>
            </a:r>
          </a:p>
          <a:p>
            <a:r>
              <a:rPr lang="en-US" altLang="zh-CN" dirty="0">
                <a:solidFill>
                  <a:schemeClr val="bg1"/>
                </a:solidFill>
              </a:rPr>
              <a:t>- </a:t>
            </a:r>
            <a:r>
              <a:rPr lang="zh-CN" altLang="en-US" dirty="0">
                <a:solidFill>
                  <a:schemeClr val="bg1"/>
                </a:solidFill>
              </a:rPr>
              <a:t>集成高光谱相机</a:t>
            </a:r>
            <a:r>
              <a:rPr lang="en-US" altLang="zh-CN" dirty="0">
                <a:solidFill>
                  <a:schemeClr val="bg1"/>
                </a:solidFill>
              </a:rPr>
              <a:t>(0.1nm</a:t>
            </a:r>
            <a:r>
              <a:rPr lang="zh-CN" altLang="en-US" dirty="0">
                <a:solidFill>
                  <a:schemeClr val="bg1"/>
                </a:solidFill>
              </a:rPr>
              <a:t>分辨率</a:t>
            </a:r>
            <a:r>
              <a:rPr lang="en-US" altLang="zh-CN" dirty="0">
                <a:solidFill>
                  <a:schemeClr val="bg1"/>
                </a:solidFill>
              </a:rPr>
              <a:t>)+TOF</a:t>
            </a:r>
            <a:r>
              <a:rPr lang="zh-CN" altLang="en-US" dirty="0">
                <a:solidFill>
                  <a:schemeClr val="bg1"/>
                </a:solidFill>
              </a:rPr>
              <a:t>激光雷达</a:t>
            </a:r>
            <a:r>
              <a:rPr lang="en-US" altLang="zh-CN" dirty="0">
                <a:solidFill>
                  <a:schemeClr val="bg1"/>
                </a:solidFill>
              </a:rPr>
              <a:t>+</a:t>
            </a:r>
            <a:r>
              <a:rPr lang="zh-CN" altLang="en-US" dirty="0">
                <a:solidFill>
                  <a:schemeClr val="bg1"/>
                </a:solidFill>
              </a:rPr>
              <a:t>压电薄膜称重传感器</a:t>
            </a:r>
          </a:p>
          <a:p>
            <a:r>
              <a:rPr lang="en-US" altLang="zh-CN" dirty="0">
                <a:solidFill>
                  <a:schemeClr val="bg1"/>
                </a:solidFill>
              </a:rPr>
              <a:t>- </a:t>
            </a:r>
            <a:r>
              <a:rPr lang="zh-CN" altLang="en-US" dirty="0">
                <a:solidFill>
                  <a:schemeClr val="bg1"/>
                </a:solidFill>
              </a:rPr>
              <a:t>研发抗干扰复合传感阵列，支持</a:t>
            </a:r>
            <a:r>
              <a:rPr lang="en-US" altLang="zh-CN" dirty="0">
                <a:solidFill>
                  <a:schemeClr val="bg1"/>
                </a:solidFill>
              </a:rPr>
              <a:t>-20℃</a:t>
            </a:r>
            <a:r>
              <a:rPr lang="zh-CN" altLang="en-US" dirty="0">
                <a:solidFill>
                  <a:schemeClr val="bg1"/>
                </a:solidFill>
              </a:rPr>
              <a:t>至</a:t>
            </a:r>
            <a:r>
              <a:rPr lang="en-US" altLang="zh-CN" dirty="0">
                <a:solidFill>
                  <a:schemeClr val="bg1"/>
                </a:solidFill>
              </a:rPr>
              <a:t>60℃</a:t>
            </a:r>
            <a:r>
              <a:rPr lang="zh-CN" altLang="en-US" dirty="0">
                <a:solidFill>
                  <a:schemeClr val="bg1"/>
                </a:solidFill>
              </a:rPr>
              <a:t>极端环境稳定工作</a:t>
            </a:r>
          </a:p>
          <a:p>
            <a:endParaRPr lang="zh-CN" altLang="en-US" dirty="0">
              <a:solidFill>
                <a:schemeClr val="bg1"/>
              </a:solidFill>
            </a:endParaRPr>
          </a:p>
          <a:p>
            <a:r>
              <a:rPr lang="en-US" altLang="zh-CN" dirty="0">
                <a:solidFill>
                  <a:schemeClr val="bg1"/>
                </a:solidFill>
              </a:rPr>
              <a:t>2. </a:t>
            </a:r>
            <a:r>
              <a:rPr lang="zh-CN" altLang="en-US" dirty="0">
                <a:solidFill>
                  <a:schemeClr val="bg1"/>
                </a:solidFill>
              </a:rPr>
              <a:t>边缘智能结算终端</a:t>
            </a:r>
          </a:p>
          <a:p>
            <a:r>
              <a:rPr lang="en-US" altLang="zh-CN" dirty="0">
                <a:solidFill>
                  <a:schemeClr val="bg1"/>
                </a:solidFill>
              </a:rPr>
              <a:t>- </a:t>
            </a:r>
            <a:r>
              <a:rPr lang="zh-CN" altLang="en-US" dirty="0">
                <a:solidFill>
                  <a:schemeClr val="bg1"/>
                </a:solidFill>
              </a:rPr>
              <a:t>内置寒武纪</a:t>
            </a:r>
            <a:r>
              <a:rPr lang="en-US" altLang="zh-CN" dirty="0">
                <a:solidFill>
                  <a:schemeClr val="bg1"/>
                </a:solidFill>
              </a:rPr>
              <a:t>MLU370-S4</a:t>
            </a:r>
            <a:r>
              <a:rPr lang="zh-CN" altLang="en-US" dirty="0">
                <a:solidFill>
                  <a:schemeClr val="bg1"/>
                </a:solidFill>
              </a:rPr>
              <a:t>芯片，算力达</a:t>
            </a:r>
            <a:r>
              <a:rPr lang="en-US" altLang="zh-CN" dirty="0">
                <a:solidFill>
                  <a:schemeClr val="bg1"/>
                </a:solidFill>
              </a:rPr>
              <a:t>64TOPS</a:t>
            </a:r>
          </a:p>
          <a:p>
            <a:r>
              <a:rPr lang="en-US" altLang="zh-CN" dirty="0">
                <a:solidFill>
                  <a:schemeClr val="bg1"/>
                </a:solidFill>
              </a:rPr>
              <a:t>- </a:t>
            </a:r>
            <a:r>
              <a:rPr lang="zh-CN" altLang="en-US" dirty="0">
                <a:solidFill>
                  <a:schemeClr val="bg1"/>
                </a:solidFill>
              </a:rPr>
              <a:t>双模支付验证架构：</a:t>
            </a:r>
            <a:r>
              <a:rPr lang="en-US" altLang="zh-CN" dirty="0">
                <a:solidFill>
                  <a:schemeClr val="bg1"/>
                </a:solidFill>
              </a:rPr>
              <a:t>3D</a:t>
            </a:r>
            <a:r>
              <a:rPr lang="zh-CN" altLang="en-US" dirty="0">
                <a:solidFill>
                  <a:schemeClr val="bg1"/>
                </a:solidFill>
              </a:rPr>
              <a:t>结构光</a:t>
            </a:r>
            <a:r>
              <a:rPr lang="en-US" altLang="zh-CN" dirty="0">
                <a:solidFill>
                  <a:schemeClr val="bg1"/>
                </a:solidFill>
              </a:rPr>
              <a:t>(0.3</a:t>
            </a:r>
            <a:r>
              <a:rPr lang="zh-CN" altLang="en-US" dirty="0">
                <a:solidFill>
                  <a:schemeClr val="bg1"/>
                </a:solidFill>
              </a:rPr>
              <a:t>秒</a:t>
            </a:r>
            <a:r>
              <a:rPr lang="en-US" altLang="zh-CN" dirty="0">
                <a:solidFill>
                  <a:schemeClr val="bg1"/>
                </a:solidFill>
              </a:rPr>
              <a:t>)+UWB</a:t>
            </a:r>
            <a:r>
              <a:rPr lang="zh-CN" altLang="en-US" dirty="0">
                <a:solidFill>
                  <a:schemeClr val="bg1"/>
                </a:solidFill>
              </a:rPr>
              <a:t>近场通信</a:t>
            </a:r>
            <a:r>
              <a:rPr lang="en-US" altLang="zh-CN" dirty="0">
                <a:solidFill>
                  <a:schemeClr val="bg1"/>
                </a:solidFill>
              </a:rPr>
              <a:t>(0.2</a:t>
            </a:r>
            <a:r>
              <a:rPr lang="zh-CN" altLang="en-US" dirty="0">
                <a:solidFill>
                  <a:schemeClr val="bg1"/>
                </a:solidFill>
              </a:rPr>
              <a:t>秒</a:t>
            </a:r>
            <a:r>
              <a:rPr lang="en-US" altLang="zh-CN" dirty="0">
                <a:solidFill>
                  <a:schemeClr val="bg1"/>
                </a:solidFill>
              </a:rPr>
              <a:t>)</a:t>
            </a:r>
            <a:endParaRPr lang="zh-CN" altLang="en-US" dirty="0">
              <a:solidFill>
                <a:schemeClr val="bg1"/>
              </a:solidFill>
            </a:endParaRPr>
          </a:p>
        </p:txBody>
      </p:sp>
      <p:grpSp>
        <p:nvGrpSpPr>
          <p:cNvPr id="16" name="组合 15">
            <a:extLst>
              <a:ext uri="{FF2B5EF4-FFF2-40B4-BE49-F238E27FC236}">
                <a16:creationId xmlns:a16="http://schemas.microsoft.com/office/drawing/2014/main" id="{B062FC34-693C-6A97-8F14-16E174DFFA4B}"/>
              </a:ext>
            </a:extLst>
          </p:cNvPr>
          <p:cNvGrpSpPr/>
          <p:nvPr/>
        </p:nvGrpSpPr>
        <p:grpSpPr>
          <a:xfrm>
            <a:off x="0" y="0"/>
            <a:ext cx="12192000" cy="6863956"/>
            <a:chOff x="0" y="-5956"/>
            <a:chExt cx="12192000" cy="6863956"/>
          </a:xfrm>
        </p:grpSpPr>
        <p:pic>
          <p:nvPicPr>
            <p:cNvPr id="14" name="图片 13">
              <a:extLst>
                <a:ext uri="{FF2B5EF4-FFF2-40B4-BE49-F238E27FC236}">
                  <a16:creationId xmlns:a16="http://schemas.microsoft.com/office/drawing/2014/main" id="{373F835E-6C6B-ED1B-42C4-5BBBFFC2B8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956"/>
              <a:ext cx="12192000" cy="6863956"/>
            </a:xfrm>
            <a:prstGeom prst="rect">
              <a:avLst/>
            </a:prstGeom>
          </p:spPr>
        </p:pic>
        <p:sp>
          <p:nvSpPr>
            <p:cNvPr id="15" name="文本框 14">
              <a:extLst>
                <a:ext uri="{FF2B5EF4-FFF2-40B4-BE49-F238E27FC236}">
                  <a16:creationId xmlns:a16="http://schemas.microsoft.com/office/drawing/2014/main" id="{059C10C1-788E-626C-E286-A4E6EABE497B}"/>
                </a:ext>
              </a:extLst>
            </p:cNvPr>
            <p:cNvSpPr txBox="1"/>
            <p:nvPr/>
          </p:nvSpPr>
          <p:spPr>
            <a:xfrm>
              <a:off x="5112538" y="4934606"/>
              <a:ext cx="1966923" cy="369332"/>
            </a:xfrm>
            <a:prstGeom prst="rect">
              <a:avLst/>
            </a:prstGeom>
            <a:noFill/>
          </p:spPr>
          <p:txBody>
            <a:bodyPr wrap="square" rtlCol="0">
              <a:spAutoFit/>
            </a:bodyPr>
            <a:lstStyle/>
            <a:p>
              <a:pPr algn="ctr"/>
              <a:r>
                <a:rPr lang="zh-CN" altLang="en-US" dirty="0"/>
                <a:t>订单管理界面图</a:t>
              </a:r>
            </a:p>
          </p:txBody>
        </p:sp>
      </p:grpSp>
    </p:spTree>
    <p:extLst>
      <p:ext uri="{BB962C8B-B14F-4D97-AF65-F5344CB8AC3E}">
        <p14:creationId xmlns:p14="http://schemas.microsoft.com/office/powerpoint/2010/main" val="3457662009"/>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74000" b="-74000"/>
          </a:stretch>
        </a:blipFill>
        <a:effectLst/>
      </p:bgPr>
    </p:bg>
    <p:spTree>
      <p:nvGrpSpPr>
        <p:cNvPr id="1" name="">
          <a:extLst>
            <a:ext uri="{FF2B5EF4-FFF2-40B4-BE49-F238E27FC236}">
              <a16:creationId xmlns:a16="http://schemas.microsoft.com/office/drawing/2014/main" id="{D8DA3C44-F859-E746-886C-31E4FC8C95CF}"/>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F1594B8C-F2A6-F5C3-84F8-4BA7D1886B89}"/>
              </a:ext>
            </a:extLst>
          </p:cNvPr>
          <p:cNvSpPr/>
          <p:nvPr/>
        </p:nvSpPr>
        <p:spPr>
          <a:xfrm>
            <a:off x="0" y="0"/>
            <a:ext cx="12192000" cy="6858000"/>
          </a:xfrm>
          <a:prstGeom prst="rect">
            <a:avLst/>
          </a:prstGeom>
          <a:solidFill>
            <a:schemeClr val="tx1">
              <a:lumMod val="95000"/>
              <a:lumOff val="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useBgFill="1">
        <p:nvSpPr>
          <p:cNvPr id="8" name="椭圆 7">
            <a:extLst>
              <a:ext uri="{FF2B5EF4-FFF2-40B4-BE49-F238E27FC236}">
                <a16:creationId xmlns:a16="http://schemas.microsoft.com/office/drawing/2014/main" id="{7A2B72D1-BC29-813D-844F-2869EC031AFF}"/>
              </a:ext>
            </a:extLst>
          </p:cNvPr>
          <p:cNvSpPr/>
          <p:nvPr/>
        </p:nvSpPr>
        <p:spPr>
          <a:xfrm>
            <a:off x="402657" y="698251"/>
            <a:ext cx="5534526" cy="5534526"/>
          </a:xfrm>
          <a:prstGeom prst="ellipse">
            <a:avLst/>
          </a:prstGeom>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useBgFill="1">
        <p:nvSpPr>
          <p:cNvPr id="9" name="椭圆 8">
            <a:extLst>
              <a:ext uri="{FF2B5EF4-FFF2-40B4-BE49-F238E27FC236}">
                <a16:creationId xmlns:a16="http://schemas.microsoft.com/office/drawing/2014/main" id="{3082DC1C-DC9A-7135-61DA-2186C9BCBD89}"/>
              </a:ext>
            </a:extLst>
          </p:cNvPr>
          <p:cNvSpPr/>
          <p:nvPr/>
        </p:nvSpPr>
        <p:spPr>
          <a:xfrm rot="17584306">
            <a:off x="918412" y="1214005"/>
            <a:ext cx="4503017" cy="4503017"/>
          </a:xfrm>
          <a:prstGeom prst="ellipse">
            <a:avLst/>
          </a:prstGeom>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useBgFill="1">
        <p:nvSpPr>
          <p:cNvPr id="10" name="椭圆 9">
            <a:extLst>
              <a:ext uri="{FF2B5EF4-FFF2-40B4-BE49-F238E27FC236}">
                <a16:creationId xmlns:a16="http://schemas.microsoft.com/office/drawing/2014/main" id="{BB7157DD-1D69-C1CE-3F0E-A6A64F8C22D5}"/>
              </a:ext>
            </a:extLst>
          </p:cNvPr>
          <p:cNvSpPr/>
          <p:nvPr/>
        </p:nvSpPr>
        <p:spPr>
          <a:xfrm rot="3763829">
            <a:off x="1331495" y="1627088"/>
            <a:ext cx="3676850" cy="3676850"/>
          </a:xfrm>
          <a:prstGeom prst="ellipse">
            <a:avLst/>
          </a:prstGeom>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2" name="文本框 1">
            <a:extLst>
              <a:ext uri="{FF2B5EF4-FFF2-40B4-BE49-F238E27FC236}">
                <a16:creationId xmlns:a16="http://schemas.microsoft.com/office/drawing/2014/main" id="{ECD2554B-592E-E8FC-8CE4-3D3CEA8C75D2}"/>
              </a:ext>
            </a:extLst>
          </p:cNvPr>
          <p:cNvSpPr txBox="1"/>
          <p:nvPr/>
        </p:nvSpPr>
        <p:spPr>
          <a:xfrm>
            <a:off x="6228017" y="280755"/>
            <a:ext cx="5709942" cy="5632311"/>
          </a:xfrm>
          <a:prstGeom prst="rect">
            <a:avLst/>
          </a:prstGeom>
          <a:noFill/>
        </p:spPr>
        <p:txBody>
          <a:bodyPr wrap="square" rtlCol="0">
            <a:spAutoFit/>
          </a:bodyPr>
          <a:lstStyle/>
          <a:p>
            <a:r>
              <a:rPr lang="zh-CN" altLang="en-US" dirty="0">
                <a:solidFill>
                  <a:schemeClr val="bg1"/>
                </a:solidFill>
              </a:rPr>
              <a:t>二、个性化营养服务系统</a:t>
            </a:r>
          </a:p>
          <a:p>
            <a:r>
              <a:rPr lang="en-US" altLang="zh-CN" dirty="0">
                <a:solidFill>
                  <a:schemeClr val="bg1"/>
                </a:solidFill>
              </a:rPr>
              <a:t>【</a:t>
            </a:r>
            <a:r>
              <a:rPr lang="zh-CN" altLang="en-US" dirty="0">
                <a:solidFill>
                  <a:schemeClr val="bg1"/>
                </a:solidFill>
              </a:rPr>
              <a:t>算法创新</a:t>
            </a:r>
            <a:r>
              <a:rPr lang="en-US" altLang="zh-CN" dirty="0">
                <a:solidFill>
                  <a:schemeClr val="bg1"/>
                </a:solidFill>
              </a:rPr>
              <a:t>】</a:t>
            </a:r>
          </a:p>
          <a:p>
            <a:r>
              <a:rPr lang="en-US" altLang="zh-CN" dirty="0">
                <a:solidFill>
                  <a:schemeClr val="bg1"/>
                </a:solidFill>
              </a:rPr>
              <a:t>1. </a:t>
            </a:r>
            <a:r>
              <a:rPr lang="zh-CN" altLang="en-US" dirty="0">
                <a:solidFill>
                  <a:schemeClr val="bg1"/>
                </a:solidFill>
              </a:rPr>
              <a:t>营养基因组学混合推荐模型</a:t>
            </a:r>
          </a:p>
          <a:p>
            <a:r>
              <a:rPr lang="en-US" altLang="zh-CN" dirty="0">
                <a:solidFill>
                  <a:schemeClr val="bg1"/>
                </a:solidFill>
              </a:rPr>
              <a:t>- </a:t>
            </a:r>
            <a:r>
              <a:rPr lang="zh-CN" altLang="en-US" dirty="0">
                <a:solidFill>
                  <a:schemeClr val="bg1"/>
                </a:solidFill>
              </a:rPr>
              <a:t>构建食物</a:t>
            </a:r>
            <a:r>
              <a:rPr lang="en-US" altLang="zh-CN" dirty="0">
                <a:solidFill>
                  <a:schemeClr val="bg1"/>
                </a:solidFill>
              </a:rPr>
              <a:t>-</a:t>
            </a:r>
            <a:r>
              <a:rPr lang="zh-CN" altLang="en-US" dirty="0">
                <a:solidFill>
                  <a:schemeClr val="bg1"/>
                </a:solidFill>
              </a:rPr>
              <a:t>代谢</a:t>
            </a:r>
            <a:r>
              <a:rPr lang="en-US" altLang="zh-CN" dirty="0">
                <a:solidFill>
                  <a:schemeClr val="bg1"/>
                </a:solidFill>
              </a:rPr>
              <a:t>-</a:t>
            </a:r>
            <a:r>
              <a:rPr lang="zh-CN" altLang="en-US" dirty="0">
                <a:solidFill>
                  <a:schemeClr val="bg1"/>
                </a:solidFill>
              </a:rPr>
              <a:t>基因三元知识图谱，包含</a:t>
            </a:r>
            <a:r>
              <a:rPr lang="en-US" altLang="zh-CN" dirty="0">
                <a:solidFill>
                  <a:schemeClr val="bg1"/>
                </a:solidFill>
              </a:rPr>
              <a:t>200</a:t>
            </a:r>
            <a:r>
              <a:rPr lang="zh-CN" altLang="en-US" dirty="0">
                <a:solidFill>
                  <a:schemeClr val="bg1"/>
                </a:solidFill>
              </a:rPr>
              <a:t>万</a:t>
            </a:r>
            <a:r>
              <a:rPr lang="en-US" altLang="zh-CN" dirty="0">
                <a:solidFill>
                  <a:schemeClr val="bg1"/>
                </a:solidFill>
              </a:rPr>
              <a:t>+</a:t>
            </a:r>
            <a:r>
              <a:rPr lang="zh-CN" altLang="en-US" dirty="0">
                <a:solidFill>
                  <a:schemeClr val="bg1"/>
                </a:solidFill>
              </a:rPr>
              <a:t>生物分子关系</a:t>
            </a:r>
          </a:p>
          <a:p>
            <a:r>
              <a:rPr lang="en-US" altLang="zh-CN" dirty="0">
                <a:solidFill>
                  <a:schemeClr val="bg1"/>
                </a:solidFill>
              </a:rPr>
              <a:t>- </a:t>
            </a:r>
            <a:r>
              <a:rPr lang="zh-CN" altLang="en-US" dirty="0">
                <a:solidFill>
                  <a:schemeClr val="bg1"/>
                </a:solidFill>
              </a:rPr>
              <a:t>开发基于</a:t>
            </a:r>
            <a:r>
              <a:rPr lang="en-US" altLang="zh-CN" dirty="0">
                <a:solidFill>
                  <a:schemeClr val="bg1"/>
                </a:solidFill>
              </a:rPr>
              <a:t>Transformer</a:t>
            </a:r>
            <a:r>
              <a:rPr lang="zh-CN" altLang="en-US" dirty="0">
                <a:solidFill>
                  <a:schemeClr val="bg1"/>
                </a:solidFill>
              </a:rPr>
              <a:t>的多目标优化算法，同时平衡营养</a:t>
            </a:r>
            <a:r>
              <a:rPr lang="en-US" altLang="zh-CN" dirty="0">
                <a:solidFill>
                  <a:schemeClr val="bg1"/>
                </a:solidFill>
              </a:rPr>
              <a:t>/</a:t>
            </a:r>
            <a:r>
              <a:rPr lang="zh-CN" altLang="en-US" dirty="0">
                <a:solidFill>
                  <a:schemeClr val="bg1"/>
                </a:solidFill>
              </a:rPr>
              <a:t>口感</a:t>
            </a:r>
            <a:r>
              <a:rPr lang="en-US" altLang="zh-CN" dirty="0">
                <a:solidFill>
                  <a:schemeClr val="bg1"/>
                </a:solidFill>
              </a:rPr>
              <a:t>/</a:t>
            </a:r>
            <a:r>
              <a:rPr lang="zh-CN" altLang="en-US" dirty="0">
                <a:solidFill>
                  <a:schemeClr val="bg1"/>
                </a:solidFill>
              </a:rPr>
              <a:t>成本</a:t>
            </a:r>
          </a:p>
          <a:p>
            <a:endParaRPr lang="zh-CN" altLang="en-US" dirty="0">
              <a:solidFill>
                <a:schemeClr val="bg1"/>
              </a:solidFill>
            </a:endParaRPr>
          </a:p>
          <a:p>
            <a:r>
              <a:rPr lang="en-US" altLang="zh-CN" dirty="0">
                <a:solidFill>
                  <a:schemeClr val="bg1"/>
                </a:solidFill>
              </a:rPr>
              <a:t>2. </a:t>
            </a:r>
            <a:r>
              <a:rPr lang="zh-CN" altLang="en-US" dirty="0">
                <a:solidFill>
                  <a:schemeClr val="bg1"/>
                </a:solidFill>
              </a:rPr>
              <a:t>动态需求预测引擎</a:t>
            </a:r>
          </a:p>
          <a:p>
            <a:r>
              <a:rPr lang="en-US" altLang="zh-CN" dirty="0">
                <a:solidFill>
                  <a:schemeClr val="bg1"/>
                </a:solidFill>
              </a:rPr>
              <a:t>- </a:t>
            </a:r>
            <a:r>
              <a:rPr lang="zh-CN" altLang="en-US" dirty="0">
                <a:solidFill>
                  <a:schemeClr val="bg1"/>
                </a:solidFill>
              </a:rPr>
              <a:t>融合</a:t>
            </a:r>
            <a:r>
              <a:rPr lang="en-US" altLang="zh-CN" dirty="0">
                <a:solidFill>
                  <a:schemeClr val="bg1"/>
                </a:solidFill>
              </a:rPr>
              <a:t>LSTM-GRU</a:t>
            </a:r>
            <a:r>
              <a:rPr lang="zh-CN" altLang="en-US" dirty="0">
                <a:solidFill>
                  <a:schemeClr val="bg1"/>
                </a:solidFill>
              </a:rPr>
              <a:t>混合时序模型与气象</a:t>
            </a:r>
            <a:r>
              <a:rPr lang="en-US" altLang="zh-CN" dirty="0">
                <a:solidFill>
                  <a:schemeClr val="bg1"/>
                </a:solidFill>
              </a:rPr>
              <a:t>API</a:t>
            </a:r>
            <a:r>
              <a:rPr lang="zh-CN" altLang="en-US" dirty="0">
                <a:solidFill>
                  <a:schemeClr val="bg1"/>
                </a:solidFill>
              </a:rPr>
              <a:t>接口</a:t>
            </a:r>
          </a:p>
          <a:p>
            <a:r>
              <a:rPr lang="en-US" altLang="zh-CN" dirty="0">
                <a:solidFill>
                  <a:schemeClr val="bg1"/>
                </a:solidFill>
              </a:rPr>
              <a:t>- </a:t>
            </a:r>
            <a:r>
              <a:rPr lang="zh-CN" altLang="en-US" dirty="0">
                <a:solidFill>
                  <a:schemeClr val="bg1"/>
                </a:solidFill>
              </a:rPr>
              <a:t>实现未来</a:t>
            </a:r>
            <a:r>
              <a:rPr lang="en-US" altLang="zh-CN" dirty="0">
                <a:solidFill>
                  <a:schemeClr val="bg1"/>
                </a:solidFill>
              </a:rPr>
              <a:t>6</a:t>
            </a:r>
            <a:r>
              <a:rPr lang="zh-CN" altLang="en-US" dirty="0">
                <a:solidFill>
                  <a:schemeClr val="bg1"/>
                </a:solidFill>
              </a:rPr>
              <a:t>小时菜品需求预测准确率</a:t>
            </a:r>
            <a:r>
              <a:rPr lang="en-US" altLang="zh-CN" dirty="0">
                <a:solidFill>
                  <a:schemeClr val="bg1"/>
                </a:solidFill>
              </a:rPr>
              <a:t>91.5%</a:t>
            </a:r>
          </a:p>
          <a:p>
            <a:endParaRPr lang="en-US" altLang="zh-CN" dirty="0">
              <a:solidFill>
                <a:schemeClr val="bg1"/>
              </a:solidFill>
            </a:endParaRPr>
          </a:p>
          <a:p>
            <a:r>
              <a:rPr lang="en-US" altLang="zh-CN" dirty="0">
                <a:solidFill>
                  <a:schemeClr val="bg1"/>
                </a:solidFill>
              </a:rPr>
              <a:t>【</a:t>
            </a:r>
            <a:r>
              <a:rPr lang="zh-CN" altLang="en-US" dirty="0">
                <a:solidFill>
                  <a:schemeClr val="bg1"/>
                </a:solidFill>
              </a:rPr>
              <a:t>实体创新</a:t>
            </a:r>
            <a:r>
              <a:rPr lang="en-US" altLang="zh-CN" dirty="0">
                <a:solidFill>
                  <a:schemeClr val="bg1"/>
                </a:solidFill>
              </a:rPr>
              <a:t>】</a:t>
            </a:r>
          </a:p>
          <a:p>
            <a:r>
              <a:rPr lang="en-US" altLang="zh-CN" dirty="0">
                <a:solidFill>
                  <a:schemeClr val="bg1"/>
                </a:solidFill>
              </a:rPr>
              <a:t>1. </a:t>
            </a:r>
            <a:r>
              <a:rPr lang="zh-CN" altLang="en-US" dirty="0">
                <a:solidFill>
                  <a:schemeClr val="bg1"/>
                </a:solidFill>
              </a:rPr>
              <a:t>智能营养餐盘</a:t>
            </a:r>
          </a:p>
          <a:p>
            <a:r>
              <a:rPr lang="en-US" altLang="zh-CN" dirty="0">
                <a:solidFill>
                  <a:schemeClr val="bg1"/>
                </a:solidFill>
              </a:rPr>
              <a:t>- </a:t>
            </a:r>
            <a:r>
              <a:rPr lang="zh-CN" altLang="en-US" dirty="0">
                <a:solidFill>
                  <a:schemeClr val="bg1"/>
                </a:solidFill>
              </a:rPr>
              <a:t>嵌入阻抗生物传感器阵列，实时检测食物</a:t>
            </a:r>
            <a:r>
              <a:rPr lang="en-US" altLang="zh-CN" dirty="0">
                <a:solidFill>
                  <a:schemeClr val="bg1"/>
                </a:solidFill>
              </a:rPr>
              <a:t>GI</a:t>
            </a:r>
            <a:r>
              <a:rPr lang="zh-CN" altLang="en-US" dirty="0">
                <a:solidFill>
                  <a:schemeClr val="bg1"/>
                </a:solidFill>
              </a:rPr>
              <a:t>值</a:t>
            </a:r>
            <a:r>
              <a:rPr lang="en-US" altLang="zh-CN" dirty="0">
                <a:solidFill>
                  <a:schemeClr val="bg1"/>
                </a:solidFill>
              </a:rPr>
              <a:t>/</a:t>
            </a:r>
            <a:r>
              <a:rPr lang="zh-CN" altLang="en-US" dirty="0">
                <a:solidFill>
                  <a:schemeClr val="bg1"/>
                </a:solidFill>
              </a:rPr>
              <a:t>钠含量</a:t>
            </a:r>
          </a:p>
          <a:p>
            <a:r>
              <a:rPr lang="en-US" altLang="zh-CN" dirty="0">
                <a:solidFill>
                  <a:schemeClr val="bg1"/>
                </a:solidFill>
              </a:rPr>
              <a:t>- </a:t>
            </a:r>
            <a:r>
              <a:rPr lang="zh-CN" altLang="en-US" dirty="0">
                <a:solidFill>
                  <a:schemeClr val="bg1"/>
                </a:solidFill>
              </a:rPr>
              <a:t>集成微型</a:t>
            </a:r>
            <a:r>
              <a:rPr lang="en-US" altLang="zh-CN" dirty="0">
                <a:solidFill>
                  <a:schemeClr val="bg1"/>
                </a:solidFill>
              </a:rPr>
              <a:t>LED</a:t>
            </a:r>
            <a:r>
              <a:rPr lang="zh-CN" altLang="en-US" dirty="0">
                <a:solidFill>
                  <a:schemeClr val="bg1"/>
                </a:solidFill>
              </a:rPr>
              <a:t>阵列，实现动态营养信息投射</a:t>
            </a:r>
          </a:p>
          <a:p>
            <a:endParaRPr lang="zh-CN" altLang="en-US" dirty="0">
              <a:solidFill>
                <a:schemeClr val="bg1"/>
              </a:solidFill>
            </a:endParaRPr>
          </a:p>
          <a:p>
            <a:r>
              <a:rPr lang="en-US" altLang="zh-CN" dirty="0">
                <a:solidFill>
                  <a:schemeClr val="bg1"/>
                </a:solidFill>
              </a:rPr>
              <a:t>2. </a:t>
            </a:r>
            <a:r>
              <a:rPr lang="zh-CN" altLang="en-US" dirty="0">
                <a:solidFill>
                  <a:schemeClr val="bg1"/>
                </a:solidFill>
              </a:rPr>
              <a:t>柔性供餐产线</a:t>
            </a:r>
          </a:p>
          <a:p>
            <a:r>
              <a:rPr lang="en-US" altLang="zh-CN" dirty="0">
                <a:solidFill>
                  <a:schemeClr val="bg1"/>
                </a:solidFill>
              </a:rPr>
              <a:t>- </a:t>
            </a:r>
            <a:r>
              <a:rPr lang="zh-CN" altLang="en-US" dirty="0">
                <a:solidFill>
                  <a:schemeClr val="bg1"/>
                </a:solidFill>
              </a:rPr>
              <a:t>模块化磁悬浮传送系统，支持</a:t>
            </a:r>
            <a:r>
              <a:rPr lang="en-US" altLang="zh-CN" dirty="0">
                <a:solidFill>
                  <a:schemeClr val="bg1"/>
                </a:solidFill>
              </a:rPr>
              <a:t>300</a:t>
            </a:r>
            <a:r>
              <a:rPr lang="zh-CN" altLang="en-US" dirty="0">
                <a:solidFill>
                  <a:schemeClr val="bg1"/>
                </a:solidFill>
              </a:rPr>
              <a:t>种餐品并行配送</a:t>
            </a:r>
          </a:p>
          <a:p>
            <a:r>
              <a:rPr lang="en-US" altLang="zh-CN" dirty="0">
                <a:solidFill>
                  <a:schemeClr val="bg1"/>
                </a:solidFill>
              </a:rPr>
              <a:t>- </a:t>
            </a:r>
            <a:r>
              <a:rPr lang="zh-CN" altLang="en-US" dirty="0">
                <a:solidFill>
                  <a:schemeClr val="bg1"/>
                </a:solidFill>
              </a:rPr>
              <a:t>开发智能温控单元，实现</a:t>
            </a:r>
            <a:r>
              <a:rPr lang="en-US" altLang="zh-CN" dirty="0">
                <a:solidFill>
                  <a:schemeClr val="bg1"/>
                </a:solidFill>
              </a:rPr>
              <a:t>-18℃</a:t>
            </a:r>
            <a:r>
              <a:rPr lang="zh-CN" altLang="en-US" dirty="0">
                <a:solidFill>
                  <a:schemeClr val="bg1"/>
                </a:solidFill>
              </a:rPr>
              <a:t>至</a:t>
            </a:r>
            <a:r>
              <a:rPr lang="en-US" altLang="zh-CN" dirty="0">
                <a:solidFill>
                  <a:schemeClr val="bg1"/>
                </a:solidFill>
              </a:rPr>
              <a:t>85℃</a:t>
            </a:r>
            <a:r>
              <a:rPr lang="zh-CN" altLang="en-US" dirty="0">
                <a:solidFill>
                  <a:schemeClr val="bg1"/>
                </a:solidFill>
              </a:rPr>
              <a:t>精确温区管理</a:t>
            </a:r>
          </a:p>
        </p:txBody>
      </p:sp>
      <p:sp>
        <p:nvSpPr>
          <p:cNvPr id="5" name="文本框 4">
            <a:extLst>
              <a:ext uri="{FF2B5EF4-FFF2-40B4-BE49-F238E27FC236}">
                <a16:creationId xmlns:a16="http://schemas.microsoft.com/office/drawing/2014/main" id="{4964DDF1-8104-6CC5-FFAC-CB342A5907EC}"/>
              </a:ext>
            </a:extLst>
          </p:cNvPr>
          <p:cNvSpPr txBox="1"/>
          <p:nvPr/>
        </p:nvSpPr>
        <p:spPr>
          <a:xfrm>
            <a:off x="4632960" y="5142586"/>
            <a:ext cx="2926080" cy="369332"/>
          </a:xfrm>
          <a:prstGeom prst="rect">
            <a:avLst/>
          </a:prstGeom>
          <a:noFill/>
        </p:spPr>
        <p:txBody>
          <a:bodyPr wrap="square" rtlCol="0">
            <a:spAutoFit/>
          </a:bodyPr>
          <a:lstStyle/>
          <a:p>
            <a:pPr algn="ctr"/>
            <a:r>
              <a:rPr lang="zh-CN" altLang="en-US" dirty="0"/>
              <a:t>菜品信息界面图</a:t>
            </a:r>
          </a:p>
        </p:txBody>
      </p:sp>
      <p:grpSp>
        <p:nvGrpSpPr>
          <p:cNvPr id="14" name="组合 13">
            <a:extLst>
              <a:ext uri="{FF2B5EF4-FFF2-40B4-BE49-F238E27FC236}">
                <a16:creationId xmlns:a16="http://schemas.microsoft.com/office/drawing/2014/main" id="{66CF2291-21F0-3D35-B019-EC26BF9E2928}"/>
              </a:ext>
            </a:extLst>
          </p:cNvPr>
          <p:cNvGrpSpPr/>
          <p:nvPr/>
        </p:nvGrpSpPr>
        <p:grpSpPr>
          <a:xfrm>
            <a:off x="0" y="0"/>
            <a:ext cx="12191999" cy="6858000"/>
            <a:chOff x="-1" y="0"/>
            <a:chExt cx="12191999" cy="6858000"/>
          </a:xfrm>
        </p:grpSpPr>
        <p:pic>
          <p:nvPicPr>
            <p:cNvPr id="12" name="图片 11">
              <a:extLst>
                <a:ext uri="{FF2B5EF4-FFF2-40B4-BE49-F238E27FC236}">
                  <a16:creationId xmlns:a16="http://schemas.microsoft.com/office/drawing/2014/main" id="{686A14EF-CF28-7708-5AD2-5D41B31916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2191999" cy="6858000"/>
            </a:xfrm>
            <a:prstGeom prst="rect">
              <a:avLst/>
            </a:prstGeom>
          </p:spPr>
        </p:pic>
        <p:sp>
          <p:nvSpPr>
            <p:cNvPr id="13" name="文本框 12">
              <a:extLst>
                <a:ext uri="{FF2B5EF4-FFF2-40B4-BE49-F238E27FC236}">
                  <a16:creationId xmlns:a16="http://schemas.microsoft.com/office/drawing/2014/main" id="{6547CAAA-A3B2-1902-F831-C09B7C6F7CF6}"/>
                </a:ext>
              </a:extLst>
            </p:cNvPr>
            <p:cNvSpPr txBox="1"/>
            <p:nvPr/>
          </p:nvSpPr>
          <p:spPr>
            <a:xfrm>
              <a:off x="4665878" y="4862973"/>
              <a:ext cx="2860243" cy="369332"/>
            </a:xfrm>
            <a:prstGeom prst="rect">
              <a:avLst/>
            </a:prstGeom>
            <a:noFill/>
          </p:spPr>
          <p:txBody>
            <a:bodyPr wrap="square" rtlCol="0">
              <a:spAutoFit/>
            </a:bodyPr>
            <a:lstStyle/>
            <a:p>
              <a:pPr algn="ctr"/>
              <a:r>
                <a:rPr lang="zh-CN" altLang="en-US" dirty="0"/>
                <a:t>菜品信息界面图</a:t>
              </a:r>
            </a:p>
          </p:txBody>
        </p:sp>
      </p:grpSp>
    </p:spTree>
    <p:extLst>
      <p:ext uri="{BB962C8B-B14F-4D97-AF65-F5344CB8AC3E}">
        <p14:creationId xmlns:p14="http://schemas.microsoft.com/office/powerpoint/2010/main" val="7926425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6000" b="-16000"/>
          </a:stretch>
        </a:blipFill>
        <a:effectLst/>
      </p:bgPr>
    </p:bg>
    <p:spTree>
      <p:nvGrpSpPr>
        <p:cNvPr id="1" name="">
          <a:extLst>
            <a:ext uri="{FF2B5EF4-FFF2-40B4-BE49-F238E27FC236}">
              <a16:creationId xmlns:a16="http://schemas.microsoft.com/office/drawing/2014/main" id="{A68F5F41-8518-C2B2-4C54-EB27ABA99E91}"/>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27ADCE31-9BC9-9057-AF5E-AB1682E50BC8}"/>
              </a:ext>
            </a:extLst>
          </p:cNvPr>
          <p:cNvSpPr/>
          <p:nvPr/>
        </p:nvSpPr>
        <p:spPr>
          <a:xfrm>
            <a:off x="0" y="0"/>
            <a:ext cx="12192000" cy="6858000"/>
          </a:xfrm>
          <a:prstGeom prst="rect">
            <a:avLst/>
          </a:prstGeom>
          <a:solidFill>
            <a:schemeClr val="tx1">
              <a:lumMod val="95000"/>
              <a:lumOff val="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useBgFill="1">
        <p:nvSpPr>
          <p:cNvPr id="8" name="椭圆 7">
            <a:extLst>
              <a:ext uri="{FF2B5EF4-FFF2-40B4-BE49-F238E27FC236}">
                <a16:creationId xmlns:a16="http://schemas.microsoft.com/office/drawing/2014/main" id="{BFE1C564-1791-11B7-3974-17F397D00EB7}"/>
              </a:ext>
            </a:extLst>
          </p:cNvPr>
          <p:cNvSpPr/>
          <p:nvPr/>
        </p:nvSpPr>
        <p:spPr>
          <a:xfrm>
            <a:off x="402657" y="698251"/>
            <a:ext cx="5534526" cy="5534526"/>
          </a:xfrm>
          <a:prstGeom prst="ellipse">
            <a:avLst/>
          </a:prstGeom>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useBgFill="1">
        <p:nvSpPr>
          <p:cNvPr id="9" name="椭圆 8">
            <a:extLst>
              <a:ext uri="{FF2B5EF4-FFF2-40B4-BE49-F238E27FC236}">
                <a16:creationId xmlns:a16="http://schemas.microsoft.com/office/drawing/2014/main" id="{B16CB9D6-4B4B-7136-8037-C3FFB2A1982D}"/>
              </a:ext>
            </a:extLst>
          </p:cNvPr>
          <p:cNvSpPr/>
          <p:nvPr/>
        </p:nvSpPr>
        <p:spPr>
          <a:xfrm rot="6201794">
            <a:off x="918412" y="1214005"/>
            <a:ext cx="4503017" cy="4503017"/>
          </a:xfrm>
          <a:prstGeom prst="ellipse">
            <a:avLst/>
          </a:prstGeom>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useBgFill="1">
        <p:nvSpPr>
          <p:cNvPr id="10" name="椭圆 9">
            <a:extLst>
              <a:ext uri="{FF2B5EF4-FFF2-40B4-BE49-F238E27FC236}">
                <a16:creationId xmlns:a16="http://schemas.microsoft.com/office/drawing/2014/main" id="{B9001702-691D-7985-B36F-8AF7E7BE8FE2}"/>
              </a:ext>
            </a:extLst>
          </p:cNvPr>
          <p:cNvSpPr/>
          <p:nvPr/>
        </p:nvSpPr>
        <p:spPr>
          <a:xfrm rot="15375390">
            <a:off x="1331495" y="1627088"/>
            <a:ext cx="3676850" cy="3676850"/>
          </a:xfrm>
          <a:prstGeom prst="ellipse">
            <a:avLst/>
          </a:prstGeom>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3" name="文本框 2">
            <a:extLst>
              <a:ext uri="{FF2B5EF4-FFF2-40B4-BE49-F238E27FC236}">
                <a16:creationId xmlns:a16="http://schemas.microsoft.com/office/drawing/2014/main" id="{042DB84F-05AC-EA0D-7009-64EDBB7AADD0}"/>
              </a:ext>
            </a:extLst>
          </p:cNvPr>
          <p:cNvSpPr txBox="1"/>
          <p:nvPr/>
        </p:nvSpPr>
        <p:spPr>
          <a:xfrm>
            <a:off x="6164580" y="178768"/>
            <a:ext cx="5786203" cy="5909310"/>
          </a:xfrm>
          <a:prstGeom prst="rect">
            <a:avLst/>
          </a:prstGeom>
          <a:noFill/>
        </p:spPr>
        <p:txBody>
          <a:bodyPr wrap="square" rtlCol="0">
            <a:spAutoFit/>
          </a:bodyPr>
          <a:lstStyle/>
          <a:p>
            <a:r>
              <a:rPr lang="zh-CN" altLang="en-US" dirty="0">
                <a:solidFill>
                  <a:schemeClr val="bg1"/>
                </a:solidFill>
              </a:rPr>
              <a:t>三、离散制造型智能后厨</a:t>
            </a:r>
          </a:p>
          <a:p>
            <a:r>
              <a:rPr lang="en-US" altLang="zh-CN" dirty="0">
                <a:solidFill>
                  <a:schemeClr val="bg1"/>
                </a:solidFill>
              </a:rPr>
              <a:t>【</a:t>
            </a:r>
            <a:r>
              <a:rPr lang="zh-CN" altLang="en-US" dirty="0">
                <a:solidFill>
                  <a:schemeClr val="bg1"/>
                </a:solidFill>
              </a:rPr>
              <a:t>算法创新</a:t>
            </a:r>
            <a:r>
              <a:rPr lang="en-US" altLang="zh-CN" dirty="0">
                <a:solidFill>
                  <a:schemeClr val="bg1"/>
                </a:solidFill>
              </a:rPr>
              <a:t>】</a:t>
            </a:r>
          </a:p>
          <a:p>
            <a:r>
              <a:rPr lang="en-US" altLang="zh-CN" dirty="0">
                <a:solidFill>
                  <a:schemeClr val="bg1"/>
                </a:solidFill>
              </a:rPr>
              <a:t>1. </a:t>
            </a:r>
            <a:r>
              <a:rPr lang="zh-CN" altLang="en-US" dirty="0">
                <a:solidFill>
                  <a:schemeClr val="bg1"/>
                </a:solidFill>
              </a:rPr>
              <a:t>数字孪生调度引擎</a:t>
            </a:r>
          </a:p>
          <a:p>
            <a:r>
              <a:rPr lang="en-US" altLang="zh-CN" dirty="0">
                <a:solidFill>
                  <a:schemeClr val="bg1"/>
                </a:solidFill>
              </a:rPr>
              <a:t>- </a:t>
            </a:r>
            <a:r>
              <a:rPr lang="zh-CN" altLang="en-US" dirty="0">
                <a:solidFill>
                  <a:schemeClr val="bg1"/>
                </a:solidFill>
              </a:rPr>
              <a:t>构建基于</a:t>
            </a:r>
            <a:r>
              <a:rPr lang="en-US" altLang="zh-CN" dirty="0">
                <a:solidFill>
                  <a:schemeClr val="bg1"/>
                </a:solidFill>
              </a:rPr>
              <a:t>NSGA-III</a:t>
            </a:r>
            <a:r>
              <a:rPr lang="zh-CN" altLang="en-US" dirty="0">
                <a:solidFill>
                  <a:schemeClr val="bg1"/>
                </a:solidFill>
              </a:rPr>
              <a:t>的多目标优化算法</a:t>
            </a:r>
          </a:p>
          <a:p>
            <a:r>
              <a:rPr lang="en-US" altLang="zh-CN" dirty="0">
                <a:solidFill>
                  <a:schemeClr val="bg1"/>
                </a:solidFill>
              </a:rPr>
              <a:t>- </a:t>
            </a:r>
            <a:r>
              <a:rPr lang="zh-CN" altLang="en-US" dirty="0">
                <a:solidFill>
                  <a:schemeClr val="bg1"/>
                </a:solidFill>
              </a:rPr>
              <a:t>实现设备利用率提升</a:t>
            </a:r>
            <a:r>
              <a:rPr lang="en-US" altLang="zh-CN" dirty="0">
                <a:solidFill>
                  <a:schemeClr val="bg1"/>
                </a:solidFill>
              </a:rPr>
              <a:t>40%</a:t>
            </a:r>
            <a:r>
              <a:rPr lang="zh-CN" altLang="en-US" dirty="0">
                <a:solidFill>
                  <a:schemeClr val="bg1"/>
                </a:solidFill>
              </a:rPr>
              <a:t>，能耗降低</a:t>
            </a:r>
            <a:r>
              <a:rPr lang="en-US" altLang="zh-CN" dirty="0">
                <a:solidFill>
                  <a:schemeClr val="bg1"/>
                </a:solidFill>
              </a:rPr>
              <a:t>25%</a:t>
            </a:r>
          </a:p>
          <a:p>
            <a:endParaRPr lang="en-US" altLang="zh-CN" dirty="0">
              <a:solidFill>
                <a:schemeClr val="bg1"/>
              </a:solidFill>
            </a:endParaRPr>
          </a:p>
          <a:p>
            <a:r>
              <a:rPr lang="en-US" altLang="zh-CN" dirty="0">
                <a:solidFill>
                  <a:schemeClr val="bg1"/>
                </a:solidFill>
              </a:rPr>
              <a:t>2. </a:t>
            </a:r>
            <a:r>
              <a:rPr lang="zh-CN" altLang="en-US" dirty="0">
                <a:solidFill>
                  <a:schemeClr val="bg1"/>
                </a:solidFill>
              </a:rPr>
              <a:t>跨菜系迁移学习框架</a:t>
            </a:r>
          </a:p>
          <a:p>
            <a:r>
              <a:rPr lang="en-US" altLang="zh-CN" dirty="0">
                <a:solidFill>
                  <a:schemeClr val="bg1"/>
                </a:solidFill>
              </a:rPr>
              <a:t>- </a:t>
            </a:r>
            <a:r>
              <a:rPr lang="zh-CN" altLang="en-US" dirty="0">
                <a:solidFill>
                  <a:schemeClr val="bg1"/>
                </a:solidFill>
              </a:rPr>
              <a:t>开发菜品风味量化模型，将八大菜系分解为</a:t>
            </a:r>
            <a:r>
              <a:rPr lang="en-US" altLang="zh-CN" dirty="0">
                <a:solidFill>
                  <a:schemeClr val="bg1"/>
                </a:solidFill>
              </a:rPr>
              <a:t>128</a:t>
            </a:r>
            <a:r>
              <a:rPr lang="zh-CN" altLang="en-US" dirty="0">
                <a:solidFill>
                  <a:schemeClr val="bg1"/>
                </a:solidFill>
              </a:rPr>
              <a:t>维特征向量</a:t>
            </a:r>
          </a:p>
          <a:p>
            <a:r>
              <a:rPr lang="en-US" altLang="zh-CN" dirty="0">
                <a:solidFill>
                  <a:schemeClr val="bg1"/>
                </a:solidFill>
              </a:rPr>
              <a:t>- </a:t>
            </a:r>
            <a:r>
              <a:rPr lang="zh-CN" altLang="en-US" dirty="0">
                <a:solidFill>
                  <a:schemeClr val="bg1"/>
                </a:solidFill>
              </a:rPr>
              <a:t>支持任意菜系机器人</a:t>
            </a:r>
            <a:r>
              <a:rPr lang="en-US" altLang="zh-CN" dirty="0">
                <a:solidFill>
                  <a:schemeClr val="bg1"/>
                </a:solidFill>
              </a:rPr>
              <a:t>5</a:t>
            </a:r>
            <a:r>
              <a:rPr lang="zh-CN" altLang="en-US" dirty="0">
                <a:solidFill>
                  <a:schemeClr val="bg1"/>
                </a:solidFill>
              </a:rPr>
              <a:t>分钟内完成菜谱迁移</a:t>
            </a:r>
          </a:p>
          <a:p>
            <a:endParaRPr lang="zh-CN" altLang="en-US" dirty="0">
              <a:solidFill>
                <a:schemeClr val="bg1"/>
              </a:solidFill>
            </a:endParaRPr>
          </a:p>
          <a:p>
            <a:r>
              <a:rPr lang="en-US" altLang="zh-CN" dirty="0">
                <a:solidFill>
                  <a:schemeClr val="bg1"/>
                </a:solidFill>
              </a:rPr>
              <a:t>【</a:t>
            </a:r>
            <a:r>
              <a:rPr lang="zh-CN" altLang="en-US" dirty="0">
                <a:solidFill>
                  <a:schemeClr val="bg1"/>
                </a:solidFill>
              </a:rPr>
              <a:t>实体创新</a:t>
            </a:r>
            <a:r>
              <a:rPr lang="en-US" altLang="zh-CN" dirty="0">
                <a:solidFill>
                  <a:schemeClr val="bg1"/>
                </a:solidFill>
              </a:rPr>
              <a:t>】</a:t>
            </a:r>
          </a:p>
          <a:p>
            <a:r>
              <a:rPr lang="en-US" altLang="zh-CN" dirty="0">
                <a:solidFill>
                  <a:schemeClr val="bg1"/>
                </a:solidFill>
              </a:rPr>
              <a:t>1. </a:t>
            </a:r>
            <a:r>
              <a:rPr lang="zh-CN" altLang="en-US" dirty="0">
                <a:solidFill>
                  <a:schemeClr val="bg1"/>
                </a:solidFill>
              </a:rPr>
              <a:t>异构设备协同平台</a:t>
            </a:r>
          </a:p>
          <a:p>
            <a:r>
              <a:rPr lang="en-US" altLang="zh-CN" dirty="0">
                <a:solidFill>
                  <a:schemeClr val="bg1"/>
                </a:solidFill>
              </a:rPr>
              <a:t>- </a:t>
            </a:r>
            <a:r>
              <a:rPr lang="zh-CN" altLang="en-US" dirty="0">
                <a:solidFill>
                  <a:schemeClr val="bg1"/>
                </a:solidFill>
              </a:rPr>
              <a:t>自主研发工业物联网关，兼容</a:t>
            </a:r>
            <a:r>
              <a:rPr lang="en-US" altLang="zh-CN" dirty="0">
                <a:solidFill>
                  <a:schemeClr val="bg1"/>
                </a:solidFill>
              </a:rPr>
              <a:t>Modbus/</a:t>
            </a:r>
            <a:r>
              <a:rPr lang="en-US" altLang="zh-CN" dirty="0" err="1">
                <a:solidFill>
                  <a:schemeClr val="bg1"/>
                </a:solidFill>
              </a:rPr>
              <a:t>Profinet</a:t>
            </a:r>
            <a:r>
              <a:rPr lang="en-US" altLang="zh-CN" dirty="0">
                <a:solidFill>
                  <a:schemeClr val="bg1"/>
                </a:solidFill>
              </a:rPr>
              <a:t>/OPC UA</a:t>
            </a:r>
            <a:r>
              <a:rPr lang="zh-CN" altLang="en-US" dirty="0">
                <a:solidFill>
                  <a:schemeClr val="bg1"/>
                </a:solidFill>
              </a:rPr>
              <a:t>等</a:t>
            </a:r>
            <a:r>
              <a:rPr lang="en-US" altLang="zh-CN" dirty="0">
                <a:solidFill>
                  <a:schemeClr val="bg1"/>
                </a:solidFill>
              </a:rPr>
              <a:t>12</a:t>
            </a:r>
            <a:r>
              <a:rPr lang="zh-CN" altLang="en-US" dirty="0">
                <a:solidFill>
                  <a:schemeClr val="bg1"/>
                </a:solidFill>
              </a:rPr>
              <a:t>种协议</a:t>
            </a:r>
          </a:p>
          <a:p>
            <a:r>
              <a:rPr lang="en-US" altLang="zh-CN" dirty="0">
                <a:solidFill>
                  <a:schemeClr val="bg1"/>
                </a:solidFill>
              </a:rPr>
              <a:t>- </a:t>
            </a:r>
            <a:r>
              <a:rPr lang="zh-CN" altLang="en-US" dirty="0">
                <a:solidFill>
                  <a:schemeClr val="bg1"/>
                </a:solidFill>
              </a:rPr>
              <a:t>构建毫秒级响应控制总线，同步精度达</a:t>
            </a:r>
            <a:r>
              <a:rPr lang="en-US" altLang="zh-CN" dirty="0">
                <a:solidFill>
                  <a:schemeClr val="bg1"/>
                </a:solidFill>
              </a:rPr>
              <a:t>±5ms</a:t>
            </a:r>
          </a:p>
          <a:p>
            <a:endParaRPr lang="en-US" altLang="zh-CN" dirty="0">
              <a:solidFill>
                <a:schemeClr val="bg1"/>
              </a:solidFill>
            </a:endParaRPr>
          </a:p>
          <a:p>
            <a:r>
              <a:rPr lang="en-US" altLang="zh-CN" dirty="0">
                <a:solidFill>
                  <a:schemeClr val="bg1"/>
                </a:solidFill>
              </a:rPr>
              <a:t>2. </a:t>
            </a:r>
            <a:r>
              <a:rPr lang="zh-CN" altLang="en-US" dirty="0">
                <a:solidFill>
                  <a:schemeClr val="bg1"/>
                </a:solidFill>
              </a:rPr>
              <a:t>多模态烹饪机器人</a:t>
            </a:r>
          </a:p>
          <a:p>
            <a:r>
              <a:rPr lang="en-US" altLang="zh-CN" dirty="0">
                <a:solidFill>
                  <a:schemeClr val="bg1"/>
                </a:solidFill>
              </a:rPr>
              <a:t>- </a:t>
            </a:r>
            <a:r>
              <a:rPr lang="zh-CN" altLang="en-US" dirty="0">
                <a:solidFill>
                  <a:schemeClr val="bg1"/>
                </a:solidFill>
              </a:rPr>
              <a:t>开发六轴联动炒菜机械臂，支持爆炒</a:t>
            </a:r>
            <a:r>
              <a:rPr lang="en-US" altLang="zh-CN" dirty="0">
                <a:solidFill>
                  <a:schemeClr val="bg1"/>
                </a:solidFill>
              </a:rPr>
              <a:t>/</a:t>
            </a:r>
            <a:r>
              <a:rPr lang="zh-CN" altLang="en-US" dirty="0">
                <a:solidFill>
                  <a:schemeClr val="bg1"/>
                </a:solidFill>
              </a:rPr>
              <a:t>滑炒</a:t>
            </a:r>
            <a:r>
              <a:rPr lang="en-US" altLang="zh-CN" dirty="0">
                <a:solidFill>
                  <a:schemeClr val="bg1"/>
                </a:solidFill>
              </a:rPr>
              <a:t>/</a:t>
            </a:r>
            <a:r>
              <a:rPr lang="zh-CN" altLang="en-US" dirty="0">
                <a:solidFill>
                  <a:schemeClr val="bg1"/>
                </a:solidFill>
              </a:rPr>
              <a:t>煸炒等</a:t>
            </a:r>
            <a:r>
              <a:rPr lang="en-US" altLang="zh-CN" dirty="0">
                <a:solidFill>
                  <a:schemeClr val="bg1"/>
                </a:solidFill>
              </a:rPr>
              <a:t>18</a:t>
            </a:r>
            <a:r>
              <a:rPr lang="zh-CN" altLang="en-US" dirty="0">
                <a:solidFill>
                  <a:schemeClr val="bg1"/>
                </a:solidFill>
              </a:rPr>
              <a:t>种技法</a:t>
            </a:r>
          </a:p>
          <a:p>
            <a:r>
              <a:rPr lang="en-US" altLang="zh-CN" dirty="0">
                <a:solidFill>
                  <a:schemeClr val="bg1"/>
                </a:solidFill>
              </a:rPr>
              <a:t>- </a:t>
            </a:r>
            <a:r>
              <a:rPr lang="zh-CN" altLang="en-US" dirty="0">
                <a:solidFill>
                  <a:schemeClr val="bg1"/>
                </a:solidFill>
              </a:rPr>
              <a:t>集成近红外火候监测系统，温度控制精度</a:t>
            </a:r>
            <a:r>
              <a:rPr lang="en-US" altLang="zh-CN" dirty="0">
                <a:solidFill>
                  <a:schemeClr val="bg1"/>
                </a:solidFill>
              </a:rPr>
              <a:t>±1℃</a:t>
            </a:r>
          </a:p>
        </p:txBody>
      </p:sp>
      <p:grpSp>
        <p:nvGrpSpPr>
          <p:cNvPr id="14" name="组合 13">
            <a:extLst>
              <a:ext uri="{FF2B5EF4-FFF2-40B4-BE49-F238E27FC236}">
                <a16:creationId xmlns:a16="http://schemas.microsoft.com/office/drawing/2014/main" id="{130DE740-99E5-2B24-0C31-A7EE63655D4D}"/>
              </a:ext>
            </a:extLst>
          </p:cNvPr>
          <p:cNvGrpSpPr/>
          <p:nvPr/>
        </p:nvGrpSpPr>
        <p:grpSpPr>
          <a:xfrm>
            <a:off x="0" y="0"/>
            <a:ext cx="12192000" cy="6857999"/>
            <a:chOff x="0" y="-1"/>
            <a:chExt cx="12192000" cy="6857999"/>
          </a:xfrm>
        </p:grpSpPr>
        <p:pic>
          <p:nvPicPr>
            <p:cNvPr id="12" name="图片 11">
              <a:extLst>
                <a:ext uri="{FF2B5EF4-FFF2-40B4-BE49-F238E27FC236}">
                  <a16:creationId xmlns:a16="http://schemas.microsoft.com/office/drawing/2014/main" id="{0DCA4576-C164-8EFB-6764-4B2BE6B8EA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12192000" cy="6857999"/>
            </a:xfrm>
            <a:prstGeom prst="rect">
              <a:avLst/>
            </a:prstGeom>
          </p:spPr>
        </p:pic>
        <p:sp>
          <p:nvSpPr>
            <p:cNvPr id="13" name="文本框 12">
              <a:extLst>
                <a:ext uri="{FF2B5EF4-FFF2-40B4-BE49-F238E27FC236}">
                  <a16:creationId xmlns:a16="http://schemas.microsoft.com/office/drawing/2014/main" id="{05665B4E-BE1D-6291-B0E0-95A2CA547BD3}"/>
                </a:ext>
              </a:extLst>
            </p:cNvPr>
            <p:cNvSpPr txBox="1"/>
            <p:nvPr/>
          </p:nvSpPr>
          <p:spPr>
            <a:xfrm>
              <a:off x="7835706" y="950975"/>
              <a:ext cx="2984602" cy="369332"/>
            </a:xfrm>
            <a:prstGeom prst="rect">
              <a:avLst/>
            </a:prstGeom>
            <a:noFill/>
          </p:spPr>
          <p:txBody>
            <a:bodyPr wrap="square" rtlCol="0">
              <a:spAutoFit/>
            </a:bodyPr>
            <a:lstStyle/>
            <a:p>
              <a:pPr algn="ctr"/>
              <a:r>
                <a:rPr lang="zh-CN" altLang="en-US" dirty="0"/>
                <a:t>菜品信息管理界面图</a:t>
              </a:r>
            </a:p>
          </p:txBody>
        </p:sp>
      </p:grpSp>
    </p:spTree>
    <p:extLst>
      <p:ext uri="{BB962C8B-B14F-4D97-AF65-F5344CB8AC3E}">
        <p14:creationId xmlns:p14="http://schemas.microsoft.com/office/powerpoint/2010/main" val="4604290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1000" fill="hold"/>
                                        <p:tgtEl>
                                          <p:spTgt spid="14"/>
                                        </p:tgtEl>
                                        <p:attrNameLst>
                                          <p:attrName>ppt_w</p:attrName>
                                        </p:attrNameLst>
                                      </p:cBhvr>
                                      <p:tavLst>
                                        <p:tav tm="0">
                                          <p:val>
                                            <p:fltVal val="0"/>
                                          </p:val>
                                        </p:tav>
                                        <p:tav tm="100000">
                                          <p:val>
                                            <p:strVal val="#ppt_w"/>
                                          </p:val>
                                        </p:tav>
                                      </p:tavLst>
                                    </p:anim>
                                    <p:anim calcmode="lin" valueType="num">
                                      <p:cBhvr>
                                        <p:cTn id="8" dur="1000" fill="hold"/>
                                        <p:tgtEl>
                                          <p:spTgt spid="14"/>
                                        </p:tgtEl>
                                        <p:attrNameLst>
                                          <p:attrName>ppt_h</p:attrName>
                                        </p:attrNameLst>
                                      </p:cBhvr>
                                      <p:tavLst>
                                        <p:tav tm="0">
                                          <p:val>
                                            <p:fltVal val="0"/>
                                          </p:val>
                                        </p:tav>
                                        <p:tav tm="100000">
                                          <p:val>
                                            <p:strVal val="#ppt_h"/>
                                          </p:val>
                                        </p:tav>
                                      </p:tavLst>
                                    </p:anim>
                                    <p:anim calcmode="lin" valueType="num">
                                      <p:cBhvr>
                                        <p:cTn id="9" dur="1000" fill="hold"/>
                                        <p:tgtEl>
                                          <p:spTgt spid="14"/>
                                        </p:tgtEl>
                                        <p:attrNameLst>
                                          <p:attrName>style.rotation</p:attrName>
                                        </p:attrNameLst>
                                      </p:cBhvr>
                                      <p:tavLst>
                                        <p:tav tm="0">
                                          <p:val>
                                            <p:fltVal val="90"/>
                                          </p:val>
                                        </p:tav>
                                        <p:tav tm="100000">
                                          <p:val>
                                            <p:fltVal val="0"/>
                                          </p:val>
                                        </p:tav>
                                      </p:tavLst>
                                    </p:anim>
                                    <p:animEffect transition="in" filter="fade">
                                      <p:cBhvr>
                                        <p:cTn id="10"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0" b="-10000"/>
          </a:stretch>
        </a:blipFill>
        <a:effectLst/>
      </p:bgPr>
    </p:bg>
    <p:spTree>
      <p:nvGrpSpPr>
        <p:cNvPr id="1" name="">
          <a:extLst>
            <a:ext uri="{FF2B5EF4-FFF2-40B4-BE49-F238E27FC236}">
              <a16:creationId xmlns:a16="http://schemas.microsoft.com/office/drawing/2014/main" id="{CFB5405B-DAB3-CFD9-3458-DDD45A6BD415}"/>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EA46B772-3ADC-51E6-9AD8-4CF3C68DB094}"/>
              </a:ext>
            </a:extLst>
          </p:cNvPr>
          <p:cNvSpPr/>
          <p:nvPr/>
        </p:nvSpPr>
        <p:spPr>
          <a:xfrm>
            <a:off x="0" y="0"/>
            <a:ext cx="12192000" cy="6858000"/>
          </a:xfrm>
          <a:prstGeom prst="rect">
            <a:avLst/>
          </a:prstGeom>
          <a:solidFill>
            <a:schemeClr val="tx1">
              <a:lumMod val="95000"/>
              <a:lumOff val="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useBgFill="1">
        <p:nvSpPr>
          <p:cNvPr id="8" name="椭圆 7">
            <a:extLst>
              <a:ext uri="{FF2B5EF4-FFF2-40B4-BE49-F238E27FC236}">
                <a16:creationId xmlns:a16="http://schemas.microsoft.com/office/drawing/2014/main" id="{4DF40348-F0F7-E126-0836-99C91BBCA08C}"/>
              </a:ext>
            </a:extLst>
          </p:cNvPr>
          <p:cNvSpPr/>
          <p:nvPr/>
        </p:nvSpPr>
        <p:spPr>
          <a:xfrm>
            <a:off x="402657" y="698251"/>
            <a:ext cx="5534526" cy="5534526"/>
          </a:xfrm>
          <a:prstGeom prst="ellipse">
            <a:avLst/>
          </a:prstGeom>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useBgFill="1">
        <p:nvSpPr>
          <p:cNvPr id="9" name="椭圆 8">
            <a:extLst>
              <a:ext uri="{FF2B5EF4-FFF2-40B4-BE49-F238E27FC236}">
                <a16:creationId xmlns:a16="http://schemas.microsoft.com/office/drawing/2014/main" id="{7FA3F270-787D-022B-69F3-198BA750E756}"/>
              </a:ext>
            </a:extLst>
          </p:cNvPr>
          <p:cNvSpPr/>
          <p:nvPr/>
        </p:nvSpPr>
        <p:spPr>
          <a:xfrm rot="4133242">
            <a:off x="918412" y="1214005"/>
            <a:ext cx="4503017" cy="4503017"/>
          </a:xfrm>
          <a:prstGeom prst="ellipse">
            <a:avLst/>
          </a:prstGeom>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useBgFill="1">
        <p:nvSpPr>
          <p:cNvPr id="10" name="椭圆 9">
            <a:extLst>
              <a:ext uri="{FF2B5EF4-FFF2-40B4-BE49-F238E27FC236}">
                <a16:creationId xmlns:a16="http://schemas.microsoft.com/office/drawing/2014/main" id="{7BC1E4BF-651C-BA1C-7B59-15320D1960F0}"/>
              </a:ext>
            </a:extLst>
          </p:cNvPr>
          <p:cNvSpPr/>
          <p:nvPr/>
        </p:nvSpPr>
        <p:spPr>
          <a:xfrm rot="9340581">
            <a:off x="1331495" y="1627088"/>
            <a:ext cx="3676850" cy="3676850"/>
          </a:xfrm>
          <a:prstGeom prst="ellipse">
            <a:avLst/>
          </a:prstGeom>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2" name="文本框 1">
            <a:extLst>
              <a:ext uri="{FF2B5EF4-FFF2-40B4-BE49-F238E27FC236}">
                <a16:creationId xmlns:a16="http://schemas.microsoft.com/office/drawing/2014/main" id="{7EE44A80-5299-8048-0D02-182D61D2B48F}"/>
              </a:ext>
            </a:extLst>
          </p:cNvPr>
          <p:cNvSpPr txBox="1"/>
          <p:nvPr/>
        </p:nvSpPr>
        <p:spPr>
          <a:xfrm>
            <a:off x="6271982" y="86583"/>
            <a:ext cx="5622594" cy="686341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四、全链条食安监控系统</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算法创新</a:t>
            </a: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1. </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区块链增强型溯源算法</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 </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研发轻量级</a:t>
            </a: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BFT</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共识协议，交易确认速度提升至</a:t>
            </a: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0.5</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秒</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 </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构建多链架构，实现每秒处理</a:t>
            </a: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3000+</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溯源请求</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2. </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多视角违规检测模型</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 </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开发时空注意力机制网络，融合</a:t>
            </a: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50</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路摄像头数据</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 </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建立</a:t>
            </a: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20</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类违规行为知识库，检测准确率达</a:t>
            </a: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99.8%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实体创新</a:t>
            </a: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1. </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智能监控阵列</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 </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部署纳米光子学传感器，支持微生物</a:t>
            </a: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农残</a:t>
            </a: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重金属三合一检测</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 </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开发自洁式采样探头，实现每</a:t>
            </a: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15</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分钟自动校准</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2. </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冷链应急处理装置</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 </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研制相变储能温控模块，断电后可持续保冷</a:t>
            </a: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8</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小时</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 </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集成臭氧</a:t>
            </a: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a:t>
            </a:r>
            <a:r>
              <a:rPr kumimoji="0" lang="zh-CN" altLang="en-US"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等离子体双重消杀系统，灭菌率</a:t>
            </a:r>
            <a:r>
              <a:rPr kumimoji="0" lang="en-US" altLang="zh-CN" sz="20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99.99%</a:t>
            </a:r>
          </a:p>
        </p:txBody>
      </p:sp>
      <p:pic>
        <p:nvPicPr>
          <p:cNvPr id="3" name="图片 2">
            <a:extLst>
              <a:ext uri="{FF2B5EF4-FFF2-40B4-BE49-F238E27FC236}">
                <a16:creationId xmlns:a16="http://schemas.microsoft.com/office/drawing/2014/main" id="{72A77ABF-3CB9-ADFA-E89B-77CCB7A7F760}"/>
              </a:ext>
            </a:extLst>
          </p:cNvPr>
          <p:cNvPicPr>
            <a:picLocks noChangeAspect="1"/>
          </p:cNvPicPr>
          <p:nvPr/>
        </p:nvPicPr>
        <p:blipFill>
          <a:blip r:embed="rId3"/>
          <a:stretch>
            <a:fillRect/>
          </a:stretch>
        </p:blipFill>
        <p:spPr>
          <a:xfrm>
            <a:off x="3047" y="0"/>
            <a:ext cx="12185905" cy="6858000"/>
          </a:xfrm>
          <a:prstGeom prst="rect">
            <a:avLst/>
          </a:prstGeom>
        </p:spPr>
      </p:pic>
    </p:spTree>
    <p:extLst>
      <p:ext uri="{BB962C8B-B14F-4D97-AF65-F5344CB8AC3E}">
        <p14:creationId xmlns:p14="http://schemas.microsoft.com/office/powerpoint/2010/main" val="17521060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4000" b="-14000"/>
          </a:stretch>
        </a:blipFill>
        <a:effectLst/>
      </p:bgPr>
    </p:bg>
    <p:spTree>
      <p:nvGrpSpPr>
        <p:cNvPr id="1" name="">
          <a:extLst>
            <a:ext uri="{FF2B5EF4-FFF2-40B4-BE49-F238E27FC236}">
              <a16:creationId xmlns:a16="http://schemas.microsoft.com/office/drawing/2014/main" id="{90BE5FEA-DA2D-C5F6-8495-E76C5123EF84}"/>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4E03C589-154D-84AA-909C-20EEF22DB34D}"/>
              </a:ext>
            </a:extLst>
          </p:cNvPr>
          <p:cNvSpPr/>
          <p:nvPr/>
        </p:nvSpPr>
        <p:spPr>
          <a:xfrm>
            <a:off x="-5303" y="0"/>
            <a:ext cx="12192000" cy="6858000"/>
          </a:xfrm>
          <a:prstGeom prst="rect">
            <a:avLst/>
          </a:prstGeom>
          <a:solidFill>
            <a:schemeClr val="tx1">
              <a:lumMod val="95000"/>
              <a:lumOff val="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useBgFill="1">
        <p:nvSpPr>
          <p:cNvPr id="8" name="椭圆 7">
            <a:extLst>
              <a:ext uri="{FF2B5EF4-FFF2-40B4-BE49-F238E27FC236}">
                <a16:creationId xmlns:a16="http://schemas.microsoft.com/office/drawing/2014/main" id="{D929B03D-BF1F-D102-997B-4A2E6783D7F6}"/>
              </a:ext>
            </a:extLst>
          </p:cNvPr>
          <p:cNvSpPr/>
          <p:nvPr/>
        </p:nvSpPr>
        <p:spPr>
          <a:xfrm>
            <a:off x="402657" y="698251"/>
            <a:ext cx="5534526" cy="5534526"/>
          </a:xfrm>
          <a:prstGeom prst="ellipse">
            <a:avLst/>
          </a:prstGeom>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useBgFill="1">
        <p:nvSpPr>
          <p:cNvPr id="9" name="椭圆 8">
            <a:extLst>
              <a:ext uri="{FF2B5EF4-FFF2-40B4-BE49-F238E27FC236}">
                <a16:creationId xmlns:a16="http://schemas.microsoft.com/office/drawing/2014/main" id="{22102830-AEC7-805D-7813-7C185B577F78}"/>
              </a:ext>
            </a:extLst>
          </p:cNvPr>
          <p:cNvSpPr/>
          <p:nvPr/>
        </p:nvSpPr>
        <p:spPr>
          <a:xfrm rot="13243037">
            <a:off x="918412" y="1214005"/>
            <a:ext cx="4503017" cy="4503017"/>
          </a:xfrm>
          <a:prstGeom prst="ellipse">
            <a:avLst/>
          </a:prstGeom>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useBgFill="1">
        <p:nvSpPr>
          <p:cNvPr id="10" name="椭圆 9">
            <a:extLst>
              <a:ext uri="{FF2B5EF4-FFF2-40B4-BE49-F238E27FC236}">
                <a16:creationId xmlns:a16="http://schemas.microsoft.com/office/drawing/2014/main" id="{E6519F98-D810-7B61-A486-8A908074AA68}"/>
              </a:ext>
            </a:extLst>
          </p:cNvPr>
          <p:cNvSpPr/>
          <p:nvPr/>
        </p:nvSpPr>
        <p:spPr>
          <a:xfrm rot="21156130">
            <a:off x="1331495" y="1627088"/>
            <a:ext cx="3676850" cy="3676850"/>
          </a:xfrm>
          <a:prstGeom prst="ellipse">
            <a:avLst/>
          </a:prstGeom>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2" name="椭圆 1">
            <a:extLst>
              <a:ext uri="{FF2B5EF4-FFF2-40B4-BE49-F238E27FC236}">
                <a16:creationId xmlns:a16="http://schemas.microsoft.com/office/drawing/2014/main" id="{FBB87E6B-3055-E0F9-88B0-8CDDC2DE3B69}"/>
              </a:ext>
            </a:extLst>
          </p:cNvPr>
          <p:cNvSpPr/>
          <p:nvPr/>
        </p:nvSpPr>
        <p:spPr>
          <a:xfrm>
            <a:off x="5799691" y="4482279"/>
            <a:ext cx="682945" cy="650448"/>
          </a:xfrm>
          <a:prstGeom prst="ellipse">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 name="文本框 2">
            <a:extLst>
              <a:ext uri="{FF2B5EF4-FFF2-40B4-BE49-F238E27FC236}">
                <a16:creationId xmlns:a16="http://schemas.microsoft.com/office/drawing/2014/main" id="{B12FBA8D-1133-F1ED-849B-5B347935E455}"/>
              </a:ext>
            </a:extLst>
          </p:cNvPr>
          <p:cNvSpPr txBox="1"/>
          <p:nvPr/>
        </p:nvSpPr>
        <p:spPr>
          <a:xfrm>
            <a:off x="6345143" y="33804"/>
            <a:ext cx="5534526" cy="6863417"/>
          </a:xfrm>
          <a:prstGeom prst="rect">
            <a:avLst/>
          </a:prstGeom>
          <a:noFill/>
        </p:spPr>
        <p:txBody>
          <a:bodyPr wrap="square" rtlCol="0">
            <a:spAutoFit/>
          </a:bodyPr>
          <a:lstStyle/>
          <a:p>
            <a:r>
              <a:rPr lang="zh-CN" altLang="en-US" sz="2000" dirty="0">
                <a:solidFill>
                  <a:schemeClr val="bg1"/>
                </a:solidFill>
              </a:rPr>
              <a:t>五、碳神经中枢管理系统</a:t>
            </a:r>
          </a:p>
          <a:p>
            <a:r>
              <a:rPr lang="en-US" altLang="zh-CN" sz="2000" dirty="0">
                <a:solidFill>
                  <a:schemeClr val="bg1"/>
                </a:solidFill>
              </a:rPr>
              <a:t>【</a:t>
            </a:r>
            <a:r>
              <a:rPr lang="zh-CN" altLang="en-US" sz="2000" dirty="0">
                <a:solidFill>
                  <a:schemeClr val="bg1"/>
                </a:solidFill>
              </a:rPr>
              <a:t>算法创新</a:t>
            </a:r>
            <a:r>
              <a:rPr lang="en-US" altLang="zh-CN" sz="2000" dirty="0">
                <a:solidFill>
                  <a:schemeClr val="bg1"/>
                </a:solidFill>
              </a:rPr>
              <a:t>】</a:t>
            </a:r>
          </a:p>
          <a:p>
            <a:r>
              <a:rPr lang="en-US" altLang="zh-CN" sz="2000" dirty="0">
                <a:solidFill>
                  <a:schemeClr val="bg1"/>
                </a:solidFill>
              </a:rPr>
              <a:t>1. </a:t>
            </a:r>
            <a:r>
              <a:rPr lang="zh-CN" altLang="en-US" sz="2000" dirty="0">
                <a:solidFill>
                  <a:schemeClr val="bg1"/>
                </a:solidFill>
              </a:rPr>
              <a:t>碳流拓扑优化算法</a:t>
            </a:r>
          </a:p>
          <a:p>
            <a:r>
              <a:rPr lang="en-US" altLang="zh-CN" sz="2000" dirty="0">
                <a:solidFill>
                  <a:schemeClr val="bg1"/>
                </a:solidFill>
              </a:rPr>
              <a:t>- </a:t>
            </a:r>
            <a:r>
              <a:rPr lang="zh-CN" altLang="en-US" sz="2000" dirty="0">
                <a:solidFill>
                  <a:schemeClr val="bg1"/>
                </a:solidFill>
              </a:rPr>
              <a:t>构建基于</a:t>
            </a:r>
            <a:r>
              <a:rPr lang="en-US" altLang="zh-CN" sz="2000" dirty="0">
                <a:solidFill>
                  <a:schemeClr val="bg1"/>
                </a:solidFill>
              </a:rPr>
              <a:t>Transformer</a:t>
            </a:r>
            <a:r>
              <a:rPr lang="zh-CN" altLang="en-US" sz="2000" dirty="0">
                <a:solidFill>
                  <a:schemeClr val="bg1"/>
                </a:solidFill>
              </a:rPr>
              <a:t>的碳足迹预测模型</a:t>
            </a:r>
          </a:p>
          <a:p>
            <a:r>
              <a:rPr lang="en-US" altLang="zh-CN" sz="2000" dirty="0">
                <a:solidFill>
                  <a:schemeClr val="bg1"/>
                </a:solidFill>
              </a:rPr>
              <a:t>- </a:t>
            </a:r>
            <a:r>
              <a:rPr lang="zh-CN" altLang="en-US" sz="2000" dirty="0">
                <a:solidFill>
                  <a:schemeClr val="bg1"/>
                </a:solidFill>
              </a:rPr>
              <a:t>开发多目标粒子群优化算法，实现碳排放降低</a:t>
            </a:r>
            <a:r>
              <a:rPr lang="en-US" altLang="zh-CN" sz="2000" dirty="0">
                <a:solidFill>
                  <a:schemeClr val="bg1"/>
                </a:solidFill>
              </a:rPr>
              <a:t>35%</a:t>
            </a:r>
          </a:p>
          <a:p>
            <a:endParaRPr lang="en-US" altLang="zh-CN" sz="2000" dirty="0">
              <a:solidFill>
                <a:schemeClr val="bg1"/>
              </a:solidFill>
            </a:endParaRPr>
          </a:p>
          <a:p>
            <a:r>
              <a:rPr lang="en-US" altLang="zh-CN" sz="2000" dirty="0">
                <a:solidFill>
                  <a:schemeClr val="bg1"/>
                </a:solidFill>
              </a:rPr>
              <a:t>2. </a:t>
            </a:r>
            <a:r>
              <a:rPr lang="zh-CN" altLang="en-US" sz="2000" dirty="0">
                <a:solidFill>
                  <a:schemeClr val="bg1"/>
                </a:solidFill>
              </a:rPr>
              <a:t>代谢路径智能设计</a:t>
            </a:r>
          </a:p>
          <a:p>
            <a:r>
              <a:rPr lang="en-US" altLang="zh-CN" sz="2000" dirty="0">
                <a:solidFill>
                  <a:schemeClr val="bg1"/>
                </a:solidFill>
              </a:rPr>
              <a:t>- </a:t>
            </a:r>
            <a:r>
              <a:rPr lang="zh-CN" altLang="en-US" sz="2000" dirty="0">
                <a:solidFill>
                  <a:schemeClr val="bg1"/>
                </a:solidFill>
              </a:rPr>
              <a:t>应用深度强化学习优化</a:t>
            </a:r>
            <a:r>
              <a:rPr lang="en-US" altLang="zh-CN" sz="2000" dirty="0">
                <a:solidFill>
                  <a:schemeClr val="bg1"/>
                </a:solidFill>
              </a:rPr>
              <a:t>CRISPR</a:t>
            </a:r>
            <a:r>
              <a:rPr lang="zh-CN" altLang="en-US" sz="2000" dirty="0">
                <a:solidFill>
                  <a:schemeClr val="bg1"/>
                </a:solidFill>
              </a:rPr>
              <a:t>编辑方案</a:t>
            </a:r>
          </a:p>
          <a:p>
            <a:r>
              <a:rPr lang="en-US" altLang="zh-CN" sz="2000" dirty="0">
                <a:solidFill>
                  <a:schemeClr val="bg1"/>
                </a:solidFill>
              </a:rPr>
              <a:t>- </a:t>
            </a:r>
            <a:r>
              <a:rPr lang="zh-CN" altLang="en-US" sz="2000" dirty="0">
                <a:solidFill>
                  <a:schemeClr val="bg1"/>
                </a:solidFill>
              </a:rPr>
              <a:t>生物柴油转化效率提升至</a:t>
            </a:r>
            <a:r>
              <a:rPr lang="en-US" altLang="zh-CN" sz="2000" dirty="0">
                <a:solidFill>
                  <a:schemeClr val="bg1"/>
                </a:solidFill>
              </a:rPr>
              <a:t>1:1.5</a:t>
            </a:r>
          </a:p>
          <a:p>
            <a:r>
              <a:rPr lang="en-US" altLang="zh-CN" sz="2000" dirty="0">
                <a:solidFill>
                  <a:schemeClr val="bg1"/>
                </a:solidFill>
              </a:rPr>
              <a:t>【</a:t>
            </a:r>
            <a:r>
              <a:rPr lang="zh-CN" altLang="en-US" sz="2000" dirty="0">
                <a:solidFill>
                  <a:schemeClr val="bg1"/>
                </a:solidFill>
              </a:rPr>
              <a:t>实体创新</a:t>
            </a:r>
            <a:r>
              <a:rPr lang="en-US" altLang="zh-CN" sz="2000" dirty="0">
                <a:solidFill>
                  <a:schemeClr val="bg1"/>
                </a:solidFill>
              </a:rPr>
              <a:t>】</a:t>
            </a:r>
          </a:p>
          <a:p>
            <a:r>
              <a:rPr lang="en-US" altLang="zh-CN" sz="2000" dirty="0">
                <a:solidFill>
                  <a:schemeClr val="bg1"/>
                </a:solidFill>
              </a:rPr>
              <a:t>1. </a:t>
            </a:r>
            <a:r>
              <a:rPr lang="zh-CN" altLang="en-US" sz="2000" dirty="0">
                <a:solidFill>
                  <a:schemeClr val="bg1"/>
                </a:solidFill>
              </a:rPr>
              <a:t>微藻固碳反应塔</a:t>
            </a:r>
          </a:p>
          <a:p>
            <a:r>
              <a:rPr lang="en-US" altLang="zh-CN" sz="2000" dirty="0">
                <a:solidFill>
                  <a:schemeClr val="bg1"/>
                </a:solidFill>
              </a:rPr>
              <a:t>- </a:t>
            </a:r>
            <a:r>
              <a:rPr lang="zh-CN" altLang="en-US" sz="2000" dirty="0">
                <a:solidFill>
                  <a:schemeClr val="bg1"/>
                </a:solidFill>
              </a:rPr>
              <a:t>开发光导纤维生物反应器，光能利用率提升</a:t>
            </a:r>
            <a:r>
              <a:rPr lang="en-US" altLang="zh-CN" sz="2000" dirty="0">
                <a:solidFill>
                  <a:schemeClr val="bg1"/>
                </a:solidFill>
              </a:rPr>
              <a:t>60%</a:t>
            </a:r>
          </a:p>
          <a:p>
            <a:r>
              <a:rPr lang="en-US" altLang="zh-CN" sz="2000" dirty="0">
                <a:solidFill>
                  <a:schemeClr val="bg1"/>
                </a:solidFill>
              </a:rPr>
              <a:t>- </a:t>
            </a:r>
            <a:r>
              <a:rPr lang="zh-CN" altLang="en-US" sz="2000" dirty="0">
                <a:solidFill>
                  <a:schemeClr val="bg1"/>
                </a:solidFill>
              </a:rPr>
              <a:t>构建多层气升式循环系统，</a:t>
            </a:r>
            <a:r>
              <a:rPr lang="en-US" altLang="zh-CN" sz="2000" dirty="0">
                <a:solidFill>
                  <a:schemeClr val="bg1"/>
                </a:solidFill>
              </a:rPr>
              <a:t>CO₂</a:t>
            </a:r>
            <a:r>
              <a:rPr lang="zh-CN" altLang="en-US" sz="2000" dirty="0">
                <a:solidFill>
                  <a:schemeClr val="bg1"/>
                </a:solidFill>
              </a:rPr>
              <a:t>固定速率达</a:t>
            </a:r>
            <a:r>
              <a:rPr lang="en-US" altLang="zh-CN" sz="2000" dirty="0">
                <a:solidFill>
                  <a:schemeClr val="bg1"/>
                </a:solidFill>
              </a:rPr>
              <a:t>200g/m³/h</a:t>
            </a:r>
          </a:p>
          <a:p>
            <a:endParaRPr lang="en-US" altLang="zh-CN" sz="2000" dirty="0">
              <a:solidFill>
                <a:schemeClr val="bg1"/>
              </a:solidFill>
            </a:endParaRPr>
          </a:p>
          <a:p>
            <a:r>
              <a:rPr lang="en-US" altLang="zh-CN" sz="2000" dirty="0">
                <a:solidFill>
                  <a:schemeClr val="bg1"/>
                </a:solidFill>
              </a:rPr>
              <a:t>2. </a:t>
            </a:r>
            <a:r>
              <a:rPr lang="zh-CN" altLang="en-US" sz="2000" dirty="0">
                <a:solidFill>
                  <a:schemeClr val="bg1"/>
                </a:solidFill>
              </a:rPr>
              <a:t>闭环处理系统</a:t>
            </a:r>
          </a:p>
          <a:p>
            <a:r>
              <a:rPr lang="en-US" altLang="zh-CN" sz="2000" dirty="0">
                <a:solidFill>
                  <a:schemeClr val="bg1"/>
                </a:solidFill>
              </a:rPr>
              <a:t>- </a:t>
            </a:r>
            <a:r>
              <a:rPr lang="zh-CN" altLang="en-US" sz="2000" dirty="0">
                <a:solidFill>
                  <a:schemeClr val="bg1"/>
                </a:solidFill>
              </a:rPr>
              <a:t>集成膜分离</a:t>
            </a:r>
            <a:r>
              <a:rPr lang="en-US" altLang="zh-CN" sz="2000" dirty="0">
                <a:solidFill>
                  <a:schemeClr val="bg1"/>
                </a:solidFill>
              </a:rPr>
              <a:t>+</a:t>
            </a:r>
            <a:r>
              <a:rPr lang="zh-CN" altLang="en-US" sz="2000" dirty="0">
                <a:solidFill>
                  <a:schemeClr val="bg1"/>
                </a:solidFill>
              </a:rPr>
              <a:t>电催化氧化装置，实现废水零排放</a:t>
            </a:r>
          </a:p>
          <a:p>
            <a:r>
              <a:rPr lang="en-US" altLang="zh-CN" sz="2000" dirty="0">
                <a:solidFill>
                  <a:schemeClr val="bg1"/>
                </a:solidFill>
              </a:rPr>
              <a:t>- </a:t>
            </a:r>
            <a:r>
              <a:rPr lang="zh-CN" altLang="en-US" sz="2000" dirty="0">
                <a:solidFill>
                  <a:schemeClr val="bg1"/>
                </a:solidFill>
              </a:rPr>
              <a:t>研制餐厨垃圾微波裂解设备，处理能力达</a:t>
            </a:r>
            <a:r>
              <a:rPr lang="en-US" altLang="zh-CN" sz="2000" dirty="0">
                <a:solidFill>
                  <a:schemeClr val="bg1"/>
                </a:solidFill>
              </a:rPr>
              <a:t>1</a:t>
            </a:r>
            <a:r>
              <a:rPr lang="zh-CN" altLang="en-US" sz="2000" dirty="0">
                <a:solidFill>
                  <a:schemeClr val="bg1"/>
                </a:solidFill>
              </a:rPr>
              <a:t>吨</a:t>
            </a:r>
            <a:r>
              <a:rPr lang="en-US" altLang="zh-CN" sz="2000" dirty="0">
                <a:solidFill>
                  <a:schemeClr val="bg1"/>
                </a:solidFill>
              </a:rPr>
              <a:t>/</a:t>
            </a:r>
            <a:r>
              <a:rPr lang="zh-CN" altLang="en-US" sz="2000" dirty="0">
                <a:solidFill>
                  <a:schemeClr val="bg1"/>
                </a:solidFill>
              </a:rPr>
              <a:t>小时</a:t>
            </a:r>
          </a:p>
        </p:txBody>
      </p:sp>
    </p:spTree>
    <p:extLst>
      <p:ext uri="{BB962C8B-B14F-4D97-AF65-F5344CB8AC3E}">
        <p14:creationId xmlns:p14="http://schemas.microsoft.com/office/powerpoint/2010/main" val="31498129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63CD8C33-483E-15B0-90AA-C344FABBCD6D}"/>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D66BD2D5-1529-A6A2-7FA4-4DFC8DE6777D}"/>
              </a:ext>
            </a:extLst>
          </p:cNvPr>
          <p:cNvSpPr/>
          <p:nvPr/>
        </p:nvSpPr>
        <p:spPr>
          <a:xfrm>
            <a:off x="-10606" y="0"/>
            <a:ext cx="12192000" cy="6858000"/>
          </a:xfrm>
          <a:prstGeom prst="rect">
            <a:avLst/>
          </a:prstGeom>
          <a:solidFill>
            <a:schemeClr val="tx1">
              <a:lumMod val="95000"/>
              <a:lumOff val="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useBgFill="1">
        <p:nvSpPr>
          <p:cNvPr id="8" name="椭圆 7">
            <a:extLst>
              <a:ext uri="{FF2B5EF4-FFF2-40B4-BE49-F238E27FC236}">
                <a16:creationId xmlns:a16="http://schemas.microsoft.com/office/drawing/2014/main" id="{40A6135D-22A0-615C-0FA3-E5CB70CAEFFE}"/>
              </a:ext>
            </a:extLst>
          </p:cNvPr>
          <p:cNvSpPr/>
          <p:nvPr/>
        </p:nvSpPr>
        <p:spPr>
          <a:xfrm>
            <a:off x="402657" y="698251"/>
            <a:ext cx="5534526" cy="5534526"/>
          </a:xfrm>
          <a:prstGeom prst="ellipse">
            <a:avLst/>
          </a:prstGeom>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useBgFill="1">
        <p:nvSpPr>
          <p:cNvPr id="9" name="椭圆 8">
            <a:extLst>
              <a:ext uri="{FF2B5EF4-FFF2-40B4-BE49-F238E27FC236}">
                <a16:creationId xmlns:a16="http://schemas.microsoft.com/office/drawing/2014/main" id="{A35FD5BC-9449-6C5D-645F-F44CEFD10D80}"/>
              </a:ext>
            </a:extLst>
          </p:cNvPr>
          <p:cNvSpPr/>
          <p:nvPr/>
        </p:nvSpPr>
        <p:spPr>
          <a:xfrm rot="7613060">
            <a:off x="918412" y="1214005"/>
            <a:ext cx="4503017" cy="4503017"/>
          </a:xfrm>
          <a:prstGeom prst="ellipse">
            <a:avLst/>
          </a:prstGeom>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useBgFill="1">
        <p:nvSpPr>
          <p:cNvPr id="10" name="椭圆 9">
            <a:extLst>
              <a:ext uri="{FF2B5EF4-FFF2-40B4-BE49-F238E27FC236}">
                <a16:creationId xmlns:a16="http://schemas.microsoft.com/office/drawing/2014/main" id="{6211D19F-19B9-479D-314D-D29F42E5BF78}"/>
              </a:ext>
            </a:extLst>
          </p:cNvPr>
          <p:cNvSpPr/>
          <p:nvPr/>
        </p:nvSpPr>
        <p:spPr>
          <a:xfrm rot="1336058">
            <a:off x="1331495" y="1627088"/>
            <a:ext cx="3676850" cy="3676850"/>
          </a:xfrm>
          <a:prstGeom prst="ellipse">
            <a:avLst/>
          </a:prstGeom>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3" name="椭圆 2">
            <a:extLst>
              <a:ext uri="{FF2B5EF4-FFF2-40B4-BE49-F238E27FC236}">
                <a16:creationId xmlns:a16="http://schemas.microsoft.com/office/drawing/2014/main" id="{1F5DEEF6-2BEB-DC10-E995-7F9578692666}"/>
              </a:ext>
            </a:extLst>
          </p:cNvPr>
          <p:cNvSpPr/>
          <p:nvPr/>
        </p:nvSpPr>
        <p:spPr>
          <a:xfrm>
            <a:off x="5799691" y="4482279"/>
            <a:ext cx="682945" cy="650448"/>
          </a:xfrm>
          <a:prstGeom prst="ellipse">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 name="文本框 3">
            <a:extLst>
              <a:ext uri="{FF2B5EF4-FFF2-40B4-BE49-F238E27FC236}">
                <a16:creationId xmlns:a16="http://schemas.microsoft.com/office/drawing/2014/main" id="{DEA7037D-808F-192E-2581-8DE0C4075F86}"/>
              </a:ext>
            </a:extLst>
          </p:cNvPr>
          <p:cNvSpPr txBox="1"/>
          <p:nvPr/>
        </p:nvSpPr>
        <p:spPr>
          <a:xfrm>
            <a:off x="6350447" y="97342"/>
            <a:ext cx="5534526" cy="6740307"/>
          </a:xfrm>
          <a:prstGeom prst="rect">
            <a:avLst/>
          </a:prstGeom>
          <a:noFill/>
        </p:spPr>
        <p:txBody>
          <a:bodyPr wrap="square" rtlCol="0">
            <a:spAutoFit/>
          </a:bodyPr>
          <a:lstStyle/>
          <a:p>
            <a:r>
              <a:rPr lang="zh-CN" altLang="en-US">
                <a:solidFill>
                  <a:schemeClr val="bg1"/>
                </a:solidFill>
              </a:rPr>
              <a:t>创新亮点总结</a:t>
            </a:r>
          </a:p>
          <a:p>
            <a:r>
              <a:rPr lang="zh-CN" altLang="en-US">
                <a:solidFill>
                  <a:schemeClr val="bg1"/>
                </a:solidFill>
              </a:rPr>
              <a:t>技术壁垒、高校数据资源优势：协同过滤等个性化算法和团队训练健康大模型，校方合作专属数据库提供数据支撑</a:t>
            </a:r>
          </a:p>
          <a:p>
            <a:r>
              <a:rPr lang="zh-CN" altLang="en-US">
                <a:solidFill>
                  <a:schemeClr val="bg1"/>
                </a:solidFill>
              </a:rPr>
              <a:t>个性化健康饮食推荐系统： “智饷”</a:t>
            </a:r>
            <a:r>
              <a:rPr lang="en-US" altLang="zh-CN">
                <a:solidFill>
                  <a:schemeClr val="bg1"/>
                </a:solidFill>
              </a:rPr>
              <a:t>app</a:t>
            </a:r>
            <a:r>
              <a:rPr lang="zh-CN" altLang="en-US">
                <a:solidFill>
                  <a:schemeClr val="bg1"/>
                </a:solidFill>
              </a:rPr>
              <a:t>联动，用户定制智能校园精灵</a:t>
            </a:r>
            <a:r>
              <a:rPr lang="en-US" altLang="zh-CN">
                <a:solidFill>
                  <a:schemeClr val="bg1"/>
                </a:solidFill>
              </a:rPr>
              <a:t>ai</a:t>
            </a:r>
            <a:r>
              <a:rPr lang="zh-CN" altLang="en-US">
                <a:solidFill>
                  <a:schemeClr val="bg1"/>
                </a:solidFill>
              </a:rPr>
              <a:t>健康助理“小智”，构建个人营养画像，提供个性化用餐建议，显著改善高校师生健康指标 </a:t>
            </a:r>
          </a:p>
          <a:p>
            <a:r>
              <a:rPr lang="zh-CN" altLang="en-US">
                <a:solidFill>
                  <a:schemeClr val="bg1"/>
                </a:solidFill>
              </a:rPr>
              <a:t>经济价值与管理效能：运营成本降低</a:t>
            </a:r>
            <a:r>
              <a:rPr lang="en-US" altLang="zh-CN">
                <a:solidFill>
                  <a:schemeClr val="bg1"/>
                </a:solidFill>
              </a:rPr>
              <a:t>20%</a:t>
            </a:r>
            <a:r>
              <a:rPr lang="zh-CN" altLang="en-US">
                <a:solidFill>
                  <a:schemeClr val="bg1"/>
                </a:solidFill>
              </a:rPr>
              <a:t>，年创收</a:t>
            </a:r>
            <a:r>
              <a:rPr lang="en-US" altLang="zh-CN">
                <a:solidFill>
                  <a:schemeClr val="bg1"/>
                </a:solidFill>
              </a:rPr>
              <a:t>300</a:t>
            </a:r>
            <a:r>
              <a:rPr lang="zh-CN" altLang="en-US">
                <a:solidFill>
                  <a:schemeClr val="bg1"/>
                </a:solidFill>
              </a:rPr>
              <a:t>万元（主要来自技术输出、餐饮模式推广与环保效益）；食安巡检人工投入减少约</a:t>
            </a:r>
            <a:r>
              <a:rPr lang="en-US" altLang="zh-CN">
                <a:solidFill>
                  <a:schemeClr val="bg1"/>
                </a:solidFill>
              </a:rPr>
              <a:t>75%</a:t>
            </a:r>
            <a:r>
              <a:rPr lang="zh-CN" altLang="en-US">
                <a:solidFill>
                  <a:schemeClr val="bg1"/>
                </a:solidFill>
              </a:rPr>
              <a:t>，监管效率提升</a:t>
            </a:r>
            <a:r>
              <a:rPr lang="en-US" altLang="zh-CN">
                <a:solidFill>
                  <a:schemeClr val="bg1"/>
                </a:solidFill>
              </a:rPr>
              <a:t>5</a:t>
            </a:r>
            <a:r>
              <a:rPr lang="zh-CN" altLang="en-US">
                <a:solidFill>
                  <a:schemeClr val="bg1"/>
                </a:solidFill>
              </a:rPr>
              <a:t>倍</a:t>
            </a:r>
          </a:p>
          <a:p>
            <a:r>
              <a:rPr lang="zh-CN" altLang="en-US">
                <a:solidFill>
                  <a:schemeClr val="bg1"/>
                </a:solidFill>
              </a:rPr>
              <a:t>应急能力：疫情、极端天气等特殊时期，启动无接触取餐和智能保温柜，确保高人流量封闭式供餐。大型活动如校庆等用餐高峰期启动备用餐车，迅速额外供应预制餐食</a:t>
            </a:r>
          </a:p>
          <a:p>
            <a:r>
              <a:rPr lang="zh-CN" altLang="en-US">
                <a:solidFill>
                  <a:schemeClr val="bg1"/>
                </a:solidFill>
              </a:rPr>
              <a:t>高校文化融合：开设“高校特色文创餐”窗口，为不同高校定制个性化</a:t>
            </a:r>
            <a:r>
              <a:rPr lang="en-US" altLang="zh-CN">
                <a:solidFill>
                  <a:schemeClr val="bg1"/>
                </a:solidFill>
              </a:rPr>
              <a:t>app</a:t>
            </a:r>
            <a:r>
              <a:rPr lang="zh-CN" altLang="en-US">
                <a:solidFill>
                  <a:schemeClr val="bg1"/>
                </a:solidFill>
              </a:rPr>
              <a:t>界面，充分展现高校多元学科特色，以人工智能赋能高校文化传播</a:t>
            </a:r>
          </a:p>
          <a:p>
            <a:r>
              <a:rPr lang="zh-CN" altLang="en-US">
                <a:solidFill>
                  <a:schemeClr val="bg1"/>
                </a:solidFill>
              </a:rPr>
              <a:t>整体成效：就餐效率提升</a:t>
            </a:r>
            <a:r>
              <a:rPr lang="en-US" altLang="zh-CN">
                <a:solidFill>
                  <a:schemeClr val="bg1"/>
                </a:solidFill>
              </a:rPr>
              <a:t>5</a:t>
            </a:r>
            <a:r>
              <a:rPr lang="zh-CN" altLang="en-US">
                <a:solidFill>
                  <a:schemeClr val="bg1"/>
                </a:solidFill>
              </a:rPr>
              <a:t>倍，师生用餐满意度预计可达</a:t>
            </a:r>
            <a:r>
              <a:rPr lang="en-US" altLang="zh-CN">
                <a:solidFill>
                  <a:schemeClr val="bg1"/>
                </a:solidFill>
              </a:rPr>
              <a:t>90%</a:t>
            </a:r>
            <a:r>
              <a:rPr lang="zh-CN" altLang="en-US">
                <a:solidFill>
                  <a:schemeClr val="bg1"/>
                </a:solidFill>
              </a:rPr>
              <a:t>，成为北京市教育部首批“未来校园餐饮创新中心”，方案可推广至全国多所高校。构建了“技术</a:t>
            </a:r>
            <a:r>
              <a:rPr lang="en-US" altLang="zh-CN">
                <a:solidFill>
                  <a:schemeClr val="bg1"/>
                </a:solidFill>
              </a:rPr>
              <a:t>-</a:t>
            </a:r>
            <a:r>
              <a:rPr lang="zh-CN" altLang="en-US">
                <a:solidFill>
                  <a:schemeClr val="bg1"/>
                </a:solidFill>
              </a:rPr>
              <a:t>服务</a:t>
            </a:r>
            <a:r>
              <a:rPr lang="en-US" altLang="zh-CN">
                <a:solidFill>
                  <a:schemeClr val="bg1"/>
                </a:solidFill>
              </a:rPr>
              <a:t>-</a:t>
            </a:r>
            <a:r>
              <a:rPr lang="zh-CN" altLang="en-US">
                <a:solidFill>
                  <a:schemeClr val="bg1"/>
                </a:solidFill>
              </a:rPr>
              <a:t>生态”三位一体的智慧餐饮新范式，为高校食堂数字化转型提供可复制的系统性解决方案。</a:t>
            </a:r>
            <a:endParaRPr lang="zh-CN" altLang="en-US" dirty="0">
              <a:solidFill>
                <a:schemeClr val="bg1"/>
              </a:solidFill>
            </a:endParaRPr>
          </a:p>
        </p:txBody>
      </p:sp>
    </p:spTree>
    <p:extLst>
      <p:ext uri="{BB962C8B-B14F-4D97-AF65-F5344CB8AC3E}">
        <p14:creationId xmlns:p14="http://schemas.microsoft.com/office/powerpoint/2010/main" val="14973373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2E69B57-3CA2-A32C-34E4-7F28F4475235}"/>
              </a:ext>
            </a:extLst>
          </p:cNvPr>
          <p:cNvSpPr txBox="1"/>
          <p:nvPr/>
        </p:nvSpPr>
        <p:spPr>
          <a:xfrm>
            <a:off x="519954" y="5925671"/>
            <a:ext cx="2429435" cy="461665"/>
          </a:xfrm>
          <a:prstGeom prst="rect">
            <a:avLst/>
          </a:prstGeom>
          <a:noFill/>
        </p:spPr>
        <p:txBody>
          <a:bodyPr wrap="square" rtlCol="0">
            <a:spAutoFit/>
          </a:bodyPr>
          <a:lstStyle/>
          <a:p>
            <a:pPr algn="ctr"/>
            <a:r>
              <a:rPr lang="zh-CN" altLang="en-US" sz="2400" dirty="0">
                <a:solidFill>
                  <a:schemeClr val="bg1"/>
                </a:solidFill>
              </a:rPr>
              <a:t>整体布局规划图</a:t>
            </a:r>
          </a:p>
        </p:txBody>
      </p:sp>
    </p:spTree>
    <p:extLst>
      <p:ext uri="{BB962C8B-B14F-4D97-AF65-F5344CB8AC3E}">
        <p14:creationId xmlns:p14="http://schemas.microsoft.com/office/powerpoint/2010/main" val="1989119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E6F1A6A-A6B0-C3CB-981A-1D63B4229859}"/>
              </a:ext>
            </a:extLst>
          </p:cNvPr>
          <p:cNvSpPr txBox="1"/>
          <p:nvPr/>
        </p:nvSpPr>
        <p:spPr>
          <a:xfrm>
            <a:off x="851649" y="367552"/>
            <a:ext cx="2339786" cy="584775"/>
          </a:xfrm>
          <a:prstGeom prst="rect">
            <a:avLst/>
          </a:prstGeom>
          <a:noFill/>
        </p:spPr>
        <p:txBody>
          <a:bodyPr wrap="square" rtlCol="0">
            <a:spAutoFit/>
          </a:bodyPr>
          <a:lstStyle/>
          <a:p>
            <a:r>
              <a:rPr lang="zh-CN" altLang="en-US" sz="3200" dirty="0"/>
              <a:t>实体效果图</a:t>
            </a:r>
          </a:p>
        </p:txBody>
      </p:sp>
      <p:pic>
        <p:nvPicPr>
          <p:cNvPr id="6" name="图片 5">
            <a:extLst>
              <a:ext uri="{FF2B5EF4-FFF2-40B4-BE49-F238E27FC236}">
                <a16:creationId xmlns:a16="http://schemas.microsoft.com/office/drawing/2014/main" id="{294767B3-36B8-2F3D-DA3E-918DF997C6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3953" y="143435"/>
            <a:ext cx="3307732" cy="2402540"/>
          </a:xfrm>
          <a:prstGeom prst="rect">
            <a:avLst/>
          </a:prstGeom>
        </p:spPr>
      </p:pic>
      <p:sp>
        <p:nvSpPr>
          <p:cNvPr id="7" name="文本框 6">
            <a:extLst>
              <a:ext uri="{FF2B5EF4-FFF2-40B4-BE49-F238E27FC236}">
                <a16:creationId xmlns:a16="http://schemas.microsoft.com/office/drawing/2014/main" id="{3F4FCF5A-3E97-BAFD-2400-E75CF8AFAE29}"/>
              </a:ext>
            </a:extLst>
          </p:cNvPr>
          <p:cNvSpPr txBox="1"/>
          <p:nvPr/>
        </p:nvSpPr>
        <p:spPr>
          <a:xfrm>
            <a:off x="3645890" y="2621287"/>
            <a:ext cx="3083859" cy="369332"/>
          </a:xfrm>
          <a:prstGeom prst="rect">
            <a:avLst/>
          </a:prstGeom>
          <a:noFill/>
        </p:spPr>
        <p:txBody>
          <a:bodyPr wrap="square" rtlCol="0">
            <a:spAutoFit/>
          </a:bodyPr>
          <a:lstStyle/>
          <a:p>
            <a:pPr algn="ctr"/>
            <a:r>
              <a:rPr lang="zh-CN" altLang="en-US" dirty="0"/>
              <a:t>显示大屏</a:t>
            </a:r>
          </a:p>
        </p:txBody>
      </p:sp>
      <p:pic>
        <p:nvPicPr>
          <p:cNvPr id="9" name="图片 8">
            <a:extLst>
              <a:ext uri="{FF2B5EF4-FFF2-40B4-BE49-F238E27FC236}">
                <a16:creationId xmlns:a16="http://schemas.microsoft.com/office/drawing/2014/main" id="{DB505C68-5276-57D2-961F-56C998633F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3058" y="182376"/>
            <a:ext cx="3577874" cy="2363599"/>
          </a:xfrm>
          <a:prstGeom prst="rect">
            <a:avLst/>
          </a:prstGeom>
        </p:spPr>
      </p:pic>
      <p:sp>
        <p:nvSpPr>
          <p:cNvPr id="10" name="文本框 9">
            <a:extLst>
              <a:ext uri="{FF2B5EF4-FFF2-40B4-BE49-F238E27FC236}">
                <a16:creationId xmlns:a16="http://schemas.microsoft.com/office/drawing/2014/main" id="{EE0BBC76-C488-8DA6-BEE2-BA0EFEEFF243}"/>
              </a:ext>
            </a:extLst>
          </p:cNvPr>
          <p:cNvSpPr txBox="1"/>
          <p:nvPr/>
        </p:nvSpPr>
        <p:spPr>
          <a:xfrm>
            <a:off x="8207619" y="2621287"/>
            <a:ext cx="2348752" cy="369332"/>
          </a:xfrm>
          <a:prstGeom prst="rect">
            <a:avLst/>
          </a:prstGeom>
          <a:noFill/>
        </p:spPr>
        <p:txBody>
          <a:bodyPr wrap="square" rtlCol="0">
            <a:spAutoFit/>
          </a:bodyPr>
          <a:lstStyle/>
          <a:p>
            <a:pPr algn="ctr"/>
            <a:r>
              <a:rPr lang="zh-CN" altLang="en-US" dirty="0"/>
              <a:t>移动终端机器人</a:t>
            </a:r>
          </a:p>
        </p:txBody>
      </p:sp>
      <p:pic>
        <p:nvPicPr>
          <p:cNvPr id="12" name="图片 11">
            <a:extLst>
              <a:ext uri="{FF2B5EF4-FFF2-40B4-BE49-F238E27FC236}">
                <a16:creationId xmlns:a16="http://schemas.microsoft.com/office/drawing/2014/main" id="{3B9510D0-8C60-3FD5-E896-99B7C8E984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8158" y="3429000"/>
            <a:ext cx="3307732" cy="2277326"/>
          </a:xfrm>
          <a:prstGeom prst="rect">
            <a:avLst/>
          </a:prstGeom>
        </p:spPr>
      </p:pic>
      <p:sp>
        <p:nvSpPr>
          <p:cNvPr id="13" name="文本框 12">
            <a:extLst>
              <a:ext uri="{FF2B5EF4-FFF2-40B4-BE49-F238E27FC236}">
                <a16:creationId xmlns:a16="http://schemas.microsoft.com/office/drawing/2014/main" id="{14BAB6AA-A03D-2E5D-7DC4-66876F260850}"/>
              </a:ext>
            </a:extLst>
          </p:cNvPr>
          <p:cNvSpPr txBox="1"/>
          <p:nvPr/>
        </p:nvSpPr>
        <p:spPr>
          <a:xfrm>
            <a:off x="1013012" y="5793305"/>
            <a:ext cx="1783977" cy="369332"/>
          </a:xfrm>
          <a:prstGeom prst="rect">
            <a:avLst/>
          </a:prstGeom>
          <a:noFill/>
        </p:spPr>
        <p:txBody>
          <a:bodyPr wrap="square" rtlCol="0">
            <a:spAutoFit/>
          </a:bodyPr>
          <a:lstStyle/>
          <a:p>
            <a:pPr algn="ctr"/>
            <a:r>
              <a:rPr lang="zh-CN" altLang="en-US" dirty="0"/>
              <a:t>食堂大厅</a:t>
            </a:r>
          </a:p>
        </p:txBody>
      </p:sp>
      <p:pic>
        <p:nvPicPr>
          <p:cNvPr id="15" name="图片 14">
            <a:extLst>
              <a:ext uri="{FF2B5EF4-FFF2-40B4-BE49-F238E27FC236}">
                <a16:creationId xmlns:a16="http://schemas.microsoft.com/office/drawing/2014/main" id="{D7CFF4EF-557C-3FE8-DB68-3B431336877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85326" y="3429000"/>
            <a:ext cx="3305091" cy="2313825"/>
          </a:xfrm>
          <a:prstGeom prst="rect">
            <a:avLst/>
          </a:prstGeom>
        </p:spPr>
      </p:pic>
      <p:sp>
        <p:nvSpPr>
          <p:cNvPr id="16" name="文本框 15">
            <a:extLst>
              <a:ext uri="{FF2B5EF4-FFF2-40B4-BE49-F238E27FC236}">
                <a16:creationId xmlns:a16="http://schemas.microsoft.com/office/drawing/2014/main" id="{24DF27D7-83B5-2E2D-B1B3-B3A50BA61B8D}"/>
              </a:ext>
            </a:extLst>
          </p:cNvPr>
          <p:cNvSpPr txBox="1"/>
          <p:nvPr/>
        </p:nvSpPr>
        <p:spPr>
          <a:xfrm>
            <a:off x="4945772" y="5793305"/>
            <a:ext cx="1783977" cy="369332"/>
          </a:xfrm>
          <a:prstGeom prst="rect">
            <a:avLst/>
          </a:prstGeom>
          <a:noFill/>
        </p:spPr>
        <p:txBody>
          <a:bodyPr wrap="square" rtlCol="0">
            <a:spAutoFit/>
          </a:bodyPr>
          <a:lstStyle/>
          <a:p>
            <a:pPr algn="ctr"/>
            <a:r>
              <a:rPr lang="zh-CN" altLang="en-US" dirty="0"/>
              <a:t>洗碗传送机</a:t>
            </a:r>
          </a:p>
        </p:txBody>
      </p:sp>
      <p:pic>
        <p:nvPicPr>
          <p:cNvPr id="18" name="图片 17">
            <a:extLst>
              <a:ext uri="{FF2B5EF4-FFF2-40B4-BE49-F238E27FC236}">
                <a16:creationId xmlns:a16="http://schemas.microsoft.com/office/drawing/2014/main" id="{3D7BB4B9-7DD2-9A1F-6FD0-6FD9364866F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07619" y="3429000"/>
            <a:ext cx="3213416" cy="2281144"/>
          </a:xfrm>
          <a:prstGeom prst="rect">
            <a:avLst/>
          </a:prstGeom>
        </p:spPr>
      </p:pic>
      <p:sp>
        <p:nvSpPr>
          <p:cNvPr id="19" name="文本框 18">
            <a:extLst>
              <a:ext uri="{FF2B5EF4-FFF2-40B4-BE49-F238E27FC236}">
                <a16:creationId xmlns:a16="http://schemas.microsoft.com/office/drawing/2014/main" id="{DD3E27B5-4F2D-481A-41F8-77A7D4134EF4}"/>
              </a:ext>
            </a:extLst>
          </p:cNvPr>
          <p:cNvSpPr txBox="1"/>
          <p:nvPr/>
        </p:nvSpPr>
        <p:spPr>
          <a:xfrm>
            <a:off x="8886480" y="5793305"/>
            <a:ext cx="1855694" cy="369332"/>
          </a:xfrm>
          <a:prstGeom prst="rect">
            <a:avLst/>
          </a:prstGeom>
          <a:noFill/>
        </p:spPr>
        <p:txBody>
          <a:bodyPr wrap="square" rtlCol="0">
            <a:spAutoFit/>
          </a:bodyPr>
          <a:lstStyle/>
          <a:p>
            <a:pPr algn="ctr"/>
            <a:r>
              <a:rPr lang="zh-CN" altLang="en-US" dirty="0"/>
              <a:t>自动打饭机</a:t>
            </a:r>
          </a:p>
        </p:txBody>
      </p:sp>
    </p:spTree>
    <p:extLst>
      <p:ext uri="{BB962C8B-B14F-4D97-AF65-F5344CB8AC3E}">
        <p14:creationId xmlns:p14="http://schemas.microsoft.com/office/powerpoint/2010/main" val="5739967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309FF75-D1CF-011C-CBCA-3223D32BCED3}"/>
              </a:ext>
            </a:extLst>
          </p:cNvPr>
          <p:cNvSpPr txBox="1"/>
          <p:nvPr/>
        </p:nvSpPr>
        <p:spPr>
          <a:xfrm>
            <a:off x="466165" y="537882"/>
            <a:ext cx="12192000" cy="1015663"/>
          </a:xfrm>
          <a:prstGeom prst="rect">
            <a:avLst/>
          </a:prstGeom>
          <a:noFill/>
        </p:spPr>
        <p:txBody>
          <a:bodyPr wrap="square" rtlCol="0">
            <a:spAutoFit/>
          </a:bodyPr>
          <a:lstStyle/>
          <a:p>
            <a:r>
              <a:rPr lang="zh-CN" altLang="en-US" sz="6000" dirty="0"/>
              <a:t>部分算法展示</a:t>
            </a:r>
          </a:p>
        </p:txBody>
      </p:sp>
      <p:sp>
        <p:nvSpPr>
          <p:cNvPr id="10" name="文本框 9">
            <a:extLst>
              <a:ext uri="{FF2B5EF4-FFF2-40B4-BE49-F238E27FC236}">
                <a16:creationId xmlns:a16="http://schemas.microsoft.com/office/drawing/2014/main" id="{2FDBB1DB-0EAF-C5F6-AEE9-E68655E2CAA0}"/>
              </a:ext>
            </a:extLst>
          </p:cNvPr>
          <p:cNvSpPr txBox="1"/>
          <p:nvPr/>
        </p:nvSpPr>
        <p:spPr>
          <a:xfrm>
            <a:off x="4132730" y="3105834"/>
            <a:ext cx="4231341" cy="646331"/>
          </a:xfrm>
          <a:prstGeom prst="rect">
            <a:avLst/>
          </a:prstGeom>
          <a:noFill/>
        </p:spPr>
        <p:txBody>
          <a:bodyPr wrap="square" rtlCol="0">
            <a:spAutoFit/>
          </a:bodyPr>
          <a:lstStyle/>
          <a:p>
            <a:r>
              <a:rPr lang="en-US" altLang="zh-CN" dirty="0">
                <a:hlinkClick r:id="rId2" action="ppaction://hlinkfile"/>
              </a:rPr>
              <a:t>C:\Users\96404\Desktop\</a:t>
            </a:r>
            <a:r>
              <a:rPr lang="zh-CN" altLang="en-US" dirty="0">
                <a:hlinkClick r:id="rId2" action="ppaction://hlinkfile"/>
              </a:rPr>
              <a:t>个性化算法</a:t>
            </a:r>
            <a:r>
              <a:rPr lang="en-US" altLang="zh-CN" dirty="0">
                <a:hlinkClick r:id="rId2" action="ppaction://hlinkfile"/>
              </a:rPr>
              <a:t>(3).docx</a:t>
            </a:r>
            <a:endParaRPr lang="zh-CN" altLang="en-US" dirty="0"/>
          </a:p>
        </p:txBody>
      </p:sp>
    </p:spTree>
    <p:extLst>
      <p:ext uri="{BB962C8B-B14F-4D97-AF65-F5344CB8AC3E}">
        <p14:creationId xmlns:p14="http://schemas.microsoft.com/office/powerpoint/2010/main" val="36165422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D0344-B572-2A20-1232-20244154DB9C}"/>
            </a:ext>
          </a:extLst>
        </p:cNvPr>
        <p:cNvGrpSpPr/>
        <p:nvPr/>
      </p:nvGrpSpPr>
      <p:grpSpPr>
        <a:xfrm>
          <a:off x="0" y="0"/>
          <a:ext cx="0" cy="0"/>
          <a:chOff x="0" y="0"/>
          <a:chExt cx="0" cy="0"/>
        </a:xfrm>
      </p:grpSpPr>
      <p:pic>
        <p:nvPicPr>
          <p:cNvPr id="26" name="图片 25">
            <a:extLst>
              <a:ext uri="{FF2B5EF4-FFF2-40B4-BE49-F238E27FC236}">
                <a16:creationId xmlns:a16="http://schemas.microsoft.com/office/drawing/2014/main" id="{09D0AA07-DD9B-9065-405C-518C27758A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4678" y="0"/>
            <a:ext cx="11165305" cy="6858000"/>
          </a:xfrm>
          <a:prstGeom prst="rect">
            <a:avLst/>
          </a:prstGeom>
        </p:spPr>
      </p:pic>
      <p:sp>
        <p:nvSpPr>
          <p:cNvPr id="5" name="文本框 4">
            <a:extLst>
              <a:ext uri="{FF2B5EF4-FFF2-40B4-BE49-F238E27FC236}">
                <a16:creationId xmlns:a16="http://schemas.microsoft.com/office/drawing/2014/main" id="{CBE53FB4-A95C-4932-DD02-ABB6B31D0504}"/>
              </a:ext>
            </a:extLst>
          </p:cNvPr>
          <p:cNvSpPr txBox="1"/>
          <p:nvPr/>
        </p:nvSpPr>
        <p:spPr>
          <a:xfrm>
            <a:off x="3718560" y="2432414"/>
            <a:ext cx="4581625" cy="218521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600" b="0" i="0" u="none" strike="noStrike" kern="1200" cap="none" spc="0" normalizeH="0" baseline="0" noProof="0" dirty="0">
                <a:ln>
                  <a:noFill/>
                </a:ln>
                <a:solidFill>
                  <a:srgbClr val="4472C4"/>
                </a:solidFill>
                <a:effectLst/>
                <a:uLnTx/>
                <a:uFillTx/>
                <a:latin typeface="华文行楷" panose="02010800040101010101" pitchFamily="2" charset="-122"/>
                <a:ea typeface="华文行楷" panose="02010800040101010101" pitchFamily="2" charset="-122"/>
                <a:cs typeface="+mn-cs"/>
              </a:rPr>
              <a:t>目录</a:t>
            </a:r>
            <a:endParaRPr kumimoji="0" lang="en-US" altLang="zh-CN" sz="9600" b="0" i="0" u="none" strike="noStrike" kern="1200" cap="none" spc="0" normalizeH="0" baseline="0" noProof="0" dirty="0">
              <a:ln>
                <a:noFill/>
              </a:ln>
              <a:solidFill>
                <a:srgbClr val="4472C4"/>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4472C4"/>
                </a:solidFill>
                <a:effectLst/>
                <a:uLnTx/>
                <a:uFillTx/>
                <a:latin typeface="等线" panose="02010600030101010101" pitchFamily="2" charset="-122"/>
                <a:ea typeface="等线" panose="02010600030101010101" pitchFamily="2" charset="-122"/>
                <a:cs typeface="+mn-cs"/>
              </a:rPr>
              <a:t>content</a:t>
            </a:r>
            <a:endParaRPr kumimoji="0" lang="zh-CN" altLang="en-US" sz="4000" b="0" i="0" u="none" strike="noStrike" kern="1200" cap="none" spc="0" normalizeH="0" baseline="0" noProof="0" dirty="0">
              <a:ln>
                <a:noFill/>
              </a:ln>
              <a:solidFill>
                <a:srgbClr val="4472C4"/>
              </a:solidFill>
              <a:effectLst/>
              <a:uLnTx/>
              <a:uFillTx/>
              <a:latin typeface="等线" panose="02010600030101010101" pitchFamily="2" charset="-122"/>
              <a:ea typeface="等线" panose="02010600030101010101" pitchFamily="2" charset="-122"/>
              <a:cs typeface="+mn-cs"/>
            </a:endParaRPr>
          </a:p>
        </p:txBody>
      </p:sp>
      <p:sp>
        <p:nvSpPr>
          <p:cNvPr id="8" name="任意多边形: 形状 7">
            <a:extLst>
              <a:ext uri="{FF2B5EF4-FFF2-40B4-BE49-F238E27FC236}">
                <a16:creationId xmlns:a16="http://schemas.microsoft.com/office/drawing/2014/main" id="{D768D7EF-EFDD-77C2-FB5A-EE0C5C3D8A80}"/>
              </a:ext>
            </a:extLst>
          </p:cNvPr>
          <p:cNvSpPr/>
          <p:nvPr/>
        </p:nvSpPr>
        <p:spPr>
          <a:xfrm>
            <a:off x="2416142"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0" name="任意多边形: 形状 9">
            <a:extLst>
              <a:ext uri="{FF2B5EF4-FFF2-40B4-BE49-F238E27FC236}">
                <a16:creationId xmlns:a16="http://schemas.microsoft.com/office/drawing/2014/main" id="{9251A4CC-B5D0-5EBD-5AD6-D8417DF4D631}"/>
              </a:ext>
            </a:extLst>
          </p:cNvPr>
          <p:cNvSpPr/>
          <p:nvPr/>
        </p:nvSpPr>
        <p:spPr>
          <a:xfrm>
            <a:off x="2649756"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solidFill>
            <a:schemeClr val="accent1">
              <a:lumMod val="20000"/>
              <a:lumOff val="80000"/>
            </a:schemeClr>
          </a:solidFill>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1" name="任意多边形: 形状 10">
            <a:extLst>
              <a:ext uri="{FF2B5EF4-FFF2-40B4-BE49-F238E27FC236}">
                <a16:creationId xmlns:a16="http://schemas.microsoft.com/office/drawing/2014/main" id="{DB34FF41-E1C4-0BB7-D015-6955F4323FF2}"/>
              </a:ext>
            </a:extLst>
          </p:cNvPr>
          <p:cNvSpPr/>
          <p:nvPr/>
        </p:nvSpPr>
        <p:spPr>
          <a:xfrm>
            <a:off x="2883370"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solidFill>
            <a:schemeClr val="bg1"/>
          </a:solidFill>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4" name="文本框 3">
            <a:extLst>
              <a:ext uri="{FF2B5EF4-FFF2-40B4-BE49-F238E27FC236}">
                <a16:creationId xmlns:a16="http://schemas.microsoft.com/office/drawing/2014/main" id="{F41DEE0B-692B-03E4-41B0-8F589DC7E519}"/>
              </a:ext>
            </a:extLst>
          </p:cNvPr>
          <p:cNvSpPr txBox="1"/>
          <p:nvPr/>
        </p:nvSpPr>
        <p:spPr>
          <a:xfrm>
            <a:off x="-426120" y="2336391"/>
            <a:ext cx="4581625" cy="218521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600" b="0" i="0" u="none" strike="noStrike" kern="1200" cap="none" spc="0" normalizeH="0" baseline="0" noProof="0" dirty="0">
                <a:ln>
                  <a:noFill/>
                </a:ln>
                <a:solidFill>
                  <a:srgbClr val="C00000"/>
                </a:solidFill>
                <a:effectLst/>
                <a:uLnTx/>
                <a:uFillTx/>
                <a:latin typeface="华文行楷" panose="02010800040101010101" pitchFamily="2" charset="-122"/>
                <a:ea typeface="华文行楷" panose="02010800040101010101" pitchFamily="2" charset="-122"/>
                <a:cs typeface="+mn-cs"/>
              </a:rPr>
              <a:t>目录</a:t>
            </a:r>
            <a:endParaRPr kumimoji="0" lang="en-US" altLang="zh-CN" sz="9600" b="0" i="0" u="none" strike="noStrike" kern="1200" cap="none" spc="0" normalizeH="0" baseline="0" noProof="0" dirty="0">
              <a:ln>
                <a:noFill/>
              </a:ln>
              <a:solidFill>
                <a:srgbClr val="C00000"/>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C00000"/>
                </a:solidFill>
                <a:effectLst/>
                <a:uLnTx/>
                <a:uFillTx/>
                <a:latin typeface="等线" panose="02010600030101010101" pitchFamily="2" charset="-122"/>
                <a:ea typeface="等线" panose="02010600030101010101" pitchFamily="2" charset="-122"/>
                <a:cs typeface="+mn-cs"/>
              </a:rPr>
              <a:t>content</a:t>
            </a:r>
            <a:endParaRPr kumimoji="0" lang="zh-CN" altLang="en-US" sz="4000" b="0" i="0" u="none" strike="noStrike" kern="1200" cap="none" spc="0" normalizeH="0" baseline="0" noProof="0" dirty="0">
              <a:ln>
                <a:noFill/>
              </a:ln>
              <a:solidFill>
                <a:srgbClr val="C00000"/>
              </a:solidFill>
              <a:effectLst/>
              <a:uLnTx/>
              <a:uFillTx/>
              <a:latin typeface="等线" panose="02010600030101010101" pitchFamily="2" charset="-122"/>
              <a:ea typeface="等线" panose="02010600030101010101" pitchFamily="2" charset="-122"/>
              <a:cs typeface="+mn-cs"/>
            </a:endParaRPr>
          </a:p>
        </p:txBody>
      </p:sp>
      <p:grpSp>
        <p:nvGrpSpPr>
          <p:cNvPr id="24" name="组合 23">
            <a:extLst>
              <a:ext uri="{FF2B5EF4-FFF2-40B4-BE49-F238E27FC236}">
                <a16:creationId xmlns:a16="http://schemas.microsoft.com/office/drawing/2014/main" id="{6EF856C8-A2B5-78AB-A27C-C93CB42B1E91}"/>
              </a:ext>
            </a:extLst>
          </p:cNvPr>
          <p:cNvGrpSpPr/>
          <p:nvPr/>
        </p:nvGrpSpPr>
        <p:grpSpPr>
          <a:xfrm>
            <a:off x="5248543" y="642621"/>
            <a:ext cx="1273629" cy="544286"/>
            <a:chOff x="5034642" y="1306286"/>
            <a:chExt cx="1273629" cy="544286"/>
          </a:xfrm>
        </p:grpSpPr>
        <p:sp>
          <p:nvSpPr>
            <p:cNvPr id="6" name="箭头: V 形 5">
              <a:extLst>
                <a:ext uri="{FF2B5EF4-FFF2-40B4-BE49-F238E27FC236}">
                  <a16:creationId xmlns:a16="http://schemas.microsoft.com/office/drawing/2014/main" id="{57CD156D-A62D-1C99-1A3E-EF268416193C}"/>
                </a:ext>
              </a:extLst>
            </p:cNvPr>
            <p:cNvSpPr/>
            <p:nvPr/>
          </p:nvSpPr>
          <p:spPr>
            <a:xfrm>
              <a:off x="5034642"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 name="箭头: V 形 6">
              <a:extLst>
                <a:ext uri="{FF2B5EF4-FFF2-40B4-BE49-F238E27FC236}">
                  <a16:creationId xmlns:a16="http://schemas.microsoft.com/office/drawing/2014/main" id="{5B8F6887-004C-3AC3-AC47-A2D21EAB4E4A}"/>
                </a:ext>
              </a:extLst>
            </p:cNvPr>
            <p:cNvSpPr/>
            <p:nvPr/>
          </p:nvSpPr>
          <p:spPr>
            <a:xfrm>
              <a:off x="5459185"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9" name="箭头: V 形 8">
              <a:extLst>
                <a:ext uri="{FF2B5EF4-FFF2-40B4-BE49-F238E27FC236}">
                  <a16:creationId xmlns:a16="http://schemas.microsoft.com/office/drawing/2014/main" id="{11450D6C-D76A-9756-DE6C-3F6150B241B2}"/>
                </a:ext>
              </a:extLst>
            </p:cNvPr>
            <p:cNvSpPr/>
            <p:nvPr/>
          </p:nvSpPr>
          <p:spPr>
            <a:xfrm>
              <a:off x="5883728"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5" name="组合 24">
            <a:extLst>
              <a:ext uri="{FF2B5EF4-FFF2-40B4-BE49-F238E27FC236}">
                <a16:creationId xmlns:a16="http://schemas.microsoft.com/office/drawing/2014/main" id="{C969B1B0-7A46-2312-7CEA-13665DCD40EA}"/>
              </a:ext>
            </a:extLst>
          </p:cNvPr>
          <p:cNvGrpSpPr/>
          <p:nvPr/>
        </p:nvGrpSpPr>
        <p:grpSpPr>
          <a:xfrm>
            <a:off x="5249577" y="1711368"/>
            <a:ext cx="1273629" cy="544286"/>
            <a:chOff x="5034642" y="2242458"/>
            <a:chExt cx="1273629" cy="544286"/>
          </a:xfrm>
        </p:grpSpPr>
        <p:sp>
          <p:nvSpPr>
            <p:cNvPr id="12" name="箭头: V 形 11">
              <a:extLst>
                <a:ext uri="{FF2B5EF4-FFF2-40B4-BE49-F238E27FC236}">
                  <a16:creationId xmlns:a16="http://schemas.microsoft.com/office/drawing/2014/main" id="{34E7CDA1-871A-AD31-A4D0-57EC611014B8}"/>
                </a:ext>
              </a:extLst>
            </p:cNvPr>
            <p:cNvSpPr/>
            <p:nvPr/>
          </p:nvSpPr>
          <p:spPr>
            <a:xfrm>
              <a:off x="5034642"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3" name="箭头: V 形 12">
              <a:extLst>
                <a:ext uri="{FF2B5EF4-FFF2-40B4-BE49-F238E27FC236}">
                  <a16:creationId xmlns:a16="http://schemas.microsoft.com/office/drawing/2014/main" id="{9003C2E7-AC4D-002B-4A1D-646F247635CD}"/>
                </a:ext>
              </a:extLst>
            </p:cNvPr>
            <p:cNvSpPr/>
            <p:nvPr/>
          </p:nvSpPr>
          <p:spPr>
            <a:xfrm>
              <a:off x="5459185"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4" name="箭头: V 形 13">
              <a:extLst>
                <a:ext uri="{FF2B5EF4-FFF2-40B4-BE49-F238E27FC236}">
                  <a16:creationId xmlns:a16="http://schemas.microsoft.com/office/drawing/2014/main" id="{6A6B430B-9741-FA8D-1B5A-9516A67F71C2}"/>
                </a:ext>
              </a:extLst>
            </p:cNvPr>
            <p:cNvSpPr/>
            <p:nvPr/>
          </p:nvSpPr>
          <p:spPr>
            <a:xfrm>
              <a:off x="5883728"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8" name="组合 27">
            <a:extLst>
              <a:ext uri="{FF2B5EF4-FFF2-40B4-BE49-F238E27FC236}">
                <a16:creationId xmlns:a16="http://schemas.microsoft.com/office/drawing/2014/main" id="{1A22A413-B1C3-7BFC-5702-F9914863019F}"/>
              </a:ext>
            </a:extLst>
          </p:cNvPr>
          <p:cNvGrpSpPr/>
          <p:nvPr/>
        </p:nvGrpSpPr>
        <p:grpSpPr>
          <a:xfrm>
            <a:off x="14602294" y="3119036"/>
            <a:ext cx="1273629" cy="544286"/>
            <a:chOff x="5034642" y="3178630"/>
            <a:chExt cx="1273629" cy="544286"/>
          </a:xfrm>
        </p:grpSpPr>
        <p:sp>
          <p:nvSpPr>
            <p:cNvPr id="15" name="箭头: V 形 14">
              <a:extLst>
                <a:ext uri="{FF2B5EF4-FFF2-40B4-BE49-F238E27FC236}">
                  <a16:creationId xmlns:a16="http://schemas.microsoft.com/office/drawing/2014/main" id="{D8FB7397-0611-BB96-EAC0-F4234192E658}"/>
                </a:ext>
              </a:extLst>
            </p:cNvPr>
            <p:cNvSpPr/>
            <p:nvPr/>
          </p:nvSpPr>
          <p:spPr>
            <a:xfrm>
              <a:off x="5034642"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 name="箭头: V 形 15">
              <a:extLst>
                <a:ext uri="{FF2B5EF4-FFF2-40B4-BE49-F238E27FC236}">
                  <a16:creationId xmlns:a16="http://schemas.microsoft.com/office/drawing/2014/main" id="{AC8A8482-D5D8-3DCA-7299-4E439DBCD080}"/>
                </a:ext>
              </a:extLst>
            </p:cNvPr>
            <p:cNvSpPr/>
            <p:nvPr/>
          </p:nvSpPr>
          <p:spPr>
            <a:xfrm>
              <a:off x="5459185"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7" name="箭头: V 形 16">
              <a:extLst>
                <a:ext uri="{FF2B5EF4-FFF2-40B4-BE49-F238E27FC236}">
                  <a16:creationId xmlns:a16="http://schemas.microsoft.com/office/drawing/2014/main" id="{B67D00DD-D5C7-315E-5536-354D7C4D6109}"/>
                </a:ext>
              </a:extLst>
            </p:cNvPr>
            <p:cNvSpPr/>
            <p:nvPr/>
          </p:nvSpPr>
          <p:spPr>
            <a:xfrm>
              <a:off x="5883728"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9" name="组合 28">
            <a:extLst>
              <a:ext uri="{FF2B5EF4-FFF2-40B4-BE49-F238E27FC236}">
                <a16:creationId xmlns:a16="http://schemas.microsoft.com/office/drawing/2014/main" id="{4E7F0716-79BE-73C9-558C-503FF0A76772}"/>
              </a:ext>
            </a:extLst>
          </p:cNvPr>
          <p:cNvGrpSpPr/>
          <p:nvPr/>
        </p:nvGrpSpPr>
        <p:grpSpPr>
          <a:xfrm>
            <a:off x="14602293" y="4318365"/>
            <a:ext cx="1273629" cy="544286"/>
            <a:chOff x="5034642" y="4114802"/>
            <a:chExt cx="1273629" cy="544286"/>
          </a:xfrm>
        </p:grpSpPr>
        <p:sp>
          <p:nvSpPr>
            <p:cNvPr id="18" name="箭头: V 形 17">
              <a:extLst>
                <a:ext uri="{FF2B5EF4-FFF2-40B4-BE49-F238E27FC236}">
                  <a16:creationId xmlns:a16="http://schemas.microsoft.com/office/drawing/2014/main" id="{6D7FC369-29A2-6CD8-B474-6FE3F5AE95A8}"/>
                </a:ext>
              </a:extLst>
            </p:cNvPr>
            <p:cNvSpPr/>
            <p:nvPr/>
          </p:nvSpPr>
          <p:spPr>
            <a:xfrm>
              <a:off x="5034642"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 name="箭头: V 形 18">
              <a:extLst>
                <a:ext uri="{FF2B5EF4-FFF2-40B4-BE49-F238E27FC236}">
                  <a16:creationId xmlns:a16="http://schemas.microsoft.com/office/drawing/2014/main" id="{1A0D2345-2D38-48FB-A513-512190C576FB}"/>
                </a:ext>
              </a:extLst>
            </p:cNvPr>
            <p:cNvSpPr/>
            <p:nvPr/>
          </p:nvSpPr>
          <p:spPr>
            <a:xfrm>
              <a:off x="5459185"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0" name="箭头: V 形 19">
              <a:extLst>
                <a:ext uri="{FF2B5EF4-FFF2-40B4-BE49-F238E27FC236}">
                  <a16:creationId xmlns:a16="http://schemas.microsoft.com/office/drawing/2014/main" id="{4EC9CA5E-85FC-FB5C-8D51-146C6E351F0A}"/>
                </a:ext>
              </a:extLst>
            </p:cNvPr>
            <p:cNvSpPr/>
            <p:nvPr/>
          </p:nvSpPr>
          <p:spPr>
            <a:xfrm>
              <a:off x="5883728"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30" name="组合 29">
            <a:extLst>
              <a:ext uri="{FF2B5EF4-FFF2-40B4-BE49-F238E27FC236}">
                <a16:creationId xmlns:a16="http://schemas.microsoft.com/office/drawing/2014/main" id="{955A29E9-2AE6-1EE0-1F10-F3F4A9376D57}"/>
              </a:ext>
            </a:extLst>
          </p:cNvPr>
          <p:cNvGrpSpPr/>
          <p:nvPr/>
        </p:nvGrpSpPr>
        <p:grpSpPr>
          <a:xfrm>
            <a:off x="14602292" y="5540556"/>
            <a:ext cx="1273629" cy="544286"/>
            <a:chOff x="5034642" y="5050974"/>
            <a:chExt cx="1273629" cy="544286"/>
          </a:xfrm>
        </p:grpSpPr>
        <p:sp>
          <p:nvSpPr>
            <p:cNvPr id="21" name="箭头: V 形 20">
              <a:extLst>
                <a:ext uri="{FF2B5EF4-FFF2-40B4-BE49-F238E27FC236}">
                  <a16:creationId xmlns:a16="http://schemas.microsoft.com/office/drawing/2014/main" id="{E5306684-AE47-090A-01C6-A80F047E5AE4}"/>
                </a:ext>
              </a:extLst>
            </p:cNvPr>
            <p:cNvSpPr/>
            <p:nvPr/>
          </p:nvSpPr>
          <p:spPr>
            <a:xfrm>
              <a:off x="5034642"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 name="箭头: V 形 21">
              <a:extLst>
                <a:ext uri="{FF2B5EF4-FFF2-40B4-BE49-F238E27FC236}">
                  <a16:creationId xmlns:a16="http://schemas.microsoft.com/office/drawing/2014/main" id="{06311139-0E34-15DA-C464-7FC7528C4421}"/>
                </a:ext>
              </a:extLst>
            </p:cNvPr>
            <p:cNvSpPr/>
            <p:nvPr/>
          </p:nvSpPr>
          <p:spPr>
            <a:xfrm>
              <a:off x="5459185"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3" name="箭头: V 形 22">
              <a:extLst>
                <a:ext uri="{FF2B5EF4-FFF2-40B4-BE49-F238E27FC236}">
                  <a16:creationId xmlns:a16="http://schemas.microsoft.com/office/drawing/2014/main" id="{0B1ABD76-8E05-A85E-99ED-B249A9413628}"/>
                </a:ext>
              </a:extLst>
            </p:cNvPr>
            <p:cNvSpPr/>
            <p:nvPr/>
          </p:nvSpPr>
          <p:spPr>
            <a:xfrm>
              <a:off x="5883728"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37" name="组合 36">
            <a:extLst>
              <a:ext uri="{FF2B5EF4-FFF2-40B4-BE49-F238E27FC236}">
                <a16:creationId xmlns:a16="http://schemas.microsoft.com/office/drawing/2014/main" id="{0D15F71D-965A-6A56-5479-06E3ED7F1B0C}"/>
              </a:ext>
            </a:extLst>
          </p:cNvPr>
          <p:cNvGrpSpPr/>
          <p:nvPr/>
        </p:nvGrpSpPr>
        <p:grpSpPr>
          <a:xfrm>
            <a:off x="8060260" y="508321"/>
            <a:ext cx="2719668" cy="707886"/>
            <a:chOff x="7790950" y="577644"/>
            <a:chExt cx="2719668" cy="707886"/>
          </a:xfrm>
        </p:grpSpPr>
        <p:sp>
          <p:nvSpPr>
            <p:cNvPr id="31" name="文本框 30">
              <a:extLst>
                <a:ext uri="{FF2B5EF4-FFF2-40B4-BE49-F238E27FC236}">
                  <a16:creationId xmlns:a16="http://schemas.microsoft.com/office/drawing/2014/main" id="{F3BB1E6D-2E0D-348E-ED8A-36AFB6EAEFAA}"/>
                </a:ext>
              </a:extLst>
            </p:cNvPr>
            <p:cNvSpPr txBox="1"/>
            <p:nvPr/>
          </p:nvSpPr>
          <p:spPr>
            <a:xfrm>
              <a:off x="7790950" y="577644"/>
              <a:ext cx="271278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Calibri" panose="020F0502020204030204" pitchFamily="34" charset="0"/>
                </a:rPr>
                <a:t>现有市场</a:t>
              </a:r>
            </a:p>
          </p:txBody>
        </p:sp>
        <p:sp>
          <p:nvSpPr>
            <p:cNvPr id="32" name="文本框 31">
              <a:extLst>
                <a:ext uri="{FF2B5EF4-FFF2-40B4-BE49-F238E27FC236}">
                  <a16:creationId xmlns:a16="http://schemas.microsoft.com/office/drawing/2014/main" id="{C6E7BF3B-88FC-A889-1633-42CC12A50450}"/>
                </a:ext>
              </a:extLst>
            </p:cNvPr>
            <p:cNvSpPr txBox="1"/>
            <p:nvPr/>
          </p:nvSpPr>
          <p:spPr>
            <a:xfrm>
              <a:off x="7797833" y="577644"/>
              <a:ext cx="2712785"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endPar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endParaRPr>
            </a:p>
          </p:txBody>
        </p:sp>
      </p:grpSp>
      <p:sp>
        <p:nvSpPr>
          <p:cNvPr id="33" name="文本框 32">
            <a:extLst>
              <a:ext uri="{FF2B5EF4-FFF2-40B4-BE49-F238E27FC236}">
                <a16:creationId xmlns:a16="http://schemas.microsoft.com/office/drawing/2014/main" id="{D2094397-69D3-30CD-8172-9E19DE4736B7}"/>
              </a:ext>
            </a:extLst>
          </p:cNvPr>
          <p:cNvSpPr txBox="1"/>
          <p:nvPr/>
        </p:nvSpPr>
        <p:spPr>
          <a:xfrm>
            <a:off x="8067143" y="1674673"/>
            <a:ext cx="2712785"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PART02</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i="1" dirty="0">
                <a:solidFill>
                  <a:prstClr val="black"/>
                </a:solidFill>
                <a:latin typeface="Segoe Print" panose="02000600000000000000" pitchFamily="2" charset="0"/>
                <a:ea typeface="方正舒体" panose="02010601030101010101" pitchFamily="2" charset="-122"/>
              </a:rPr>
              <a:t>我们的创新点</a:t>
            </a:r>
            <a:endPar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endParaRPr>
          </a:p>
        </p:txBody>
      </p:sp>
      <p:sp>
        <p:nvSpPr>
          <p:cNvPr id="34" name="文本框 33">
            <a:extLst>
              <a:ext uri="{FF2B5EF4-FFF2-40B4-BE49-F238E27FC236}">
                <a16:creationId xmlns:a16="http://schemas.microsoft.com/office/drawing/2014/main" id="{872E6694-8FC7-CDFB-1537-6DD9621FA01B}"/>
              </a:ext>
            </a:extLst>
          </p:cNvPr>
          <p:cNvSpPr txBox="1"/>
          <p:nvPr/>
        </p:nvSpPr>
        <p:spPr>
          <a:xfrm>
            <a:off x="17395598" y="3106606"/>
            <a:ext cx="277507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PART03</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i="1" dirty="0">
                <a:solidFill>
                  <a:prstClr val="black"/>
                </a:solidFill>
                <a:latin typeface="Segoe Print" panose="02000600000000000000" pitchFamily="2" charset="0"/>
                <a:ea typeface="华文行楷" panose="02010800040101010101" pitchFamily="2" charset="-122"/>
              </a:rPr>
              <a:t>商业化可行性</a:t>
            </a:r>
            <a:endParaRPr kumimoji="0" lang="en-US" altLang="zh-CN" sz="2000" b="0" i="1" u="none" strike="noStrike" kern="1200" cap="none" spc="0" normalizeH="0" baseline="0" noProof="0" dirty="0">
              <a:ln>
                <a:noFill/>
              </a:ln>
              <a:solidFill>
                <a:prstClr val="black"/>
              </a:solidFill>
              <a:effectLst/>
              <a:uLnTx/>
              <a:uFillTx/>
              <a:latin typeface="Segoe Print" panose="02000600000000000000" pitchFamily="2" charset="0"/>
              <a:ea typeface="华文行楷" panose="02010800040101010101" pitchFamily="2" charset="-122"/>
              <a:cs typeface="+mn-cs"/>
            </a:endParaRPr>
          </a:p>
        </p:txBody>
      </p:sp>
      <p:sp>
        <p:nvSpPr>
          <p:cNvPr id="35" name="文本框 34">
            <a:extLst>
              <a:ext uri="{FF2B5EF4-FFF2-40B4-BE49-F238E27FC236}">
                <a16:creationId xmlns:a16="http://schemas.microsoft.com/office/drawing/2014/main" id="{B5FD7ED0-1DD0-0928-E3E0-9F8173A63130}"/>
              </a:ext>
            </a:extLst>
          </p:cNvPr>
          <p:cNvSpPr txBox="1"/>
          <p:nvPr/>
        </p:nvSpPr>
        <p:spPr>
          <a:xfrm>
            <a:off x="17548231" y="4269862"/>
            <a:ext cx="254370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rPr>
              <a:t>企业发展战略定位</a:t>
            </a:r>
          </a:p>
        </p:txBody>
      </p:sp>
      <p:sp>
        <p:nvSpPr>
          <p:cNvPr id="36" name="文本框 35">
            <a:extLst>
              <a:ext uri="{FF2B5EF4-FFF2-40B4-BE49-F238E27FC236}">
                <a16:creationId xmlns:a16="http://schemas.microsoft.com/office/drawing/2014/main" id="{EF617AF3-E400-5F5C-A045-9D6AF281B576}"/>
              </a:ext>
            </a:extLst>
          </p:cNvPr>
          <p:cNvSpPr txBox="1"/>
          <p:nvPr/>
        </p:nvSpPr>
        <p:spPr>
          <a:xfrm>
            <a:off x="17548231" y="5531765"/>
            <a:ext cx="254370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rPr>
              <a:t>相关解决办法及意见</a:t>
            </a:r>
          </a:p>
        </p:txBody>
      </p:sp>
    </p:spTree>
    <p:extLst>
      <p:ext uri="{BB962C8B-B14F-4D97-AF65-F5344CB8AC3E}">
        <p14:creationId xmlns:p14="http://schemas.microsoft.com/office/powerpoint/2010/main" val="10021545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5A571-75C4-1214-1588-FB343E127379}"/>
            </a:ext>
          </a:extLst>
        </p:cNvPr>
        <p:cNvGrpSpPr/>
        <p:nvPr/>
      </p:nvGrpSpPr>
      <p:grpSpPr>
        <a:xfrm>
          <a:off x="0" y="0"/>
          <a:ext cx="0" cy="0"/>
          <a:chOff x="0" y="0"/>
          <a:chExt cx="0" cy="0"/>
        </a:xfrm>
      </p:grpSpPr>
      <p:pic>
        <p:nvPicPr>
          <p:cNvPr id="26" name="图片 25">
            <a:extLst>
              <a:ext uri="{FF2B5EF4-FFF2-40B4-BE49-F238E27FC236}">
                <a16:creationId xmlns:a16="http://schemas.microsoft.com/office/drawing/2014/main" id="{77900B71-15CF-C731-B330-C208D1C2CB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6089" y="-31260"/>
            <a:ext cx="11116274" cy="6889259"/>
          </a:xfrm>
          <a:prstGeom prst="rect">
            <a:avLst/>
          </a:prstGeom>
        </p:spPr>
      </p:pic>
      <p:sp>
        <p:nvSpPr>
          <p:cNvPr id="5" name="文本框 4">
            <a:extLst>
              <a:ext uri="{FF2B5EF4-FFF2-40B4-BE49-F238E27FC236}">
                <a16:creationId xmlns:a16="http://schemas.microsoft.com/office/drawing/2014/main" id="{752D2C95-CFEA-059F-564B-8F416FBC7F6B}"/>
              </a:ext>
            </a:extLst>
          </p:cNvPr>
          <p:cNvSpPr txBox="1"/>
          <p:nvPr/>
        </p:nvSpPr>
        <p:spPr>
          <a:xfrm>
            <a:off x="3718560" y="2432414"/>
            <a:ext cx="4581625" cy="218521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600" b="0" i="0" u="none" strike="noStrike" kern="1200" cap="none" spc="0" normalizeH="0" baseline="0" noProof="0" dirty="0">
                <a:ln>
                  <a:noFill/>
                </a:ln>
                <a:solidFill>
                  <a:srgbClr val="4472C4"/>
                </a:solidFill>
                <a:effectLst/>
                <a:uLnTx/>
                <a:uFillTx/>
                <a:latin typeface="华文行楷" panose="02010800040101010101" pitchFamily="2" charset="-122"/>
                <a:ea typeface="华文行楷" panose="02010800040101010101" pitchFamily="2" charset="-122"/>
                <a:cs typeface="+mn-cs"/>
              </a:rPr>
              <a:t>目录</a:t>
            </a:r>
            <a:endParaRPr kumimoji="0" lang="en-US" altLang="zh-CN" sz="9600" b="0" i="0" u="none" strike="noStrike" kern="1200" cap="none" spc="0" normalizeH="0" baseline="0" noProof="0" dirty="0">
              <a:ln>
                <a:noFill/>
              </a:ln>
              <a:solidFill>
                <a:srgbClr val="4472C4"/>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4472C4"/>
                </a:solidFill>
                <a:effectLst/>
                <a:uLnTx/>
                <a:uFillTx/>
                <a:latin typeface="等线" panose="02010600030101010101" pitchFamily="2" charset="-122"/>
                <a:ea typeface="等线" panose="02010600030101010101" pitchFamily="2" charset="-122"/>
                <a:cs typeface="+mn-cs"/>
              </a:rPr>
              <a:t>content</a:t>
            </a:r>
            <a:endParaRPr kumimoji="0" lang="zh-CN" altLang="en-US" sz="4000" b="0" i="0" u="none" strike="noStrike" kern="1200" cap="none" spc="0" normalizeH="0" baseline="0" noProof="0" dirty="0">
              <a:ln>
                <a:noFill/>
              </a:ln>
              <a:solidFill>
                <a:srgbClr val="4472C4"/>
              </a:solidFill>
              <a:effectLst/>
              <a:uLnTx/>
              <a:uFillTx/>
              <a:latin typeface="等线" panose="02010600030101010101" pitchFamily="2" charset="-122"/>
              <a:ea typeface="等线" panose="02010600030101010101" pitchFamily="2" charset="-122"/>
              <a:cs typeface="+mn-cs"/>
            </a:endParaRPr>
          </a:p>
        </p:txBody>
      </p:sp>
      <p:sp>
        <p:nvSpPr>
          <p:cNvPr id="8" name="任意多边形: 形状 7">
            <a:extLst>
              <a:ext uri="{FF2B5EF4-FFF2-40B4-BE49-F238E27FC236}">
                <a16:creationId xmlns:a16="http://schemas.microsoft.com/office/drawing/2014/main" id="{3421C088-4A81-3C50-7C1A-46ED9F3E7827}"/>
              </a:ext>
            </a:extLst>
          </p:cNvPr>
          <p:cNvSpPr/>
          <p:nvPr/>
        </p:nvSpPr>
        <p:spPr>
          <a:xfrm>
            <a:off x="2416142"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0" name="任意多边形: 形状 9">
            <a:extLst>
              <a:ext uri="{FF2B5EF4-FFF2-40B4-BE49-F238E27FC236}">
                <a16:creationId xmlns:a16="http://schemas.microsoft.com/office/drawing/2014/main" id="{9325E500-C39E-AE2E-AA60-68F239789961}"/>
              </a:ext>
            </a:extLst>
          </p:cNvPr>
          <p:cNvSpPr/>
          <p:nvPr/>
        </p:nvSpPr>
        <p:spPr>
          <a:xfrm>
            <a:off x="2649756"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solidFill>
            <a:schemeClr val="accent1">
              <a:lumMod val="20000"/>
              <a:lumOff val="80000"/>
            </a:schemeClr>
          </a:solidFill>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1" name="任意多边形: 形状 10">
            <a:extLst>
              <a:ext uri="{FF2B5EF4-FFF2-40B4-BE49-F238E27FC236}">
                <a16:creationId xmlns:a16="http://schemas.microsoft.com/office/drawing/2014/main" id="{C9329533-75D6-C610-A7B7-545133B24D45}"/>
              </a:ext>
            </a:extLst>
          </p:cNvPr>
          <p:cNvSpPr/>
          <p:nvPr/>
        </p:nvSpPr>
        <p:spPr>
          <a:xfrm>
            <a:off x="2883370"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solidFill>
            <a:schemeClr val="bg1"/>
          </a:solidFill>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4" name="文本框 3">
            <a:extLst>
              <a:ext uri="{FF2B5EF4-FFF2-40B4-BE49-F238E27FC236}">
                <a16:creationId xmlns:a16="http://schemas.microsoft.com/office/drawing/2014/main" id="{54F4E874-C139-74E6-09EC-9FDC58F01D11}"/>
              </a:ext>
            </a:extLst>
          </p:cNvPr>
          <p:cNvSpPr txBox="1"/>
          <p:nvPr/>
        </p:nvSpPr>
        <p:spPr>
          <a:xfrm>
            <a:off x="-426120" y="2336391"/>
            <a:ext cx="4581625" cy="218521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600" b="0" i="0" u="none" strike="noStrike" kern="1200" cap="none" spc="0" normalizeH="0" baseline="0" noProof="0" dirty="0">
                <a:ln>
                  <a:noFill/>
                </a:ln>
                <a:solidFill>
                  <a:srgbClr val="C00000"/>
                </a:solidFill>
                <a:effectLst/>
                <a:uLnTx/>
                <a:uFillTx/>
                <a:latin typeface="华文行楷" panose="02010800040101010101" pitchFamily="2" charset="-122"/>
                <a:ea typeface="华文行楷" panose="02010800040101010101" pitchFamily="2" charset="-122"/>
                <a:cs typeface="+mn-cs"/>
              </a:rPr>
              <a:t>目录</a:t>
            </a:r>
            <a:endParaRPr kumimoji="0" lang="en-US" altLang="zh-CN" sz="9600" b="0" i="0" u="none" strike="noStrike" kern="1200" cap="none" spc="0" normalizeH="0" baseline="0" noProof="0" dirty="0">
              <a:ln>
                <a:noFill/>
              </a:ln>
              <a:solidFill>
                <a:srgbClr val="C00000"/>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C00000"/>
                </a:solidFill>
                <a:effectLst/>
                <a:uLnTx/>
                <a:uFillTx/>
                <a:latin typeface="等线" panose="02010600030101010101" pitchFamily="2" charset="-122"/>
                <a:ea typeface="等线" panose="02010600030101010101" pitchFamily="2" charset="-122"/>
                <a:cs typeface="+mn-cs"/>
              </a:rPr>
              <a:t>content</a:t>
            </a:r>
            <a:endParaRPr kumimoji="0" lang="zh-CN" altLang="en-US" sz="4000" b="0" i="0" u="none" strike="noStrike" kern="1200" cap="none" spc="0" normalizeH="0" baseline="0" noProof="0" dirty="0">
              <a:ln>
                <a:noFill/>
              </a:ln>
              <a:solidFill>
                <a:srgbClr val="C00000"/>
              </a:solidFill>
              <a:effectLst/>
              <a:uLnTx/>
              <a:uFillTx/>
              <a:latin typeface="等线" panose="02010600030101010101" pitchFamily="2" charset="-122"/>
              <a:ea typeface="等线" panose="02010600030101010101" pitchFamily="2" charset="-122"/>
              <a:cs typeface="+mn-cs"/>
            </a:endParaRPr>
          </a:p>
        </p:txBody>
      </p:sp>
      <p:grpSp>
        <p:nvGrpSpPr>
          <p:cNvPr id="24" name="组合 23">
            <a:extLst>
              <a:ext uri="{FF2B5EF4-FFF2-40B4-BE49-F238E27FC236}">
                <a16:creationId xmlns:a16="http://schemas.microsoft.com/office/drawing/2014/main" id="{E1C860A3-9C34-B143-3F43-139993640F5D}"/>
              </a:ext>
            </a:extLst>
          </p:cNvPr>
          <p:cNvGrpSpPr/>
          <p:nvPr/>
        </p:nvGrpSpPr>
        <p:grpSpPr>
          <a:xfrm>
            <a:off x="5248543" y="642621"/>
            <a:ext cx="1273629" cy="544286"/>
            <a:chOff x="5034642" y="1306286"/>
            <a:chExt cx="1273629" cy="544286"/>
          </a:xfrm>
        </p:grpSpPr>
        <p:sp>
          <p:nvSpPr>
            <p:cNvPr id="6" name="箭头: V 形 5">
              <a:extLst>
                <a:ext uri="{FF2B5EF4-FFF2-40B4-BE49-F238E27FC236}">
                  <a16:creationId xmlns:a16="http://schemas.microsoft.com/office/drawing/2014/main" id="{225820E6-D264-EA10-1ABD-7ED74CE1B426}"/>
                </a:ext>
              </a:extLst>
            </p:cNvPr>
            <p:cNvSpPr/>
            <p:nvPr/>
          </p:nvSpPr>
          <p:spPr>
            <a:xfrm>
              <a:off x="5034642"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 name="箭头: V 形 6">
              <a:extLst>
                <a:ext uri="{FF2B5EF4-FFF2-40B4-BE49-F238E27FC236}">
                  <a16:creationId xmlns:a16="http://schemas.microsoft.com/office/drawing/2014/main" id="{C08D86BF-EDF8-D22D-E482-9B7005489622}"/>
                </a:ext>
              </a:extLst>
            </p:cNvPr>
            <p:cNvSpPr/>
            <p:nvPr/>
          </p:nvSpPr>
          <p:spPr>
            <a:xfrm>
              <a:off x="5459185"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9" name="箭头: V 形 8">
              <a:extLst>
                <a:ext uri="{FF2B5EF4-FFF2-40B4-BE49-F238E27FC236}">
                  <a16:creationId xmlns:a16="http://schemas.microsoft.com/office/drawing/2014/main" id="{093CF3CA-1A4E-519F-0690-5D29AF24BC34}"/>
                </a:ext>
              </a:extLst>
            </p:cNvPr>
            <p:cNvSpPr/>
            <p:nvPr/>
          </p:nvSpPr>
          <p:spPr>
            <a:xfrm>
              <a:off x="5883728"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5" name="组合 24">
            <a:extLst>
              <a:ext uri="{FF2B5EF4-FFF2-40B4-BE49-F238E27FC236}">
                <a16:creationId xmlns:a16="http://schemas.microsoft.com/office/drawing/2014/main" id="{959DA8BE-3A5C-989A-D7DF-6412A4DF7470}"/>
              </a:ext>
            </a:extLst>
          </p:cNvPr>
          <p:cNvGrpSpPr/>
          <p:nvPr/>
        </p:nvGrpSpPr>
        <p:grpSpPr>
          <a:xfrm>
            <a:off x="5249577" y="1711368"/>
            <a:ext cx="1273629" cy="544286"/>
            <a:chOff x="5034642" y="2242458"/>
            <a:chExt cx="1273629" cy="544286"/>
          </a:xfrm>
        </p:grpSpPr>
        <p:sp>
          <p:nvSpPr>
            <p:cNvPr id="12" name="箭头: V 形 11">
              <a:extLst>
                <a:ext uri="{FF2B5EF4-FFF2-40B4-BE49-F238E27FC236}">
                  <a16:creationId xmlns:a16="http://schemas.microsoft.com/office/drawing/2014/main" id="{703B6374-7BBE-8620-1158-93CC79A60D8E}"/>
                </a:ext>
              </a:extLst>
            </p:cNvPr>
            <p:cNvSpPr/>
            <p:nvPr/>
          </p:nvSpPr>
          <p:spPr>
            <a:xfrm>
              <a:off x="5034642"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3" name="箭头: V 形 12">
              <a:extLst>
                <a:ext uri="{FF2B5EF4-FFF2-40B4-BE49-F238E27FC236}">
                  <a16:creationId xmlns:a16="http://schemas.microsoft.com/office/drawing/2014/main" id="{D85D1D40-D1D1-7B54-B909-D3E4E1C6F299}"/>
                </a:ext>
              </a:extLst>
            </p:cNvPr>
            <p:cNvSpPr/>
            <p:nvPr/>
          </p:nvSpPr>
          <p:spPr>
            <a:xfrm>
              <a:off x="5459185"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4" name="箭头: V 形 13">
              <a:extLst>
                <a:ext uri="{FF2B5EF4-FFF2-40B4-BE49-F238E27FC236}">
                  <a16:creationId xmlns:a16="http://schemas.microsoft.com/office/drawing/2014/main" id="{E502F612-C890-C651-28F9-66F3A618A8E8}"/>
                </a:ext>
              </a:extLst>
            </p:cNvPr>
            <p:cNvSpPr/>
            <p:nvPr/>
          </p:nvSpPr>
          <p:spPr>
            <a:xfrm>
              <a:off x="5883728"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8" name="组合 27">
            <a:extLst>
              <a:ext uri="{FF2B5EF4-FFF2-40B4-BE49-F238E27FC236}">
                <a16:creationId xmlns:a16="http://schemas.microsoft.com/office/drawing/2014/main" id="{2302838A-A0C8-24DB-99B0-56584FC6E23C}"/>
              </a:ext>
            </a:extLst>
          </p:cNvPr>
          <p:cNvGrpSpPr/>
          <p:nvPr/>
        </p:nvGrpSpPr>
        <p:grpSpPr>
          <a:xfrm>
            <a:off x="5248543" y="2853455"/>
            <a:ext cx="1273629" cy="544286"/>
            <a:chOff x="5034642" y="3178630"/>
            <a:chExt cx="1273629" cy="544286"/>
          </a:xfrm>
        </p:grpSpPr>
        <p:sp>
          <p:nvSpPr>
            <p:cNvPr id="15" name="箭头: V 形 14">
              <a:extLst>
                <a:ext uri="{FF2B5EF4-FFF2-40B4-BE49-F238E27FC236}">
                  <a16:creationId xmlns:a16="http://schemas.microsoft.com/office/drawing/2014/main" id="{E5B3B566-8304-F091-D874-5DAEBD09A20A}"/>
                </a:ext>
              </a:extLst>
            </p:cNvPr>
            <p:cNvSpPr/>
            <p:nvPr/>
          </p:nvSpPr>
          <p:spPr>
            <a:xfrm>
              <a:off x="5034642"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 name="箭头: V 形 15">
              <a:extLst>
                <a:ext uri="{FF2B5EF4-FFF2-40B4-BE49-F238E27FC236}">
                  <a16:creationId xmlns:a16="http://schemas.microsoft.com/office/drawing/2014/main" id="{DA5FF588-38E8-14F4-7796-D37D518F4359}"/>
                </a:ext>
              </a:extLst>
            </p:cNvPr>
            <p:cNvSpPr/>
            <p:nvPr/>
          </p:nvSpPr>
          <p:spPr>
            <a:xfrm>
              <a:off x="5459185"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7" name="箭头: V 形 16">
              <a:extLst>
                <a:ext uri="{FF2B5EF4-FFF2-40B4-BE49-F238E27FC236}">
                  <a16:creationId xmlns:a16="http://schemas.microsoft.com/office/drawing/2014/main" id="{8D27FF8D-A72D-7CA9-2202-9ECA894D1DB1}"/>
                </a:ext>
              </a:extLst>
            </p:cNvPr>
            <p:cNvSpPr/>
            <p:nvPr/>
          </p:nvSpPr>
          <p:spPr>
            <a:xfrm>
              <a:off x="5883728"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9" name="组合 28">
            <a:extLst>
              <a:ext uri="{FF2B5EF4-FFF2-40B4-BE49-F238E27FC236}">
                <a16:creationId xmlns:a16="http://schemas.microsoft.com/office/drawing/2014/main" id="{D7DB4FAB-B44B-6D24-37CF-5C19289F68DB}"/>
              </a:ext>
            </a:extLst>
          </p:cNvPr>
          <p:cNvGrpSpPr/>
          <p:nvPr/>
        </p:nvGrpSpPr>
        <p:grpSpPr>
          <a:xfrm>
            <a:off x="14602293" y="4318365"/>
            <a:ext cx="1273629" cy="544286"/>
            <a:chOff x="5034642" y="4114802"/>
            <a:chExt cx="1273629" cy="544286"/>
          </a:xfrm>
        </p:grpSpPr>
        <p:sp>
          <p:nvSpPr>
            <p:cNvPr id="18" name="箭头: V 形 17">
              <a:extLst>
                <a:ext uri="{FF2B5EF4-FFF2-40B4-BE49-F238E27FC236}">
                  <a16:creationId xmlns:a16="http://schemas.microsoft.com/office/drawing/2014/main" id="{EFF2DD28-6397-509F-0352-6DA49D177B0E}"/>
                </a:ext>
              </a:extLst>
            </p:cNvPr>
            <p:cNvSpPr/>
            <p:nvPr/>
          </p:nvSpPr>
          <p:spPr>
            <a:xfrm>
              <a:off x="5034642"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 name="箭头: V 形 18">
              <a:extLst>
                <a:ext uri="{FF2B5EF4-FFF2-40B4-BE49-F238E27FC236}">
                  <a16:creationId xmlns:a16="http://schemas.microsoft.com/office/drawing/2014/main" id="{F8F92FC3-B43D-9354-21B2-1EC7B9658947}"/>
                </a:ext>
              </a:extLst>
            </p:cNvPr>
            <p:cNvSpPr/>
            <p:nvPr/>
          </p:nvSpPr>
          <p:spPr>
            <a:xfrm>
              <a:off x="5459185"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0" name="箭头: V 形 19">
              <a:extLst>
                <a:ext uri="{FF2B5EF4-FFF2-40B4-BE49-F238E27FC236}">
                  <a16:creationId xmlns:a16="http://schemas.microsoft.com/office/drawing/2014/main" id="{92383EFD-4706-E894-4920-3C44B72DA107}"/>
                </a:ext>
              </a:extLst>
            </p:cNvPr>
            <p:cNvSpPr/>
            <p:nvPr/>
          </p:nvSpPr>
          <p:spPr>
            <a:xfrm>
              <a:off x="5883728"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30" name="组合 29">
            <a:extLst>
              <a:ext uri="{FF2B5EF4-FFF2-40B4-BE49-F238E27FC236}">
                <a16:creationId xmlns:a16="http://schemas.microsoft.com/office/drawing/2014/main" id="{93450FDA-9927-D9DF-7AFF-AA4C6EEFD1B5}"/>
              </a:ext>
            </a:extLst>
          </p:cNvPr>
          <p:cNvGrpSpPr/>
          <p:nvPr/>
        </p:nvGrpSpPr>
        <p:grpSpPr>
          <a:xfrm>
            <a:off x="14602292" y="5540556"/>
            <a:ext cx="1273629" cy="544286"/>
            <a:chOff x="5034642" y="5050974"/>
            <a:chExt cx="1273629" cy="544286"/>
          </a:xfrm>
        </p:grpSpPr>
        <p:sp>
          <p:nvSpPr>
            <p:cNvPr id="21" name="箭头: V 形 20">
              <a:extLst>
                <a:ext uri="{FF2B5EF4-FFF2-40B4-BE49-F238E27FC236}">
                  <a16:creationId xmlns:a16="http://schemas.microsoft.com/office/drawing/2014/main" id="{B7B3622C-6D07-F20B-B477-4918D87329ED}"/>
                </a:ext>
              </a:extLst>
            </p:cNvPr>
            <p:cNvSpPr/>
            <p:nvPr/>
          </p:nvSpPr>
          <p:spPr>
            <a:xfrm>
              <a:off x="5034642"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 name="箭头: V 形 21">
              <a:extLst>
                <a:ext uri="{FF2B5EF4-FFF2-40B4-BE49-F238E27FC236}">
                  <a16:creationId xmlns:a16="http://schemas.microsoft.com/office/drawing/2014/main" id="{D687E645-EF71-6637-BD21-AAE1B55AEBFE}"/>
                </a:ext>
              </a:extLst>
            </p:cNvPr>
            <p:cNvSpPr/>
            <p:nvPr/>
          </p:nvSpPr>
          <p:spPr>
            <a:xfrm>
              <a:off x="5459185"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3" name="箭头: V 形 22">
              <a:extLst>
                <a:ext uri="{FF2B5EF4-FFF2-40B4-BE49-F238E27FC236}">
                  <a16:creationId xmlns:a16="http://schemas.microsoft.com/office/drawing/2014/main" id="{A9934BC7-0B35-F778-3675-E1E1CD41AA58}"/>
                </a:ext>
              </a:extLst>
            </p:cNvPr>
            <p:cNvSpPr/>
            <p:nvPr/>
          </p:nvSpPr>
          <p:spPr>
            <a:xfrm>
              <a:off x="5883728"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37" name="组合 36">
            <a:extLst>
              <a:ext uri="{FF2B5EF4-FFF2-40B4-BE49-F238E27FC236}">
                <a16:creationId xmlns:a16="http://schemas.microsoft.com/office/drawing/2014/main" id="{B772F522-9855-B784-A7D4-C5BE70CDF1B5}"/>
              </a:ext>
            </a:extLst>
          </p:cNvPr>
          <p:cNvGrpSpPr/>
          <p:nvPr/>
        </p:nvGrpSpPr>
        <p:grpSpPr>
          <a:xfrm>
            <a:off x="8060260" y="508321"/>
            <a:ext cx="2719668" cy="707886"/>
            <a:chOff x="7790950" y="577644"/>
            <a:chExt cx="2719668" cy="707886"/>
          </a:xfrm>
        </p:grpSpPr>
        <p:sp>
          <p:nvSpPr>
            <p:cNvPr id="31" name="文本框 30">
              <a:extLst>
                <a:ext uri="{FF2B5EF4-FFF2-40B4-BE49-F238E27FC236}">
                  <a16:creationId xmlns:a16="http://schemas.microsoft.com/office/drawing/2014/main" id="{486AFDD1-F521-EBF9-957F-06C2F1655472}"/>
                </a:ext>
              </a:extLst>
            </p:cNvPr>
            <p:cNvSpPr txBox="1"/>
            <p:nvPr/>
          </p:nvSpPr>
          <p:spPr>
            <a:xfrm>
              <a:off x="7790950" y="577644"/>
              <a:ext cx="271278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PART01</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i="1" dirty="0">
                  <a:solidFill>
                    <a:prstClr val="black"/>
                  </a:solidFill>
                  <a:latin typeface="Segoe Print" panose="02000600000000000000" pitchFamily="2" charset="0"/>
                  <a:ea typeface="方正舒体" panose="02010601030101010101" pitchFamily="2" charset="-122"/>
                  <a:cs typeface="Calibri" panose="020F0502020204030204" pitchFamily="34" charset="0"/>
                </a:rPr>
                <a:t>现有市场</a:t>
              </a:r>
              <a:endPar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Calibri" panose="020F0502020204030204" pitchFamily="34" charset="0"/>
              </a:endParaRPr>
            </a:p>
          </p:txBody>
        </p:sp>
        <p:sp>
          <p:nvSpPr>
            <p:cNvPr id="32" name="文本框 31">
              <a:extLst>
                <a:ext uri="{FF2B5EF4-FFF2-40B4-BE49-F238E27FC236}">
                  <a16:creationId xmlns:a16="http://schemas.microsoft.com/office/drawing/2014/main" id="{91685C1C-E339-93C7-99DB-ECB731D51E71}"/>
                </a:ext>
              </a:extLst>
            </p:cNvPr>
            <p:cNvSpPr txBox="1"/>
            <p:nvPr/>
          </p:nvSpPr>
          <p:spPr>
            <a:xfrm>
              <a:off x="7797833" y="577644"/>
              <a:ext cx="2712785"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endPar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endParaRPr>
            </a:p>
          </p:txBody>
        </p:sp>
      </p:grpSp>
      <p:sp>
        <p:nvSpPr>
          <p:cNvPr id="33" name="文本框 32">
            <a:extLst>
              <a:ext uri="{FF2B5EF4-FFF2-40B4-BE49-F238E27FC236}">
                <a16:creationId xmlns:a16="http://schemas.microsoft.com/office/drawing/2014/main" id="{5DC2F794-6A30-7C7B-9486-F6C9013B8581}"/>
              </a:ext>
            </a:extLst>
          </p:cNvPr>
          <p:cNvSpPr txBox="1"/>
          <p:nvPr/>
        </p:nvSpPr>
        <p:spPr>
          <a:xfrm>
            <a:off x="8067143" y="1674673"/>
            <a:ext cx="2712785"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PART02</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i="1" dirty="0">
                <a:solidFill>
                  <a:prstClr val="black"/>
                </a:solidFill>
                <a:latin typeface="Segoe Print" panose="02000600000000000000" pitchFamily="2" charset="0"/>
                <a:ea typeface="方正舒体" panose="02010601030101010101" pitchFamily="2" charset="-122"/>
              </a:rPr>
              <a:t>我们的创新点</a:t>
            </a:r>
            <a:endPar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endParaRPr>
          </a:p>
        </p:txBody>
      </p:sp>
      <p:sp>
        <p:nvSpPr>
          <p:cNvPr id="34" name="文本框 33">
            <a:extLst>
              <a:ext uri="{FF2B5EF4-FFF2-40B4-BE49-F238E27FC236}">
                <a16:creationId xmlns:a16="http://schemas.microsoft.com/office/drawing/2014/main" id="{4115AE59-516D-EED8-F766-97A057FF5AE1}"/>
              </a:ext>
            </a:extLst>
          </p:cNvPr>
          <p:cNvSpPr txBox="1"/>
          <p:nvPr/>
        </p:nvSpPr>
        <p:spPr>
          <a:xfrm>
            <a:off x="8041847" y="2841025"/>
            <a:ext cx="277507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PART03</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i="1" dirty="0">
                <a:solidFill>
                  <a:prstClr val="black"/>
                </a:solidFill>
                <a:latin typeface="Segoe Print" panose="02000600000000000000" pitchFamily="2" charset="0"/>
                <a:ea typeface="华文行楷" panose="02010800040101010101" pitchFamily="2" charset="-122"/>
              </a:rPr>
              <a:t>商业化可行性</a:t>
            </a:r>
            <a:endParaRPr kumimoji="0" lang="en-US" altLang="zh-CN" sz="2000" b="0" i="1" u="none" strike="noStrike" kern="1200" cap="none" spc="0" normalizeH="0" baseline="0" noProof="0" dirty="0">
              <a:ln>
                <a:noFill/>
              </a:ln>
              <a:solidFill>
                <a:prstClr val="black"/>
              </a:solidFill>
              <a:effectLst/>
              <a:uLnTx/>
              <a:uFillTx/>
              <a:latin typeface="Segoe Print" panose="02000600000000000000" pitchFamily="2" charset="0"/>
              <a:ea typeface="华文行楷" panose="02010800040101010101" pitchFamily="2" charset="-122"/>
              <a:cs typeface="+mn-cs"/>
            </a:endParaRPr>
          </a:p>
        </p:txBody>
      </p:sp>
      <p:sp>
        <p:nvSpPr>
          <p:cNvPr id="35" name="文本框 34">
            <a:extLst>
              <a:ext uri="{FF2B5EF4-FFF2-40B4-BE49-F238E27FC236}">
                <a16:creationId xmlns:a16="http://schemas.microsoft.com/office/drawing/2014/main" id="{69F18968-5ECF-B800-1526-DD414B63C300}"/>
              </a:ext>
            </a:extLst>
          </p:cNvPr>
          <p:cNvSpPr txBox="1"/>
          <p:nvPr/>
        </p:nvSpPr>
        <p:spPr>
          <a:xfrm>
            <a:off x="17548231" y="4269862"/>
            <a:ext cx="254370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rPr>
              <a:t>企业发展战略定位</a:t>
            </a:r>
          </a:p>
        </p:txBody>
      </p:sp>
      <p:sp>
        <p:nvSpPr>
          <p:cNvPr id="36" name="文本框 35">
            <a:extLst>
              <a:ext uri="{FF2B5EF4-FFF2-40B4-BE49-F238E27FC236}">
                <a16:creationId xmlns:a16="http://schemas.microsoft.com/office/drawing/2014/main" id="{14F2B0B9-1CB8-B3FD-3FC5-58BA15DCECA8}"/>
              </a:ext>
            </a:extLst>
          </p:cNvPr>
          <p:cNvSpPr txBox="1"/>
          <p:nvPr/>
        </p:nvSpPr>
        <p:spPr>
          <a:xfrm>
            <a:off x="17548231" y="5531765"/>
            <a:ext cx="254370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rPr>
              <a:t>相关解决办法及意见</a:t>
            </a:r>
          </a:p>
        </p:txBody>
      </p:sp>
    </p:spTree>
    <p:extLst>
      <p:ext uri="{BB962C8B-B14F-4D97-AF65-F5344CB8AC3E}">
        <p14:creationId xmlns:p14="http://schemas.microsoft.com/office/powerpoint/2010/main" val="19567316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4EBBBEE7-EC66-AEBF-35A0-2895710811D9}"/>
              </a:ext>
            </a:extLst>
          </p:cNvPr>
          <p:cNvPicPr>
            <a:picLocks noChangeAspect="1"/>
          </p:cNvPicPr>
          <p:nvPr/>
        </p:nvPicPr>
        <p:blipFill>
          <a:blip r:embed="rId2"/>
          <a:stretch>
            <a:fillRect/>
          </a:stretch>
        </p:blipFill>
        <p:spPr>
          <a:xfrm>
            <a:off x="0" y="74357"/>
            <a:ext cx="4048288" cy="4053074"/>
          </a:xfrm>
          <a:prstGeom prst="rect">
            <a:avLst/>
          </a:prstGeom>
        </p:spPr>
      </p:pic>
      <p:pic>
        <p:nvPicPr>
          <p:cNvPr id="5" name="图片 4">
            <a:extLst>
              <a:ext uri="{FF2B5EF4-FFF2-40B4-BE49-F238E27FC236}">
                <a16:creationId xmlns:a16="http://schemas.microsoft.com/office/drawing/2014/main" id="{6908624D-13E8-3665-796C-C1500A3B9702}"/>
              </a:ext>
            </a:extLst>
          </p:cNvPr>
          <p:cNvPicPr>
            <a:picLocks noChangeAspect="1"/>
          </p:cNvPicPr>
          <p:nvPr/>
        </p:nvPicPr>
        <p:blipFill>
          <a:blip r:embed="rId3"/>
          <a:stretch>
            <a:fillRect/>
          </a:stretch>
        </p:blipFill>
        <p:spPr>
          <a:xfrm>
            <a:off x="4313481" y="120230"/>
            <a:ext cx="4048289" cy="4048289"/>
          </a:xfrm>
          <a:prstGeom prst="rect">
            <a:avLst/>
          </a:prstGeom>
        </p:spPr>
      </p:pic>
      <p:pic>
        <p:nvPicPr>
          <p:cNvPr id="6" name="图片 5">
            <a:extLst>
              <a:ext uri="{FF2B5EF4-FFF2-40B4-BE49-F238E27FC236}">
                <a16:creationId xmlns:a16="http://schemas.microsoft.com/office/drawing/2014/main" id="{0B8B6D9C-5FC8-58B3-24AC-E8F08DF6B04E}"/>
              </a:ext>
            </a:extLst>
          </p:cNvPr>
          <p:cNvPicPr>
            <a:picLocks noChangeAspect="1"/>
          </p:cNvPicPr>
          <p:nvPr/>
        </p:nvPicPr>
        <p:blipFill>
          <a:blip r:embed="rId4"/>
          <a:stretch>
            <a:fillRect/>
          </a:stretch>
        </p:blipFill>
        <p:spPr>
          <a:xfrm>
            <a:off x="8506450" y="302236"/>
            <a:ext cx="3592506" cy="3597315"/>
          </a:xfrm>
          <a:prstGeom prst="rect">
            <a:avLst/>
          </a:prstGeom>
        </p:spPr>
      </p:pic>
      <p:pic>
        <p:nvPicPr>
          <p:cNvPr id="7" name="图片 6">
            <a:extLst>
              <a:ext uri="{FF2B5EF4-FFF2-40B4-BE49-F238E27FC236}">
                <a16:creationId xmlns:a16="http://schemas.microsoft.com/office/drawing/2014/main" id="{B9588D4E-8434-FEC9-9B7E-76CE2B6A62C0}"/>
              </a:ext>
            </a:extLst>
          </p:cNvPr>
          <p:cNvPicPr>
            <a:picLocks noChangeAspect="1"/>
          </p:cNvPicPr>
          <p:nvPr/>
        </p:nvPicPr>
        <p:blipFill>
          <a:blip r:embed="rId5"/>
          <a:stretch>
            <a:fillRect/>
          </a:stretch>
        </p:blipFill>
        <p:spPr>
          <a:xfrm>
            <a:off x="2024144" y="3655530"/>
            <a:ext cx="3337103" cy="3331047"/>
          </a:xfrm>
          <a:prstGeom prst="rect">
            <a:avLst/>
          </a:prstGeom>
        </p:spPr>
      </p:pic>
      <p:pic>
        <p:nvPicPr>
          <p:cNvPr id="8" name="图片 7">
            <a:extLst>
              <a:ext uri="{FF2B5EF4-FFF2-40B4-BE49-F238E27FC236}">
                <a16:creationId xmlns:a16="http://schemas.microsoft.com/office/drawing/2014/main" id="{42CB3E02-888A-4531-8EDE-5222F8F58199}"/>
              </a:ext>
            </a:extLst>
          </p:cNvPr>
          <p:cNvPicPr>
            <a:picLocks noChangeAspect="1"/>
          </p:cNvPicPr>
          <p:nvPr/>
        </p:nvPicPr>
        <p:blipFill>
          <a:blip r:embed="rId6"/>
          <a:stretch>
            <a:fillRect/>
          </a:stretch>
        </p:blipFill>
        <p:spPr>
          <a:xfrm>
            <a:off x="7350103" y="3566521"/>
            <a:ext cx="2985976" cy="2989243"/>
          </a:xfrm>
          <a:prstGeom prst="rect">
            <a:avLst/>
          </a:prstGeom>
        </p:spPr>
      </p:pic>
    </p:spTree>
    <p:extLst>
      <p:ext uri="{BB962C8B-B14F-4D97-AF65-F5344CB8AC3E}">
        <p14:creationId xmlns:p14="http://schemas.microsoft.com/office/powerpoint/2010/main" val="17357780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27892BF-668D-185E-8D02-DC6A0B0632F8}"/>
              </a:ext>
            </a:extLst>
          </p:cNvPr>
          <p:cNvSpPr txBox="1"/>
          <p:nvPr/>
        </p:nvSpPr>
        <p:spPr>
          <a:xfrm>
            <a:off x="94268" y="113122"/>
            <a:ext cx="11972041" cy="6986593"/>
          </a:xfrm>
          <a:prstGeom prst="rect">
            <a:avLst/>
          </a:prstGeom>
          <a:noFill/>
        </p:spPr>
        <p:txBody>
          <a:bodyPr wrap="square" rtlCol="0">
            <a:spAutoFit/>
          </a:bodyPr>
          <a:lstStyle/>
          <a:p>
            <a:pPr algn="just">
              <a:lnSpc>
                <a:spcPct val="172000"/>
              </a:lnSpc>
              <a:spcBef>
                <a:spcPts val="1300"/>
              </a:spcBef>
              <a:spcAft>
                <a:spcPts val="1300"/>
              </a:spcAft>
              <a:buNone/>
            </a:pPr>
            <a:r>
              <a:rPr lang="zh-CN" altLang="zh-CN" sz="2400" b="1" kern="100" dirty="0">
                <a:effectLst/>
                <a:latin typeface="Arial" panose="020B0604020202020204" pitchFamily="34" charset="0"/>
                <a:ea typeface="黑体" panose="02010609060101010101" pitchFamily="49" charset="-122"/>
                <a:cs typeface="Cambria Math" panose="02040503050406030204" pitchFamily="18" charset="0"/>
              </a:rPr>
              <a:t>融资计划与资本运作</a:t>
            </a:r>
          </a:p>
          <a:p>
            <a:pPr indent="304800" algn="just">
              <a:buNone/>
            </a:pPr>
            <a:r>
              <a:rPr lang="zh-CN" altLang="zh-CN" sz="1800" kern="100" dirty="0">
                <a:effectLst/>
                <a:latin typeface="Times New Roman" panose="02020603050405020304" pitchFamily="18" charset="0"/>
                <a:ea typeface="宋体" panose="02010600030101010101" pitchFamily="2" charset="-122"/>
                <a:cs typeface="Cambria Math" panose="02040503050406030204" pitchFamily="18" charset="0"/>
              </a:rPr>
              <a:t>在融资计划与资本运作层面，我们设计了多轮次的融资方案，每一轮都有明确的目标估值和资金用途。例如，在种子轮融资中，目标估值设定为</a:t>
            </a:r>
            <a:r>
              <a:rPr lang="en-US" altLang="zh-CN" sz="1800" kern="100" dirty="0">
                <a:effectLst/>
                <a:latin typeface="Times New Roman" panose="02020603050405020304" pitchFamily="18" charset="0"/>
                <a:ea typeface="宋体" panose="02010600030101010101" pitchFamily="2" charset="-122"/>
                <a:cs typeface="Cambria Math" panose="02040503050406030204" pitchFamily="18" charset="0"/>
              </a:rPr>
              <a:t>0.5</a:t>
            </a:r>
            <a:r>
              <a:rPr lang="zh-CN" altLang="zh-CN" sz="1800" kern="100" dirty="0">
                <a:effectLst/>
                <a:latin typeface="Times New Roman" panose="02020603050405020304" pitchFamily="18" charset="0"/>
                <a:ea typeface="宋体" panose="02010600030101010101" pitchFamily="2" charset="-122"/>
                <a:cs typeface="Cambria Math" panose="02040503050406030204" pitchFamily="18" charset="0"/>
              </a:rPr>
              <a:t>亿元，主要用于开发最小可行产品（</a:t>
            </a:r>
            <a:r>
              <a:rPr lang="en-US" altLang="zh-CN" sz="1800" kern="100" dirty="0">
                <a:effectLst/>
                <a:latin typeface="Times New Roman" panose="02020603050405020304" pitchFamily="18" charset="0"/>
                <a:ea typeface="宋体" panose="02010600030101010101" pitchFamily="2" charset="-122"/>
                <a:cs typeface="Cambria Math" panose="02040503050406030204" pitchFamily="18" charset="0"/>
              </a:rPr>
              <a:t>MVP</a:t>
            </a:r>
            <a:r>
              <a:rPr lang="zh-CN" altLang="zh-CN" sz="1800" kern="100" dirty="0">
                <a:effectLst/>
                <a:latin typeface="Times New Roman" panose="02020603050405020304" pitchFamily="18" charset="0"/>
                <a:ea typeface="宋体" panose="02010600030101010101" pitchFamily="2" charset="-122"/>
                <a:cs typeface="Cambria Math" panose="02040503050406030204" pitchFamily="18" charset="0"/>
              </a:rPr>
              <a:t>）；而在后续的</a:t>
            </a:r>
            <a:r>
              <a:rPr lang="en-US" altLang="zh-CN" sz="1800" kern="100" dirty="0">
                <a:effectLst/>
                <a:latin typeface="Times New Roman" panose="02020603050405020304" pitchFamily="18" charset="0"/>
                <a:ea typeface="宋体" panose="02010600030101010101" pitchFamily="2" charset="-122"/>
                <a:cs typeface="Cambria Math" panose="02040503050406030204" pitchFamily="18" charset="0"/>
              </a:rPr>
              <a:t>Pre-A</a:t>
            </a:r>
            <a:r>
              <a:rPr lang="zh-CN" altLang="zh-CN" sz="1800" kern="100" dirty="0">
                <a:effectLst/>
                <a:latin typeface="Times New Roman" panose="02020603050405020304" pitchFamily="18" charset="0"/>
                <a:ea typeface="宋体" panose="02010600030101010101" pitchFamily="2" charset="-122"/>
                <a:cs typeface="Cambria Math" panose="02040503050406030204" pitchFamily="18" charset="0"/>
              </a:rPr>
              <a:t>轮、</a:t>
            </a:r>
            <a:r>
              <a:rPr lang="en-US" altLang="zh-CN" sz="1800" kern="100" dirty="0">
                <a:effectLst/>
                <a:latin typeface="Times New Roman" panose="02020603050405020304" pitchFamily="18" charset="0"/>
                <a:ea typeface="宋体" panose="02010600030101010101" pitchFamily="2" charset="-122"/>
                <a:cs typeface="Cambria Math" panose="02040503050406030204" pitchFamily="18" charset="0"/>
              </a:rPr>
              <a:t>A</a:t>
            </a:r>
            <a:r>
              <a:rPr lang="zh-CN" altLang="zh-CN" sz="1800" kern="100" dirty="0">
                <a:effectLst/>
                <a:latin typeface="Times New Roman" panose="02020603050405020304" pitchFamily="18" charset="0"/>
                <a:ea typeface="宋体" panose="02010600030101010101" pitchFamily="2" charset="-122"/>
                <a:cs typeface="Cambria Math" panose="02040503050406030204" pitchFamily="18" charset="0"/>
              </a:rPr>
              <a:t>轮及</a:t>
            </a:r>
            <a:r>
              <a:rPr lang="en-US" altLang="zh-CN" sz="1800" kern="100" dirty="0">
                <a:effectLst/>
                <a:latin typeface="Times New Roman" panose="02020603050405020304" pitchFamily="18" charset="0"/>
                <a:ea typeface="宋体" panose="02010600030101010101" pitchFamily="2" charset="-122"/>
                <a:cs typeface="Cambria Math" panose="02040503050406030204" pitchFamily="18" charset="0"/>
              </a:rPr>
              <a:t>B</a:t>
            </a:r>
            <a:r>
              <a:rPr lang="zh-CN" altLang="zh-CN" sz="1800" kern="100" dirty="0">
                <a:effectLst/>
                <a:latin typeface="Times New Roman" panose="02020603050405020304" pitchFamily="18" charset="0"/>
                <a:ea typeface="宋体" panose="02010600030101010101" pitchFamily="2" charset="-122"/>
                <a:cs typeface="Cambria Math" panose="02040503050406030204" pitchFamily="18" charset="0"/>
              </a:rPr>
              <a:t>轮融资中，随着项目的逐步推进和规模扩大，估值也相应提高至</a:t>
            </a:r>
            <a:r>
              <a:rPr lang="en-US" altLang="zh-CN" sz="1800" kern="100" dirty="0">
                <a:effectLst/>
                <a:latin typeface="Times New Roman" panose="02020603050405020304" pitchFamily="18" charset="0"/>
                <a:ea typeface="宋体" panose="02010600030101010101" pitchFamily="2" charset="-122"/>
                <a:cs typeface="Cambria Math" panose="02040503050406030204" pitchFamily="18" charset="0"/>
              </a:rPr>
              <a:t>1.5</a:t>
            </a:r>
            <a:r>
              <a:rPr lang="zh-CN" altLang="zh-CN" sz="1800" kern="100" dirty="0">
                <a:effectLst/>
                <a:latin typeface="Times New Roman" panose="02020603050405020304" pitchFamily="18" charset="0"/>
                <a:ea typeface="宋体" panose="02010600030101010101" pitchFamily="2" charset="-122"/>
                <a:cs typeface="Cambria Math" panose="02040503050406030204" pitchFamily="18" charset="0"/>
              </a:rPr>
              <a:t>亿、</a:t>
            </a:r>
            <a:r>
              <a:rPr lang="en-US" altLang="zh-CN" sz="1800" kern="100" dirty="0">
                <a:effectLst/>
                <a:latin typeface="Times New Roman" panose="02020603050405020304" pitchFamily="18" charset="0"/>
                <a:ea typeface="宋体" panose="02010600030101010101" pitchFamily="2" charset="-122"/>
                <a:cs typeface="Cambria Math" panose="02040503050406030204" pitchFamily="18" charset="0"/>
              </a:rPr>
              <a:t>5</a:t>
            </a:r>
            <a:r>
              <a:rPr lang="zh-CN" altLang="zh-CN" sz="1800" kern="100" dirty="0">
                <a:effectLst/>
                <a:latin typeface="Times New Roman" panose="02020603050405020304" pitchFamily="18" charset="0"/>
                <a:ea typeface="宋体" panose="02010600030101010101" pitchFamily="2" charset="-122"/>
                <a:cs typeface="Cambria Math" panose="02040503050406030204" pitchFamily="18" charset="0"/>
              </a:rPr>
              <a:t>亿乃至</a:t>
            </a:r>
            <a:r>
              <a:rPr lang="en-US" altLang="zh-CN" sz="1800" kern="100" dirty="0">
                <a:effectLst/>
                <a:latin typeface="Times New Roman" panose="02020603050405020304" pitchFamily="18" charset="0"/>
                <a:ea typeface="宋体" panose="02010600030101010101" pitchFamily="2" charset="-122"/>
                <a:cs typeface="Cambria Math" panose="02040503050406030204" pitchFamily="18" charset="0"/>
              </a:rPr>
              <a:t>15</a:t>
            </a:r>
            <a:r>
              <a:rPr lang="zh-CN" altLang="zh-CN" sz="1800" kern="100" dirty="0">
                <a:effectLst/>
                <a:latin typeface="Times New Roman" panose="02020603050405020304" pitchFamily="18" charset="0"/>
                <a:ea typeface="宋体" panose="02010600030101010101" pitchFamily="2" charset="-122"/>
                <a:cs typeface="Cambria Math" panose="02040503050406030204" pitchFamily="18" charset="0"/>
              </a:rPr>
              <a:t>亿元，所筹资金将分别用于试点扩张、全国推广以及生态建设等不同阶段的发展需求。每个融资轮次都包含详细的估值模型、</a:t>
            </a:r>
            <a:r>
              <a:rPr lang="en-US" altLang="zh-CN" sz="1800" kern="100" dirty="0">
                <a:effectLst/>
                <a:latin typeface="Times New Roman" panose="02020603050405020304" pitchFamily="18" charset="0"/>
                <a:ea typeface="宋体" panose="02010600030101010101" pitchFamily="2" charset="-122"/>
                <a:cs typeface="Cambria Math" panose="02040503050406030204" pitchFamily="18" charset="0"/>
              </a:rPr>
              <a:t>TS</a:t>
            </a:r>
            <a:r>
              <a:rPr lang="zh-CN" altLang="zh-CN" sz="1800" kern="100" dirty="0">
                <a:effectLst/>
                <a:latin typeface="Times New Roman" panose="02020603050405020304" pitchFamily="18" charset="0"/>
                <a:ea typeface="宋体" panose="02010600030101010101" pitchFamily="2" charset="-122"/>
                <a:cs typeface="Cambria Math" panose="02040503050406030204" pitchFamily="18" charset="0"/>
              </a:rPr>
              <a:t>核心条款设计及对赌协议安排，旨在保护投资者权益的同时，也为公司提供了充足的资金支持。</a:t>
            </a:r>
          </a:p>
          <a:p>
            <a:pPr algn="just">
              <a:lnSpc>
                <a:spcPct val="172000"/>
              </a:lnSpc>
              <a:spcBef>
                <a:spcPts val="1300"/>
              </a:spcBef>
              <a:spcAft>
                <a:spcPts val="1300"/>
              </a:spcAft>
              <a:buNone/>
            </a:pPr>
            <a:r>
              <a:rPr lang="zh-CN" altLang="zh-CN" sz="2400" b="1" kern="100" dirty="0">
                <a:effectLst/>
                <a:latin typeface="Arial" panose="020B0604020202020204" pitchFamily="34" charset="0"/>
                <a:ea typeface="黑体" panose="02010609060101010101" pitchFamily="49" charset="-122"/>
                <a:cs typeface="Cambria Math" panose="02040503050406030204" pitchFamily="18" charset="0"/>
              </a:rPr>
              <a:t>发展前景与战略规划</a:t>
            </a:r>
          </a:p>
          <a:p>
            <a:pPr indent="304800" algn="just">
              <a:buNone/>
            </a:pPr>
            <a:r>
              <a:rPr lang="zh-CN" altLang="zh-CN" sz="1800" kern="100" dirty="0">
                <a:effectLst/>
                <a:latin typeface="Times New Roman" panose="02020603050405020304" pitchFamily="18" charset="0"/>
                <a:ea typeface="宋体" panose="02010600030101010101" pitchFamily="2" charset="-122"/>
                <a:cs typeface="Cambria Math" panose="02040503050406030204" pitchFamily="18" charset="0"/>
              </a:rPr>
              <a:t>展望未来，智慧食堂项目具有广阔的发展前景和战略规划空间。市场规模测算模型显示，随着人们生活水平的提高和健康意识的增强，高校及企业食堂的智能化改造需求日益迫切，预计到</a:t>
            </a:r>
            <a:r>
              <a:rPr lang="en-US" altLang="zh-CN" sz="1800" kern="100" dirty="0">
                <a:effectLst/>
                <a:latin typeface="Times New Roman" panose="02020603050405020304" pitchFamily="18" charset="0"/>
                <a:ea typeface="宋体" panose="02010600030101010101" pitchFamily="2" charset="-122"/>
                <a:cs typeface="Cambria Math" panose="02040503050406030204" pitchFamily="18" charset="0"/>
              </a:rPr>
              <a:t>2027</a:t>
            </a:r>
            <a:r>
              <a:rPr lang="zh-CN" altLang="zh-CN" sz="1800" kern="100" dirty="0">
                <a:effectLst/>
                <a:latin typeface="Times New Roman" panose="02020603050405020304" pitchFamily="18" charset="0"/>
                <a:ea typeface="宋体" panose="02010600030101010101" pitchFamily="2" charset="-122"/>
                <a:cs typeface="Cambria Math" panose="02040503050406030204" pitchFamily="18" charset="0"/>
              </a:rPr>
              <a:t>年，该市场的总规模将达到数十亿元级别。竞争壁垒分析表明，凭借先进的</a:t>
            </a:r>
            <a:r>
              <a:rPr lang="en-US" altLang="zh-CN" sz="1800" kern="100" dirty="0">
                <a:effectLst/>
                <a:latin typeface="Times New Roman" panose="02020603050405020304" pitchFamily="18" charset="0"/>
                <a:ea typeface="宋体" panose="02010600030101010101" pitchFamily="2" charset="-122"/>
                <a:cs typeface="Cambria Math" panose="02040503050406030204" pitchFamily="18" charset="0"/>
              </a:rPr>
              <a:t>AI</a:t>
            </a:r>
            <a:r>
              <a:rPr lang="zh-CN" altLang="zh-CN" sz="1800" kern="100" dirty="0">
                <a:effectLst/>
                <a:latin typeface="Times New Roman" panose="02020603050405020304" pitchFamily="18" charset="0"/>
                <a:ea typeface="宋体" panose="02010600030101010101" pitchFamily="2" charset="-122"/>
                <a:cs typeface="Cambria Math" panose="02040503050406030204" pitchFamily="18" charset="0"/>
              </a:rPr>
              <a:t>技术和独特的商业模式，智慧食堂能够在激烈的市场竞争中脱颖而出，形成难以复制的竞争优势。生态建设路线图则明确了从单一服务提供商向综合性餐饮服务平台转型的战略路径，包括与供应链上下游企业的深度合作、开放</a:t>
            </a:r>
            <a:r>
              <a:rPr lang="en-US" altLang="zh-CN" sz="1800" kern="100" dirty="0">
                <a:effectLst/>
                <a:latin typeface="Times New Roman" panose="02020603050405020304" pitchFamily="18" charset="0"/>
                <a:ea typeface="宋体" panose="02010600030101010101" pitchFamily="2" charset="-122"/>
                <a:cs typeface="Cambria Math" panose="02040503050406030204" pitchFamily="18" charset="0"/>
              </a:rPr>
              <a:t>API</a:t>
            </a:r>
            <a:r>
              <a:rPr lang="zh-CN" altLang="zh-CN" sz="1800" kern="100" dirty="0">
                <a:effectLst/>
                <a:latin typeface="Times New Roman" panose="02020603050405020304" pitchFamily="18" charset="0"/>
                <a:ea typeface="宋体" panose="02010600030101010101" pitchFamily="2" charset="-122"/>
                <a:cs typeface="Cambria Math" panose="02040503050406030204" pitchFamily="18" charset="0"/>
              </a:rPr>
              <a:t>接口吸引第三方开发者加入等举措，共同构建一个繁荣的智慧餐饮生态系统。</a:t>
            </a:r>
          </a:p>
          <a:p>
            <a:pPr algn="just">
              <a:lnSpc>
                <a:spcPct val="172000"/>
              </a:lnSpc>
              <a:spcBef>
                <a:spcPts val="1300"/>
              </a:spcBef>
              <a:spcAft>
                <a:spcPts val="1300"/>
              </a:spcAft>
              <a:buNone/>
            </a:pPr>
            <a:r>
              <a:rPr lang="zh-CN" altLang="zh-CN" sz="2400" b="1" kern="100" dirty="0">
                <a:effectLst/>
                <a:latin typeface="Arial" panose="020B0604020202020204" pitchFamily="34" charset="0"/>
                <a:ea typeface="黑体" panose="02010609060101010101" pitchFamily="49" charset="-122"/>
                <a:cs typeface="Cambria Math" panose="02040503050406030204" pitchFamily="18" charset="0"/>
              </a:rPr>
              <a:t>风险控制与管理</a:t>
            </a:r>
          </a:p>
          <a:p>
            <a:pPr indent="304800" algn="just">
              <a:buNone/>
            </a:pPr>
            <a:r>
              <a:rPr lang="zh-CN" altLang="zh-CN" sz="1800" kern="100" dirty="0">
                <a:effectLst/>
                <a:latin typeface="Times New Roman" panose="02020603050405020304" pitchFamily="18" charset="0"/>
                <a:ea typeface="宋体" panose="02010600030101010101" pitchFamily="2" charset="-122"/>
                <a:cs typeface="Cambria Math" panose="02040503050406030204" pitchFamily="18" charset="0"/>
              </a:rPr>
              <a:t>最后，在风险控制与管理方面，我们建立了全面的风险评估矩阵，涵盖市场风险、技术风险、财务风险等多个维度，并针对每一类风险制定了具体的应对方案。例如，面对可能的技术瓶颈，我们加大研发投入，与顶尖科研机构合作攻关；对于市场波动带来的不确定性，则通过多元化经营和灵活的价格策略予以缓解。通过这些措施，我们有信心在快速发展的过程中有效防范各类风险，确保智慧食堂项目的持续健康发展。</a:t>
            </a:r>
          </a:p>
          <a:p>
            <a:pPr algn="just"/>
            <a:r>
              <a:rPr lang="en-US" altLang="zh-CN" sz="1800" kern="100" dirty="0">
                <a:effectLst/>
                <a:latin typeface="Times New Roman" panose="02020603050405020304" pitchFamily="18" charset="0"/>
                <a:ea typeface="宋体" panose="02010600030101010101" pitchFamily="2" charset="-122"/>
                <a:cs typeface="Cambria Math" panose="02040503050406030204" pitchFamily="18" charset="0"/>
              </a:rPr>
              <a:t> </a:t>
            </a:r>
            <a:endParaRPr lang="zh-CN" altLang="zh-CN" sz="1800" kern="100" dirty="0">
              <a:effectLst/>
              <a:latin typeface="Times New Roman" panose="02020603050405020304" pitchFamily="18" charset="0"/>
              <a:ea typeface="宋体" panose="02010600030101010101" pitchFamily="2" charset="-122"/>
              <a:cs typeface="Cambria Math" panose="02040503050406030204" pitchFamily="18" charset="0"/>
            </a:endParaRPr>
          </a:p>
        </p:txBody>
      </p:sp>
    </p:spTree>
    <p:extLst>
      <p:ext uri="{BB962C8B-B14F-4D97-AF65-F5344CB8AC3E}">
        <p14:creationId xmlns:p14="http://schemas.microsoft.com/office/powerpoint/2010/main" val="7622362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E065E-6634-6A05-55F3-A1BA7B55838C}"/>
            </a:ext>
          </a:extLst>
        </p:cNvPr>
        <p:cNvGrpSpPr/>
        <p:nvPr/>
      </p:nvGrpSpPr>
      <p:grpSpPr>
        <a:xfrm>
          <a:off x="0" y="0"/>
          <a:ext cx="0" cy="0"/>
          <a:chOff x="0" y="0"/>
          <a:chExt cx="0" cy="0"/>
        </a:xfrm>
      </p:grpSpPr>
      <p:pic>
        <p:nvPicPr>
          <p:cNvPr id="26" name="图片 25">
            <a:extLst>
              <a:ext uri="{FF2B5EF4-FFF2-40B4-BE49-F238E27FC236}">
                <a16:creationId xmlns:a16="http://schemas.microsoft.com/office/drawing/2014/main" id="{E2A7A213-122F-3898-B793-3F04248691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2745" y="-31259"/>
            <a:ext cx="11116274" cy="6889259"/>
          </a:xfrm>
          <a:prstGeom prst="rect">
            <a:avLst/>
          </a:prstGeom>
        </p:spPr>
      </p:pic>
      <p:sp>
        <p:nvSpPr>
          <p:cNvPr id="5" name="文本框 4">
            <a:extLst>
              <a:ext uri="{FF2B5EF4-FFF2-40B4-BE49-F238E27FC236}">
                <a16:creationId xmlns:a16="http://schemas.microsoft.com/office/drawing/2014/main" id="{BB95BDE9-872A-2FD4-74FE-33D7F8B8F780}"/>
              </a:ext>
            </a:extLst>
          </p:cNvPr>
          <p:cNvSpPr txBox="1"/>
          <p:nvPr/>
        </p:nvSpPr>
        <p:spPr>
          <a:xfrm>
            <a:off x="3718560" y="2432414"/>
            <a:ext cx="4581625" cy="218521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600" b="0" i="0" u="none" strike="noStrike" kern="1200" cap="none" spc="0" normalizeH="0" baseline="0" noProof="0" dirty="0">
                <a:ln>
                  <a:noFill/>
                </a:ln>
                <a:solidFill>
                  <a:srgbClr val="4472C4"/>
                </a:solidFill>
                <a:effectLst/>
                <a:uLnTx/>
                <a:uFillTx/>
                <a:latin typeface="华文行楷" panose="02010800040101010101" pitchFamily="2" charset="-122"/>
                <a:ea typeface="华文行楷" panose="02010800040101010101" pitchFamily="2" charset="-122"/>
                <a:cs typeface="+mn-cs"/>
              </a:rPr>
              <a:t>目录</a:t>
            </a:r>
            <a:endParaRPr kumimoji="0" lang="en-US" altLang="zh-CN" sz="9600" b="0" i="0" u="none" strike="noStrike" kern="1200" cap="none" spc="0" normalizeH="0" baseline="0" noProof="0" dirty="0">
              <a:ln>
                <a:noFill/>
              </a:ln>
              <a:solidFill>
                <a:srgbClr val="4472C4"/>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4472C4"/>
                </a:solidFill>
                <a:effectLst/>
                <a:uLnTx/>
                <a:uFillTx/>
                <a:latin typeface="等线" panose="02010600030101010101" pitchFamily="2" charset="-122"/>
                <a:ea typeface="等线" panose="02010600030101010101" pitchFamily="2" charset="-122"/>
                <a:cs typeface="+mn-cs"/>
              </a:rPr>
              <a:t>content</a:t>
            </a:r>
            <a:endParaRPr kumimoji="0" lang="zh-CN" altLang="en-US" sz="4000" b="0" i="0" u="none" strike="noStrike" kern="1200" cap="none" spc="0" normalizeH="0" baseline="0" noProof="0" dirty="0">
              <a:ln>
                <a:noFill/>
              </a:ln>
              <a:solidFill>
                <a:srgbClr val="4472C4"/>
              </a:solidFill>
              <a:effectLst/>
              <a:uLnTx/>
              <a:uFillTx/>
              <a:latin typeface="等线" panose="02010600030101010101" pitchFamily="2" charset="-122"/>
              <a:ea typeface="等线" panose="02010600030101010101" pitchFamily="2" charset="-122"/>
              <a:cs typeface="+mn-cs"/>
            </a:endParaRPr>
          </a:p>
        </p:txBody>
      </p:sp>
      <p:sp>
        <p:nvSpPr>
          <p:cNvPr id="8" name="任意多边形: 形状 7">
            <a:extLst>
              <a:ext uri="{FF2B5EF4-FFF2-40B4-BE49-F238E27FC236}">
                <a16:creationId xmlns:a16="http://schemas.microsoft.com/office/drawing/2014/main" id="{C3B9E5A5-B587-9BFF-B204-E278CFDDE5F7}"/>
              </a:ext>
            </a:extLst>
          </p:cNvPr>
          <p:cNvSpPr/>
          <p:nvPr/>
        </p:nvSpPr>
        <p:spPr>
          <a:xfrm>
            <a:off x="2416142"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0" name="任意多边形: 形状 9">
            <a:extLst>
              <a:ext uri="{FF2B5EF4-FFF2-40B4-BE49-F238E27FC236}">
                <a16:creationId xmlns:a16="http://schemas.microsoft.com/office/drawing/2014/main" id="{DCBE1CB9-DF2E-CEE5-FA14-65BD25C12A7D}"/>
              </a:ext>
            </a:extLst>
          </p:cNvPr>
          <p:cNvSpPr/>
          <p:nvPr/>
        </p:nvSpPr>
        <p:spPr>
          <a:xfrm>
            <a:off x="2649756"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solidFill>
            <a:schemeClr val="accent1">
              <a:lumMod val="20000"/>
              <a:lumOff val="80000"/>
            </a:schemeClr>
          </a:solidFill>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1" name="任意多边形: 形状 10">
            <a:extLst>
              <a:ext uri="{FF2B5EF4-FFF2-40B4-BE49-F238E27FC236}">
                <a16:creationId xmlns:a16="http://schemas.microsoft.com/office/drawing/2014/main" id="{AAD735F7-ACC1-15A6-4D4A-70F2CEE970BD}"/>
              </a:ext>
            </a:extLst>
          </p:cNvPr>
          <p:cNvSpPr/>
          <p:nvPr/>
        </p:nvSpPr>
        <p:spPr>
          <a:xfrm>
            <a:off x="2883370"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solidFill>
            <a:schemeClr val="bg1"/>
          </a:solidFill>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4" name="文本框 3">
            <a:extLst>
              <a:ext uri="{FF2B5EF4-FFF2-40B4-BE49-F238E27FC236}">
                <a16:creationId xmlns:a16="http://schemas.microsoft.com/office/drawing/2014/main" id="{83B00971-B6EC-4E8A-EE8D-BB10121A3780}"/>
              </a:ext>
            </a:extLst>
          </p:cNvPr>
          <p:cNvSpPr txBox="1"/>
          <p:nvPr/>
        </p:nvSpPr>
        <p:spPr>
          <a:xfrm>
            <a:off x="-426120" y="2336391"/>
            <a:ext cx="4581625" cy="218521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600" b="0" i="0" u="none" strike="noStrike" kern="1200" cap="none" spc="0" normalizeH="0" baseline="0" noProof="0" dirty="0">
                <a:ln>
                  <a:noFill/>
                </a:ln>
                <a:solidFill>
                  <a:srgbClr val="C00000"/>
                </a:solidFill>
                <a:effectLst/>
                <a:uLnTx/>
                <a:uFillTx/>
                <a:latin typeface="华文行楷" panose="02010800040101010101" pitchFamily="2" charset="-122"/>
                <a:ea typeface="华文行楷" panose="02010800040101010101" pitchFamily="2" charset="-122"/>
                <a:cs typeface="+mn-cs"/>
              </a:rPr>
              <a:t>目录</a:t>
            </a:r>
            <a:endParaRPr kumimoji="0" lang="en-US" altLang="zh-CN" sz="9600" b="0" i="0" u="none" strike="noStrike" kern="1200" cap="none" spc="0" normalizeH="0" baseline="0" noProof="0" dirty="0">
              <a:ln>
                <a:noFill/>
              </a:ln>
              <a:solidFill>
                <a:srgbClr val="C00000"/>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C00000"/>
                </a:solidFill>
                <a:effectLst/>
                <a:uLnTx/>
                <a:uFillTx/>
                <a:latin typeface="等线" panose="02010600030101010101" pitchFamily="2" charset="-122"/>
                <a:ea typeface="等线" panose="02010600030101010101" pitchFamily="2" charset="-122"/>
                <a:cs typeface="+mn-cs"/>
              </a:rPr>
              <a:t>content</a:t>
            </a:r>
            <a:endParaRPr kumimoji="0" lang="zh-CN" altLang="en-US" sz="4000" b="0" i="0" u="none" strike="noStrike" kern="1200" cap="none" spc="0" normalizeH="0" baseline="0" noProof="0" dirty="0">
              <a:ln>
                <a:noFill/>
              </a:ln>
              <a:solidFill>
                <a:srgbClr val="C00000"/>
              </a:solidFill>
              <a:effectLst/>
              <a:uLnTx/>
              <a:uFillTx/>
              <a:latin typeface="等线" panose="02010600030101010101" pitchFamily="2" charset="-122"/>
              <a:ea typeface="等线" panose="02010600030101010101" pitchFamily="2" charset="-122"/>
              <a:cs typeface="+mn-cs"/>
            </a:endParaRPr>
          </a:p>
        </p:txBody>
      </p:sp>
      <p:grpSp>
        <p:nvGrpSpPr>
          <p:cNvPr id="24" name="组合 23">
            <a:extLst>
              <a:ext uri="{FF2B5EF4-FFF2-40B4-BE49-F238E27FC236}">
                <a16:creationId xmlns:a16="http://schemas.microsoft.com/office/drawing/2014/main" id="{63F3DAFE-AD55-76A5-5069-96995C0C30BA}"/>
              </a:ext>
            </a:extLst>
          </p:cNvPr>
          <p:cNvGrpSpPr/>
          <p:nvPr/>
        </p:nvGrpSpPr>
        <p:grpSpPr>
          <a:xfrm>
            <a:off x="5248543" y="642621"/>
            <a:ext cx="1273629" cy="544286"/>
            <a:chOff x="5034642" y="1306286"/>
            <a:chExt cx="1273629" cy="544286"/>
          </a:xfrm>
        </p:grpSpPr>
        <p:sp>
          <p:nvSpPr>
            <p:cNvPr id="6" name="箭头: V 形 5">
              <a:extLst>
                <a:ext uri="{FF2B5EF4-FFF2-40B4-BE49-F238E27FC236}">
                  <a16:creationId xmlns:a16="http://schemas.microsoft.com/office/drawing/2014/main" id="{463ECA07-8988-406B-78C3-F979A99EF934}"/>
                </a:ext>
              </a:extLst>
            </p:cNvPr>
            <p:cNvSpPr/>
            <p:nvPr/>
          </p:nvSpPr>
          <p:spPr>
            <a:xfrm>
              <a:off x="5034642"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 name="箭头: V 形 6">
              <a:extLst>
                <a:ext uri="{FF2B5EF4-FFF2-40B4-BE49-F238E27FC236}">
                  <a16:creationId xmlns:a16="http://schemas.microsoft.com/office/drawing/2014/main" id="{748DDF8A-42FE-31D7-FD41-DAE7BB70D30D}"/>
                </a:ext>
              </a:extLst>
            </p:cNvPr>
            <p:cNvSpPr/>
            <p:nvPr/>
          </p:nvSpPr>
          <p:spPr>
            <a:xfrm>
              <a:off x="5459185"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9" name="箭头: V 形 8">
              <a:extLst>
                <a:ext uri="{FF2B5EF4-FFF2-40B4-BE49-F238E27FC236}">
                  <a16:creationId xmlns:a16="http://schemas.microsoft.com/office/drawing/2014/main" id="{1FCA4710-F2F0-0683-9F9A-3CE2CB54DF36}"/>
                </a:ext>
              </a:extLst>
            </p:cNvPr>
            <p:cNvSpPr/>
            <p:nvPr/>
          </p:nvSpPr>
          <p:spPr>
            <a:xfrm>
              <a:off x="5883728"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5" name="组合 24">
            <a:extLst>
              <a:ext uri="{FF2B5EF4-FFF2-40B4-BE49-F238E27FC236}">
                <a16:creationId xmlns:a16="http://schemas.microsoft.com/office/drawing/2014/main" id="{20E3C824-A90D-7C29-EC26-3E41CF414765}"/>
              </a:ext>
            </a:extLst>
          </p:cNvPr>
          <p:cNvGrpSpPr/>
          <p:nvPr/>
        </p:nvGrpSpPr>
        <p:grpSpPr>
          <a:xfrm>
            <a:off x="5249577" y="1711368"/>
            <a:ext cx="1273629" cy="544286"/>
            <a:chOff x="5034642" y="2242458"/>
            <a:chExt cx="1273629" cy="544286"/>
          </a:xfrm>
        </p:grpSpPr>
        <p:sp>
          <p:nvSpPr>
            <p:cNvPr id="12" name="箭头: V 形 11">
              <a:extLst>
                <a:ext uri="{FF2B5EF4-FFF2-40B4-BE49-F238E27FC236}">
                  <a16:creationId xmlns:a16="http://schemas.microsoft.com/office/drawing/2014/main" id="{19272CE1-4E28-EEAB-8904-44960196C12D}"/>
                </a:ext>
              </a:extLst>
            </p:cNvPr>
            <p:cNvSpPr/>
            <p:nvPr/>
          </p:nvSpPr>
          <p:spPr>
            <a:xfrm>
              <a:off x="5034642"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3" name="箭头: V 形 12">
              <a:extLst>
                <a:ext uri="{FF2B5EF4-FFF2-40B4-BE49-F238E27FC236}">
                  <a16:creationId xmlns:a16="http://schemas.microsoft.com/office/drawing/2014/main" id="{BB12F052-FAF3-7173-6A94-8D0395D0271B}"/>
                </a:ext>
              </a:extLst>
            </p:cNvPr>
            <p:cNvSpPr/>
            <p:nvPr/>
          </p:nvSpPr>
          <p:spPr>
            <a:xfrm>
              <a:off x="5459185"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4" name="箭头: V 形 13">
              <a:extLst>
                <a:ext uri="{FF2B5EF4-FFF2-40B4-BE49-F238E27FC236}">
                  <a16:creationId xmlns:a16="http://schemas.microsoft.com/office/drawing/2014/main" id="{6E43199D-3368-703C-7D86-90AF48B40BFC}"/>
                </a:ext>
              </a:extLst>
            </p:cNvPr>
            <p:cNvSpPr/>
            <p:nvPr/>
          </p:nvSpPr>
          <p:spPr>
            <a:xfrm>
              <a:off x="5883728"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8" name="组合 27">
            <a:extLst>
              <a:ext uri="{FF2B5EF4-FFF2-40B4-BE49-F238E27FC236}">
                <a16:creationId xmlns:a16="http://schemas.microsoft.com/office/drawing/2014/main" id="{2313B370-FB76-D7C7-2ED0-B25D9A7DEC36}"/>
              </a:ext>
            </a:extLst>
          </p:cNvPr>
          <p:cNvGrpSpPr/>
          <p:nvPr/>
        </p:nvGrpSpPr>
        <p:grpSpPr>
          <a:xfrm>
            <a:off x="5248543" y="2853455"/>
            <a:ext cx="1273629" cy="544286"/>
            <a:chOff x="5034642" y="3178630"/>
            <a:chExt cx="1273629" cy="544286"/>
          </a:xfrm>
        </p:grpSpPr>
        <p:sp>
          <p:nvSpPr>
            <p:cNvPr id="15" name="箭头: V 形 14">
              <a:extLst>
                <a:ext uri="{FF2B5EF4-FFF2-40B4-BE49-F238E27FC236}">
                  <a16:creationId xmlns:a16="http://schemas.microsoft.com/office/drawing/2014/main" id="{457909D7-CE25-44A7-749B-37340830F859}"/>
                </a:ext>
              </a:extLst>
            </p:cNvPr>
            <p:cNvSpPr/>
            <p:nvPr/>
          </p:nvSpPr>
          <p:spPr>
            <a:xfrm>
              <a:off x="5034642"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 name="箭头: V 形 15">
              <a:extLst>
                <a:ext uri="{FF2B5EF4-FFF2-40B4-BE49-F238E27FC236}">
                  <a16:creationId xmlns:a16="http://schemas.microsoft.com/office/drawing/2014/main" id="{3B0FAC0F-598C-ECFD-3088-5FAAD8EBF305}"/>
                </a:ext>
              </a:extLst>
            </p:cNvPr>
            <p:cNvSpPr/>
            <p:nvPr/>
          </p:nvSpPr>
          <p:spPr>
            <a:xfrm>
              <a:off x="5459185"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7" name="箭头: V 形 16">
              <a:extLst>
                <a:ext uri="{FF2B5EF4-FFF2-40B4-BE49-F238E27FC236}">
                  <a16:creationId xmlns:a16="http://schemas.microsoft.com/office/drawing/2014/main" id="{8D0BDB4D-826C-BE5C-F669-E9198710197C}"/>
                </a:ext>
              </a:extLst>
            </p:cNvPr>
            <p:cNvSpPr/>
            <p:nvPr/>
          </p:nvSpPr>
          <p:spPr>
            <a:xfrm>
              <a:off x="5883728"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9" name="组合 28">
            <a:extLst>
              <a:ext uri="{FF2B5EF4-FFF2-40B4-BE49-F238E27FC236}">
                <a16:creationId xmlns:a16="http://schemas.microsoft.com/office/drawing/2014/main" id="{DC10FEF6-FD8D-3EFD-E3ED-0F6FE457B671}"/>
              </a:ext>
            </a:extLst>
          </p:cNvPr>
          <p:cNvGrpSpPr/>
          <p:nvPr/>
        </p:nvGrpSpPr>
        <p:grpSpPr>
          <a:xfrm>
            <a:off x="14602293" y="4318365"/>
            <a:ext cx="1273629" cy="544286"/>
            <a:chOff x="5034642" y="4114802"/>
            <a:chExt cx="1273629" cy="544286"/>
          </a:xfrm>
        </p:grpSpPr>
        <p:sp>
          <p:nvSpPr>
            <p:cNvPr id="18" name="箭头: V 形 17">
              <a:extLst>
                <a:ext uri="{FF2B5EF4-FFF2-40B4-BE49-F238E27FC236}">
                  <a16:creationId xmlns:a16="http://schemas.microsoft.com/office/drawing/2014/main" id="{5FEB2195-3D23-F61F-7F29-2ED5C8BDDEF3}"/>
                </a:ext>
              </a:extLst>
            </p:cNvPr>
            <p:cNvSpPr/>
            <p:nvPr/>
          </p:nvSpPr>
          <p:spPr>
            <a:xfrm>
              <a:off x="5034642"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 name="箭头: V 形 18">
              <a:extLst>
                <a:ext uri="{FF2B5EF4-FFF2-40B4-BE49-F238E27FC236}">
                  <a16:creationId xmlns:a16="http://schemas.microsoft.com/office/drawing/2014/main" id="{78F23E89-8C3C-E2B1-A35A-3A49D5310BE7}"/>
                </a:ext>
              </a:extLst>
            </p:cNvPr>
            <p:cNvSpPr/>
            <p:nvPr/>
          </p:nvSpPr>
          <p:spPr>
            <a:xfrm>
              <a:off x="5459185"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0" name="箭头: V 形 19">
              <a:extLst>
                <a:ext uri="{FF2B5EF4-FFF2-40B4-BE49-F238E27FC236}">
                  <a16:creationId xmlns:a16="http://schemas.microsoft.com/office/drawing/2014/main" id="{53EAF59C-ECEE-766C-C2BD-566AACB78FEF}"/>
                </a:ext>
              </a:extLst>
            </p:cNvPr>
            <p:cNvSpPr/>
            <p:nvPr/>
          </p:nvSpPr>
          <p:spPr>
            <a:xfrm>
              <a:off x="5883728"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30" name="组合 29">
            <a:extLst>
              <a:ext uri="{FF2B5EF4-FFF2-40B4-BE49-F238E27FC236}">
                <a16:creationId xmlns:a16="http://schemas.microsoft.com/office/drawing/2014/main" id="{47E55A68-0500-9967-A932-F2FDF8BFFEE3}"/>
              </a:ext>
            </a:extLst>
          </p:cNvPr>
          <p:cNvGrpSpPr/>
          <p:nvPr/>
        </p:nvGrpSpPr>
        <p:grpSpPr>
          <a:xfrm>
            <a:off x="14602292" y="5540556"/>
            <a:ext cx="1273629" cy="544286"/>
            <a:chOff x="5034642" y="5050974"/>
            <a:chExt cx="1273629" cy="544286"/>
          </a:xfrm>
        </p:grpSpPr>
        <p:sp>
          <p:nvSpPr>
            <p:cNvPr id="21" name="箭头: V 形 20">
              <a:extLst>
                <a:ext uri="{FF2B5EF4-FFF2-40B4-BE49-F238E27FC236}">
                  <a16:creationId xmlns:a16="http://schemas.microsoft.com/office/drawing/2014/main" id="{BAF60427-C71C-3E6E-B6E8-B2B7250AB250}"/>
                </a:ext>
              </a:extLst>
            </p:cNvPr>
            <p:cNvSpPr/>
            <p:nvPr/>
          </p:nvSpPr>
          <p:spPr>
            <a:xfrm>
              <a:off x="5034642"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 name="箭头: V 形 21">
              <a:extLst>
                <a:ext uri="{FF2B5EF4-FFF2-40B4-BE49-F238E27FC236}">
                  <a16:creationId xmlns:a16="http://schemas.microsoft.com/office/drawing/2014/main" id="{F9D5C035-D8CC-BC48-00E6-0E4104905044}"/>
                </a:ext>
              </a:extLst>
            </p:cNvPr>
            <p:cNvSpPr/>
            <p:nvPr/>
          </p:nvSpPr>
          <p:spPr>
            <a:xfrm>
              <a:off x="5459185"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3" name="箭头: V 形 22">
              <a:extLst>
                <a:ext uri="{FF2B5EF4-FFF2-40B4-BE49-F238E27FC236}">
                  <a16:creationId xmlns:a16="http://schemas.microsoft.com/office/drawing/2014/main" id="{8BD654D0-30B4-5965-F0FB-1C727855614A}"/>
                </a:ext>
              </a:extLst>
            </p:cNvPr>
            <p:cNvSpPr/>
            <p:nvPr/>
          </p:nvSpPr>
          <p:spPr>
            <a:xfrm>
              <a:off x="5883728"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37" name="组合 36">
            <a:extLst>
              <a:ext uri="{FF2B5EF4-FFF2-40B4-BE49-F238E27FC236}">
                <a16:creationId xmlns:a16="http://schemas.microsoft.com/office/drawing/2014/main" id="{09531F53-BA95-408B-919C-B5BF2FDE4544}"/>
              </a:ext>
            </a:extLst>
          </p:cNvPr>
          <p:cNvGrpSpPr/>
          <p:nvPr/>
        </p:nvGrpSpPr>
        <p:grpSpPr>
          <a:xfrm>
            <a:off x="8060260" y="508321"/>
            <a:ext cx="2719668" cy="707886"/>
            <a:chOff x="7790950" y="577644"/>
            <a:chExt cx="2719668" cy="707886"/>
          </a:xfrm>
        </p:grpSpPr>
        <p:sp>
          <p:nvSpPr>
            <p:cNvPr id="31" name="文本框 30">
              <a:extLst>
                <a:ext uri="{FF2B5EF4-FFF2-40B4-BE49-F238E27FC236}">
                  <a16:creationId xmlns:a16="http://schemas.microsoft.com/office/drawing/2014/main" id="{C8D5BDEB-65CF-2EF7-26E0-5B300FC68B88}"/>
                </a:ext>
              </a:extLst>
            </p:cNvPr>
            <p:cNvSpPr txBox="1"/>
            <p:nvPr/>
          </p:nvSpPr>
          <p:spPr>
            <a:xfrm>
              <a:off x="7790950" y="577644"/>
              <a:ext cx="271278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Calibri" panose="020F0502020204030204" pitchFamily="34" charset="0"/>
                </a:rPr>
                <a:t>现有市场</a:t>
              </a:r>
            </a:p>
          </p:txBody>
        </p:sp>
        <p:sp>
          <p:nvSpPr>
            <p:cNvPr id="32" name="文本框 31">
              <a:extLst>
                <a:ext uri="{FF2B5EF4-FFF2-40B4-BE49-F238E27FC236}">
                  <a16:creationId xmlns:a16="http://schemas.microsoft.com/office/drawing/2014/main" id="{FC28CDA1-7E30-8968-D3BE-B9159AC5D5DA}"/>
                </a:ext>
              </a:extLst>
            </p:cNvPr>
            <p:cNvSpPr txBox="1"/>
            <p:nvPr/>
          </p:nvSpPr>
          <p:spPr>
            <a:xfrm>
              <a:off x="7797833" y="577644"/>
              <a:ext cx="2712785"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endPar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endParaRPr>
            </a:p>
          </p:txBody>
        </p:sp>
      </p:grpSp>
      <p:sp>
        <p:nvSpPr>
          <p:cNvPr id="33" name="文本框 32">
            <a:extLst>
              <a:ext uri="{FF2B5EF4-FFF2-40B4-BE49-F238E27FC236}">
                <a16:creationId xmlns:a16="http://schemas.microsoft.com/office/drawing/2014/main" id="{5C1E093E-794A-AFCF-0222-5225B003DDE3}"/>
              </a:ext>
            </a:extLst>
          </p:cNvPr>
          <p:cNvSpPr txBox="1"/>
          <p:nvPr/>
        </p:nvSpPr>
        <p:spPr>
          <a:xfrm>
            <a:off x="8067143" y="1674673"/>
            <a:ext cx="2712785"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rPr>
              <a:t>我们的创新点</a:t>
            </a:r>
          </a:p>
        </p:txBody>
      </p:sp>
      <p:sp>
        <p:nvSpPr>
          <p:cNvPr id="34" name="文本框 33">
            <a:extLst>
              <a:ext uri="{FF2B5EF4-FFF2-40B4-BE49-F238E27FC236}">
                <a16:creationId xmlns:a16="http://schemas.microsoft.com/office/drawing/2014/main" id="{DCCC19BA-5886-0EC0-8EF3-E2AB302E4C7F}"/>
              </a:ext>
            </a:extLst>
          </p:cNvPr>
          <p:cNvSpPr txBox="1"/>
          <p:nvPr/>
        </p:nvSpPr>
        <p:spPr>
          <a:xfrm>
            <a:off x="8041847" y="2841025"/>
            <a:ext cx="277507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华文行楷" panose="02010800040101010101" pitchFamily="2" charset="-122"/>
                <a:cs typeface="+mn-cs"/>
              </a:rPr>
              <a:t>商业化可行性</a:t>
            </a:r>
            <a:endParaRPr kumimoji="0" lang="en-US" altLang="zh-CN" sz="2000" b="0" i="1" u="none" strike="noStrike" kern="1200" cap="none" spc="0" normalizeH="0" baseline="0" noProof="0" dirty="0">
              <a:ln>
                <a:noFill/>
              </a:ln>
              <a:solidFill>
                <a:prstClr val="black"/>
              </a:solidFill>
              <a:effectLst/>
              <a:uLnTx/>
              <a:uFillTx/>
              <a:latin typeface="Segoe Print" panose="02000600000000000000" pitchFamily="2" charset="0"/>
              <a:ea typeface="华文行楷" panose="02010800040101010101" pitchFamily="2" charset="-122"/>
              <a:cs typeface="+mn-cs"/>
            </a:endParaRPr>
          </a:p>
        </p:txBody>
      </p:sp>
      <p:sp>
        <p:nvSpPr>
          <p:cNvPr id="35" name="文本框 34">
            <a:extLst>
              <a:ext uri="{FF2B5EF4-FFF2-40B4-BE49-F238E27FC236}">
                <a16:creationId xmlns:a16="http://schemas.microsoft.com/office/drawing/2014/main" id="{341F3692-A21F-494B-5066-D61C4F765916}"/>
              </a:ext>
            </a:extLst>
          </p:cNvPr>
          <p:cNvSpPr txBox="1"/>
          <p:nvPr/>
        </p:nvSpPr>
        <p:spPr>
          <a:xfrm>
            <a:off x="17548231" y="4269862"/>
            <a:ext cx="254370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PART04</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i="1" dirty="0">
                <a:solidFill>
                  <a:prstClr val="black"/>
                </a:solidFill>
                <a:latin typeface="Segoe Print" panose="02000600000000000000" pitchFamily="2" charset="0"/>
                <a:ea typeface="方正舒体" panose="02010601030101010101" pitchFamily="2" charset="-122"/>
              </a:rPr>
              <a:t>现状</a:t>
            </a:r>
            <a:endPar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endParaRPr>
          </a:p>
        </p:txBody>
      </p:sp>
      <p:sp>
        <p:nvSpPr>
          <p:cNvPr id="36" name="文本框 35">
            <a:extLst>
              <a:ext uri="{FF2B5EF4-FFF2-40B4-BE49-F238E27FC236}">
                <a16:creationId xmlns:a16="http://schemas.microsoft.com/office/drawing/2014/main" id="{F8228868-9127-C718-CB0D-BE6E80C4D5F8}"/>
              </a:ext>
            </a:extLst>
          </p:cNvPr>
          <p:cNvSpPr txBox="1"/>
          <p:nvPr/>
        </p:nvSpPr>
        <p:spPr>
          <a:xfrm>
            <a:off x="17548231" y="5531765"/>
            <a:ext cx="254370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rPr>
              <a:t>相关解决办法及意见</a:t>
            </a:r>
          </a:p>
        </p:txBody>
      </p:sp>
    </p:spTree>
    <p:extLst>
      <p:ext uri="{BB962C8B-B14F-4D97-AF65-F5344CB8AC3E}">
        <p14:creationId xmlns:p14="http://schemas.microsoft.com/office/powerpoint/2010/main" val="20132850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5A2AC-4A6C-C874-E44E-2FF367237FFF}"/>
            </a:ext>
          </a:extLst>
        </p:cNvPr>
        <p:cNvGrpSpPr/>
        <p:nvPr/>
      </p:nvGrpSpPr>
      <p:grpSpPr>
        <a:xfrm>
          <a:off x="0" y="0"/>
          <a:ext cx="0" cy="0"/>
          <a:chOff x="0" y="0"/>
          <a:chExt cx="0" cy="0"/>
        </a:xfrm>
      </p:grpSpPr>
      <p:pic>
        <p:nvPicPr>
          <p:cNvPr id="26" name="图片 25">
            <a:extLst>
              <a:ext uri="{FF2B5EF4-FFF2-40B4-BE49-F238E27FC236}">
                <a16:creationId xmlns:a16="http://schemas.microsoft.com/office/drawing/2014/main" id="{058C91D5-E94E-0E6F-8207-D4813F6D2A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7620" y="-62519"/>
            <a:ext cx="11165305" cy="6951778"/>
          </a:xfrm>
          <a:prstGeom prst="rect">
            <a:avLst/>
          </a:prstGeom>
        </p:spPr>
      </p:pic>
      <p:sp>
        <p:nvSpPr>
          <p:cNvPr id="5" name="文本框 4">
            <a:extLst>
              <a:ext uri="{FF2B5EF4-FFF2-40B4-BE49-F238E27FC236}">
                <a16:creationId xmlns:a16="http://schemas.microsoft.com/office/drawing/2014/main" id="{71320CEA-E9F1-79E3-EAC8-A995D81E6363}"/>
              </a:ext>
            </a:extLst>
          </p:cNvPr>
          <p:cNvSpPr txBox="1"/>
          <p:nvPr/>
        </p:nvSpPr>
        <p:spPr>
          <a:xfrm>
            <a:off x="3718560" y="2432414"/>
            <a:ext cx="4581625" cy="218521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600" b="0" i="0" u="none" strike="noStrike" kern="1200" cap="none" spc="0" normalizeH="0" baseline="0" noProof="0" dirty="0">
                <a:ln>
                  <a:noFill/>
                </a:ln>
                <a:solidFill>
                  <a:srgbClr val="4472C4"/>
                </a:solidFill>
                <a:effectLst/>
                <a:uLnTx/>
                <a:uFillTx/>
                <a:latin typeface="华文行楷" panose="02010800040101010101" pitchFamily="2" charset="-122"/>
                <a:ea typeface="华文行楷" panose="02010800040101010101" pitchFamily="2" charset="-122"/>
                <a:cs typeface="+mn-cs"/>
              </a:rPr>
              <a:t>目录</a:t>
            </a:r>
            <a:endParaRPr kumimoji="0" lang="en-US" altLang="zh-CN" sz="9600" b="0" i="0" u="none" strike="noStrike" kern="1200" cap="none" spc="0" normalizeH="0" baseline="0" noProof="0" dirty="0">
              <a:ln>
                <a:noFill/>
              </a:ln>
              <a:solidFill>
                <a:srgbClr val="4472C4"/>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4472C4"/>
                </a:solidFill>
                <a:effectLst/>
                <a:uLnTx/>
                <a:uFillTx/>
                <a:latin typeface="等线" panose="02010600030101010101" pitchFamily="2" charset="-122"/>
                <a:ea typeface="等线" panose="02010600030101010101" pitchFamily="2" charset="-122"/>
                <a:cs typeface="+mn-cs"/>
              </a:rPr>
              <a:t>content</a:t>
            </a:r>
            <a:endParaRPr kumimoji="0" lang="zh-CN" altLang="en-US" sz="4000" b="0" i="0" u="none" strike="noStrike" kern="1200" cap="none" spc="0" normalizeH="0" baseline="0" noProof="0" dirty="0">
              <a:ln>
                <a:noFill/>
              </a:ln>
              <a:solidFill>
                <a:srgbClr val="4472C4"/>
              </a:solidFill>
              <a:effectLst/>
              <a:uLnTx/>
              <a:uFillTx/>
              <a:latin typeface="等线" panose="02010600030101010101" pitchFamily="2" charset="-122"/>
              <a:ea typeface="等线" panose="02010600030101010101" pitchFamily="2" charset="-122"/>
              <a:cs typeface="+mn-cs"/>
            </a:endParaRPr>
          </a:p>
        </p:txBody>
      </p:sp>
      <p:sp>
        <p:nvSpPr>
          <p:cNvPr id="8" name="任意多边形: 形状 7">
            <a:extLst>
              <a:ext uri="{FF2B5EF4-FFF2-40B4-BE49-F238E27FC236}">
                <a16:creationId xmlns:a16="http://schemas.microsoft.com/office/drawing/2014/main" id="{8A635681-7260-8858-A383-BF881A614DF7}"/>
              </a:ext>
            </a:extLst>
          </p:cNvPr>
          <p:cNvSpPr/>
          <p:nvPr/>
        </p:nvSpPr>
        <p:spPr>
          <a:xfrm>
            <a:off x="2416142"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0" name="任意多边形: 形状 9">
            <a:extLst>
              <a:ext uri="{FF2B5EF4-FFF2-40B4-BE49-F238E27FC236}">
                <a16:creationId xmlns:a16="http://schemas.microsoft.com/office/drawing/2014/main" id="{58C216FF-1C6C-CE8D-3101-5FE8570F114B}"/>
              </a:ext>
            </a:extLst>
          </p:cNvPr>
          <p:cNvSpPr/>
          <p:nvPr/>
        </p:nvSpPr>
        <p:spPr>
          <a:xfrm>
            <a:off x="2649756"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solidFill>
            <a:schemeClr val="accent1">
              <a:lumMod val="20000"/>
              <a:lumOff val="80000"/>
            </a:schemeClr>
          </a:solidFill>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1" name="任意多边形: 形状 10">
            <a:extLst>
              <a:ext uri="{FF2B5EF4-FFF2-40B4-BE49-F238E27FC236}">
                <a16:creationId xmlns:a16="http://schemas.microsoft.com/office/drawing/2014/main" id="{E9A7DA92-76DC-653A-6CD3-A613D7C906AA}"/>
              </a:ext>
            </a:extLst>
          </p:cNvPr>
          <p:cNvSpPr/>
          <p:nvPr/>
        </p:nvSpPr>
        <p:spPr>
          <a:xfrm>
            <a:off x="2883370"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solidFill>
            <a:schemeClr val="bg1"/>
          </a:solidFill>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4" name="文本框 3">
            <a:extLst>
              <a:ext uri="{FF2B5EF4-FFF2-40B4-BE49-F238E27FC236}">
                <a16:creationId xmlns:a16="http://schemas.microsoft.com/office/drawing/2014/main" id="{12461826-D671-58C6-FA3A-FB69973C67EB}"/>
              </a:ext>
            </a:extLst>
          </p:cNvPr>
          <p:cNvSpPr txBox="1"/>
          <p:nvPr/>
        </p:nvSpPr>
        <p:spPr>
          <a:xfrm>
            <a:off x="-426120" y="2336391"/>
            <a:ext cx="4581625" cy="218521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600" b="0" i="0" u="none" strike="noStrike" kern="1200" cap="none" spc="0" normalizeH="0" baseline="0" noProof="0" dirty="0">
                <a:ln>
                  <a:noFill/>
                </a:ln>
                <a:solidFill>
                  <a:srgbClr val="C00000"/>
                </a:solidFill>
                <a:effectLst/>
                <a:uLnTx/>
                <a:uFillTx/>
                <a:latin typeface="华文行楷" panose="02010800040101010101" pitchFamily="2" charset="-122"/>
                <a:ea typeface="华文行楷" panose="02010800040101010101" pitchFamily="2" charset="-122"/>
                <a:cs typeface="+mn-cs"/>
              </a:rPr>
              <a:t>目录</a:t>
            </a:r>
            <a:endParaRPr kumimoji="0" lang="en-US" altLang="zh-CN" sz="9600" b="0" i="0" u="none" strike="noStrike" kern="1200" cap="none" spc="0" normalizeH="0" baseline="0" noProof="0" dirty="0">
              <a:ln>
                <a:noFill/>
              </a:ln>
              <a:solidFill>
                <a:srgbClr val="C00000"/>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C00000"/>
                </a:solidFill>
                <a:effectLst/>
                <a:uLnTx/>
                <a:uFillTx/>
                <a:latin typeface="等线" panose="02010600030101010101" pitchFamily="2" charset="-122"/>
                <a:ea typeface="等线" panose="02010600030101010101" pitchFamily="2" charset="-122"/>
                <a:cs typeface="+mn-cs"/>
              </a:rPr>
              <a:t>content</a:t>
            </a:r>
            <a:endParaRPr kumimoji="0" lang="zh-CN" altLang="en-US" sz="4000" b="0" i="0" u="none" strike="noStrike" kern="1200" cap="none" spc="0" normalizeH="0" baseline="0" noProof="0" dirty="0">
              <a:ln>
                <a:noFill/>
              </a:ln>
              <a:solidFill>
                <a:srgbClr val="C00000"/>
              </a:solidFill>
              <a:effectLst/>
              <a:uLnTx/>
              <a:uFillTx/>
              <a:latin typeface="等线" panose="02010600030101010101" pitchFamily="2" charset="-122"/>
              <a:ea typeface="等线" panose="02010600030101010101" pitchFamily="2" charset="-122"/>
              <a:cs typeface="+mn-cs"/>
            </a:endParaRPr>
          </a:p>
        </p:txBody>
      </p:sp>
      <p:grpSp>
        <p:nvGrpSpPr>
          <p:cNvPr id="24" name="组合 23">
            <a:extLst>
              <a:ext uri="{FF2B5EF4-FFF2-40B4-BE49-F238E27FC236}">
                <a16:creationId xmlns:a16="http://schemas.microsoft.com/office/drawing/2014/main" id="{4F55EDE9-5CA2-5F41-356E-C4A9DD4D881A}"/>
              </a:ext>
            </a:extLst>
          </p:cNvPr>
          <p:cNvGrpSpPr/>
          <p:nvPr/>
        </p:nvGrpSpPr>
        <p:grpSpPr>
          <a:xfrm>
            <a:off x="5248543" y="642621"/>
            <a:ext cx="1273629" cy="544286"/>
            <a:chOff x="5034642" y="1306286"/>
            <a:chExt cx="1273629" cy="544286"/>
          </a:xfrm>
        </p:grpSpPr>
        <p:sp>
          <p:nvSpPr>
            <p:cNvPr id="6" name="箭头: V 形 5">
              <a:extLst>
                <a:ext uri="{FF2B5EF4-FFF2-40B4-BE49-F238E27FC236}">
                  <a16:creationId xmlns:a16="http://schemas.microsoft.com/office/drawing/2014/main" id="{0F5749BD-E1EB-E862-C98F-85D6945C9D5C}"/>
                </a:ext>
              </a:extLst>
            </p:cNvPr>
            <p:cNvSpPr/>
            <p:nvPr/>
          </p:nvSpPr>
          <p:spPr>
            <a:xfrm>
              <a:off x="5034642"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 name="箭头: V 形 6">
              <a:extLst>
                <a:ext uri="{FF2B5EF4-FFF2-40B4-BE49-F238E27FC236}">
                  <a16:creationId xmlns:a16="http://schemas.microsoft.com/office/drawing/2014/main" id="{B664E8D8-714C-D8FC-F398-7153F497FBDE}"/>
                </a:ext>
              </a:extLst>
            </p:cNvPr>
            <p:cNvSpPr/>
            <p:nvPr/>
          </p:nvSpPr>
          <p:spPr>
            <a:xfrm>
              <a:off x="5459185"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9" name="箭头: V 形 8">
              <a:extLst>
                <a:ext uri="{FF2B5EF4-FFF2-40B4-BE49-F238E27FC236}">
                  <a16:creationId xmlns:a16="http://schemas.microsoft.com/office/drawing/2014/main" id="{77A5E73E-BC7F-8F55-0F4F-ECD45C831401}"/>
                </a:ext>
              </a:extLst>
            </p:cNvPr>
            <p:cNvSpPr/>
            <p:nvPr/>
          </p:nvSpPr>
          <p:spPr>
            <a:xfrm>
              <a:off x="5883728"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5" name="组合 24">
            <a:extLst>
              <a:ext uri="{FF2B5EF4-FFF2-40B4-BE49-F238E27FC236}">
                <a16:creationId xmlns:a16="http://schemas.microsoft.com/office/drawing/2014/main" id="{A47653EF-F745-F525-A382-7ACF3E248576}"/>
              </a:ext>
            </a:extLst>
          </p:cNvPr>
          <p:cNvGrpSpPr/>
          <p:nvPr/>
        </p:nvGrpSpPr>
        <p:grpSpPr>
          <a:xfrm>
            <a:off x="5249577" y="1711368"/>
            <a:ext cx="1273629" cy="544286"/>
            <a:chOff x="5034642" y="2242458"/>
            <a:chExt cx="1273629" cy="544286"/>
          </a:xfrm>
        </p:grpSpPr>
        <p:sp>
          <p:nvSpPr>
            <p:cNvPr id="12" name="箭头: V 形 11">
              <a:extLst>
                <a:ext uri="{FF2B5EF4-FFF2-40B4-BE49-F238E27FC236}">
                  <a16:creationId xmlns:a16="http://schemas.microsoft.com/office/drawing/2014/main" id="{F8E867E0-1666-97CD-1286-0DDDC3E100D9}"/>
                </a:ext>
              </a:extLst>
            </p:cNvPr>
            <p:cNvSpPr/>
            <p:nvPr/>
          </p:nvSpPr>
          <p:spPr>
            <a:xfrm>
              <a:off x="5034642"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3" name="箭头: V 形 12">
              <a:extLst>
                <a:ext uri="{FF2B5EF4-FFF2-40B4-BE49-F238E27FC236}">
                  <a16:creationId xmlns:a16="http://schemas.microsoft.com/office/drawing/2014/main" id="{06E0F6E2-7BB9-E535-FB36-CF8B89593204}"/>
                </a:ext>
              </a:extLst>
            </p:cNvPr>
            <p:cNvSpPr/>
            <p:nvPr/>
          </p:nvSpPr>
          <p:spPr>
            <a:xfrm>
              <a:off x="5459185"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4" name="箭头: V 形 13">
              <a:extLst>
                <a:ext uri="{FF2B5EF4-FFF2-40B4-BE49-F238E27FC236}">
                  <a16:creationId xmlns:a16="http://schemas.microsoft.com/office/drawing/2014/main" id="{AAC7118D-A362-9234-5190-DFBB7207688F}"/>
                </a:ext>
              </a:extLst>
            </p:cNvPr>
            <p:cNvSpPr/>
            <p:nvPr/>
          </p:nvSpPr>
          <p:spPr>
            <a:xfrm>
              <a:off x="5883728"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8" name="组合 27">
            <a:extLst>
              <a:ext uri="{FF2B5EF4-FFF2-40B4-BE49-F238E27FC236}">
                <a16:creationId xmlns:a16="http://schemas.microsoft.com/office/drawing/2014/main" id="{C0EBD960-DAB6-E044-8011-2D7B58B1CCD8}"/>
              </a:ext>
            </a:extLst>
          </p:cNvPr>
          <p:cNvGrpSpPr/>
          <p:nvPr/>
        </p:nvGrpSpPr>
        <p:grpSpPr>
          <a:xfrm>
            <a:off x="5248543" y="2853455"/>
            <a:ext cx="1273629" cy="544286"/>
            <a:chOff x="5034642" y="3178630"/>
            <a:chExt cx="1273629" cy="544286"/>
          </a:xfrm>
        </p:grpSpPr>
        <p:sp>
          <p:nvSpPr>
            <p:cNvPr id="15" name="箭头: V 形 14">
              <a:extLst>
                <a:ext uri="{FF2B5EF4-FFF2-40B4-BE49-F238E27FC236}">
                  <a16:creationId xmlns:a16="http://schemas.microsoft.com/office/drawing/2014/main" id="{BC37D236-4F08-B065-C2CB-C5AC9E97D600}"/>
                </a:ext>
              </a:extLst>
            </p:cNvPr>
            <p:cNvSpPr/>
            <p:nvPr/>
          </p:nvSpPr>
          <p:spPr>
            <a:xfrm>
              <a:off x="5034642"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 name="箭头: V 形 15">
              <a:extLst>
                <a:ext uri="{FF2B5EF4-FFF2-40B4-BE49-F238E27FC236}">
                  <a16:creationId xmlns:a16="http://schemas.microsoft.com/office/drawing/2014/main" id="{49F9CA94-51F5-0412-C7F4-7412CDBD2714}"/>
                </a:ext>
              </a:extLst>
            </p:cNvPr>
            <p:cNvSpPr/>
            <p:nvPr/>
          </p:nvSpPr>
          <p:spPr>
            <a:xfrm>
              <a:off x="5459185"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7" name="箭头: V 形 16">
              <a:extLst>
                <a:ext uri="{FF2B5EF4-FFF2-40B4-BE49-F238E27FC236}">
                  <a16:creationId xmlns:a16="http://schemas.microsoft.com/office/drawing/2014/main" id="{AE2B48D9-2DC6-C9CC-2A8F-271E78A42B90}"/>
                </a:ext>
              </a:extLst>
            </p:cNvPr>
            <p:cNvSpPr/>
            <p:nvPr/>
          </p:nvSpPr>
          <p:spPr>
            <a:xfrm>
              <a:off x="5883728"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9" name="组合 28">
            <a:extLst>
              <a:ext uri="{FF2B5EF4-FFF2-40B4-BE49-F238E27FC236}">
                <a16:creationId xmlns:a16="http://schemas.microsoft.com/office/drawing/2014/main" id="{47DE19E4-7758-C5FD-F45E-B903B49D521E}"/>
              </a:ext>
            </a:extLst>
          </p:cNvPr>
          <p:cNvGrpSpPr/>
          <p:nvPr/>
        </p:nvGrpSpPr>
        <p:grpSpPr>
          <a:xfrm>
            <a:off x="5248543" y="4054268"/>
            <a:ext cx="1273629" cy="544286"/>
            <a:chOff x="5034642" y="4114802"/>
            <a:chExt cx="1273629" cy="544286"/>
          </a:xfrm>
        </p:grpSpPr>
        <p:sp>
          <p:nvSpPr>
            <p:cNvPr id="18" name="箭头: V 形 17">
              <a:extLst>
                <a:ext uri="{FF2B5EF4-FFF2-40B4-BE49-F238E27FC236}">
                  <a16:creationId xmlns:a16="http://schemas.microsoft.com/office/drawing/2014/main" id="{DA7D2DD7-CDE1-FB5B-378D-EADEC234D006}"/>
                </a:ext>
              </a:extLst>
            </p:cNvPr>
            <p:cNvSpPr/>
            <p:nvPr/>
          </p:nvSpPr>
          <p:spPr>
            <a:xfrm>
              <a:off x="5034642"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 name="箭头: V 形 18">
              <a:extLst>
                <a:ext uri="{FF2B5EF4-FFF2-40B4-BE49-F238E27FC236}">
                  <a16:creationId xmlns:a16="http://schemas.microsoft.com/office/drawing/2014/main" id="{77E5A210-1091-6DF6-D55D-412DC0A30363}"/>
                </a:ext>
              </a:extLst>
            </p:cNvPr>
            <p:cNvSpPr/>
            <p:nvPr/>
          </p:nvSpPr>
          <p:spPr>
            <a:xfrm>
              <a:off x="5459185"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0" name="箭头: V 形 19">
              <a:extLst>
                <a:ext uri="{FF2B5EF4-FFF2-40B4-BE49-F238E27FC236}">
                  <a16:creationId xmlns:a16="http://schemas.microsoft.com/office/drawing/2014/main" id="{2095A5BE-4EE7-77E1-8E1D-4A441C6D287D}"/>
                </a:ext>
              </a:extLst>
            </p:cNvPr>
            <p:cNvSpPr/>
            <p:nvPr/>
          </p:nvSpPr>
          <p:spPr>
            <a:xfrm>
              <a:off x="5883728"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30" name="组合 29">
            <a:extLst>
              <a:ext uri="{FF2B5EF4-FFF2-40B4-BE49-F238E27FC236}">
                <a16:creationId xmlns:a16="http://schemas.microsoft.com/office/drawing/2014/main" id="{22DE3CD8-C9ED-0582-AB8A-4221035C95A9}"/>
              </a:ext>
            </a:extLst>
          </p:cNvPr>
          <p:cNvGrpSpPr/>
          <p:nvPr/>
        </p:nvGrpSpPr>
        <p:grpSpPr>
          <a:xfrm>
            <a:off x="14602292" y="5540556"/>
            <a:ext cx="1273629" cy="544286"/>
            <a:chOff x="5034642" y="5050974"/>
            <a:chExt cx="1273629" cy="544286"/>
          </a:xfrm>
        </p:grpSpPr>
        <p:sp>
          <p:nvSpPr>
            <p:cNvPr id="21" name="箭头: V 形 20">
              <a:extLst>
                <a:ext uri="{FF2B5EF4-FFF2-40B4-BE49-F238E27FC236}">
                  <a16:creationId xmlns:a16="http://schemas.microsoft.com/office/drawing/2014/main" id="{B68BBF3E-D415-6E7B-F1E2-F4BAE96D0644}"/>
                </a:ext>
              </a:extLst>
            </p:cNvPr>
            <p:cNvSpPr/>
            <p:nvPr/>
          </p:nvSpPr>
          <p:spPr>
            <a:xfrm>
              <a:off x="5034642"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 name="箭头: V 形 21">
              <a:extLst>
                <a:ext uri="{FF2B5EF4-FFF2-40B4-BE49-F238E27FC236}">
                  <a16:creationId xmlns:a16="http://schemas.microsoft.com/office/drawing/2014/main" id="{7BC12F6F-B74A-756C-D8A4-030F763E3E47}"/>
                </a:ext>
              </a:extLst>
            </p:cNvPr>
            <p:cNvSpPr/>
            <p:nvPr/>
          </p:nvSpPr>
          <p:spPr>
            <a:xfrm>
              <a:off x="5459185"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3" name="箭头: V 形 22">
              <a:extLst>
                <a:ext uri="{FF2B5EF4-FFF2-40B4-BE49-F238E27FC236}">
                  <a16:creationId xmlns:a16="http://schemas.microsoft.com/office/drawing/2014/main" id="{9DB02FE6-B3F9-4999-F52A-3E7E0B647B9F}"/>
                </a:ext>
              </a:extLst>
            </p:cNvPr>
            <p:cNvSpPr/>
            <p:nvPr/>
          </p:nvSpPr>
          <p:spPr>
            <a:xfrm>
              <a:off x="5883728"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37" name="组合 36">
            <a:extLst>
              <a:ext uri="{FF2B5EF4-FFF2-40B4-BE49-F238E27FC236}">
                <a16:creationId xmlns:a16="http://schemas.microsoft.com/office/drawing/2014/main" id="{74C1D275-FCEB-FE7B-A5A4-BB0B320A0637}"/>
              </a:ext>
            </a:extLst>
          </p:cNvPr>
          <p:cNvGrpSpPr/>
          <p:nvPr/>
        </p:nvGrpSpPr>
        <p:grpSpPr>
          <a:xfrm>
            <a:off x="8060260" y="508321"/>
            <a:ext cx="2719668" cy="707886"/>
            <a:chOff x="7790950" y="577644"/>
            <a:chExt cx="2719668" cy="707886"/>
          </a:xfrm>
        </p:grpSpPr>
        <p:sp>
          <p:nvSpPr>
            <p:cNvPr id="31" name="文本框 30">
              <a:extLst>
                <a:ext uri="{FF2B5EF4-FFF2-40B4-BE49-F238E27FC236}">
                  <a16:creationId xmlns:a16="http://schemas.microsoft.com/office/drawing/2014/main" id="{01C546EB-DBC7-1FC3-C05D-7394846EBD8F}"/>
                </a:ext>
              </a:extLst>
            </p:cNvPr>
            <p:cNvSpPr txBox="1"/>
            <p:nvPr/>
          </p:nvSpPr>
          <p:spPr>
            <a:xfrm>
              <a:off x="7790950" y="577644"/>
              <a:ext cx="271278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Calibri" panose="020F0502020204030204" pitchFamily="34" charset="0"/>
                </a:rPr>
                <a:t>现有市场</a:t>
              </a:r>
            </a:p>
          </p:txBody>
        </p:sp>
        <p:sp>
          <p:nvSpPr>
            <p:cNvPr id="32" name="文本框 31">
              <a:extLst>
                <a:ext uri="{FF2B5EF4-FFF2-40B4-BE49-F238E27FC236}">
                  <a16:creationId xmlns:a16="http://schemas.microsoft.com/office/drawing/2014/main" id="{5C063B0E-F068-8202-A119-D2BBDED4D84C}"/>
                </a:ext>
              </a:extLst>
            </p:cNvPr>
            <p:cNvSpPr txBox="1"/>
            <p:nvPr/>
          </p:nvSpPr>
          <p:spPr>
            <a:xfrm>
              <a:off x="7797833" y="577644"/>
              <a:ext cx="2712785"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endPar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endParaRPr>
            </a:p>
          </p:txBody>
        </p:sp>
      </p:grpSp>
      <p:sp>
        <p:nvSpPr>
          <p:cNvPr id="33" name="文本框 32">
            <a:extLst>
              <a:ext uri="{FF2B5EF4-FFF2-40B4-BE49-F238E27FC236}">
                <a16:creationId xmlns:a16="http://schemas.microsoft.com/office/drawing/2014/main" id="{6A76F783-346B-2030-AF4C-0FE8375F4FC2}"/>
              </a:ext>
            </a:extLst>
          </p:cNvPr>
          <p:cNvSpPr txBox="1"/>
          <p:nvPr/>
        </p:nvSpPr>
        <p:spPr>
          <a:xfrm>
            <a:off x="8067143" y="1674673"/>
            <a:ext cx="2712785"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rPr>
              <a:t>我们的创新点</a:t>
            </a:r>
          </a:p>
        </p:txBody>
      </p:sp>
      <p:sp>
        <p:nvSpPr>
          <p:cNvPr id="34" name="文本框 33">
            <a:extLst>
              <a:ext uri="{FF2B5EF4-FFF2-40B4-BE49-F238E27FC236}">
                <a16:creationId xmlns:a16="http://schemas.microsoft.com/office/drawing/2014/main" id="{0C92A72F-18AD-D2A8-77E2-45623270DA3E}"/>
              </a:ext>
            </a:extLst>
          </p:cNvPr>
          <p:cNvSpPr txBox="1"/>
          <p:nvPr/>
        </p:nvSpPr>
        <p:spPr>
          <a:xfrm>
            <a:off x="8041847" y="2841025"/>
            <a:ext cx="277507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PART03</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i="1" dirty="0">
                <a:solidFill>
                  <a:prstClr val="black"/>
                </a:solidFill>
                <a:latin typeface="Segoe Print" panose="02000600000000000000" pitchFamily="2" charset="0"/>
                <a:ea typeface="华文行楷" panose="02010800040101010101" pitchFamily="2" charset="-122"/>
              </a:rPr>
              <a:t>商业化可行性</a:t>
            </a:r>
            <a:endParaRPr kumimoji="0" lang="en-US" altLang="zh-CN" sz="2000" b="0" i="1" u="none" strike="noStrike" kern="1200" cap="none" spc="0" normalizeH="0" baseline="0" noProof="0" dirty="0">
              <a:ln>
                <a:noFill/>
              </a:ln>
              <a:solidFill>
                <a:prstClr val="black"/>
              </a:solidFill>
              <a:effectLst/>
              <a:uLnTx/>
              <a:uFillTx/>
              <a:latin typeface="Segoe Print" panose="02000600000000000000" pitchFamily="2" charset="0"/>
              <a:ea typeface="华文行楷" panose="02010800040101010101" pitchFamily="2" charset="-122"/>
              <a:cs typeface="+mn-cs"/>
            </a:endParaRPr>
          </a:p>
        </p:txBody>
      </p:sp>
      <p:sp>
        <p:nvSpPr>
          <p:cNvPr id="35" name="文本框 34">
            <a:extLst>
              <a:ext uri="{FF2B5EF4-FFF2-40B4-BE49-F238E27FC236}">
                <a16:creationId xmlns:a16="http://schemas.microsoft.com/office/drawing/2014/main" id="{B442226F-C468-1170-3E71-9782A5A8E298}"/>
              </a:ext>
            </a:extLst>
          </p:cNvPr>
          <p:cNvSpPr txBox="1"/>
          <p:nvPr/>
        </p:nvSpPr>
        <p:spPr>
          <a:xfrm>
            <a:off x="8194481" y="4005765"/>
            <a:ext cx="254370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PART04</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i="1" dirty="0">
                <a:solidFill>
                  <a:prstClr val="black"/>
                </a:solidFill>
                <a:latin typeface="Segoe Print" panose="02000600000000000000" pitchFamily="2" charset="0"/>
                <a:ea typeface="方正舒体" panose="02010601030101010101" pitchFamily="2" charset="-122"/>
              </a:rPr>
              <a:t>现状</a:t>
            </a:r>
            <a:endPar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endParaRPr>
          </a:p>
        </p:txBody>
      </p:sp>
      <p:sp>
        <p:nvSpPr>
          <p:cNvPr id="36" name="文本框 35">
            <a:extLst>
              <a:ext uri="{FF2B5EF4-FFF2-40B4-BE49-F238E27FC236}">
                <a16:creationId xmlns:a16="http://schemas.microsoft.com/office/drawing/2014/main" id="{D972E6E2-299C-C0AA-D929-29A137C5A8C5}"/>
              </a:ext>
            </a:extLst>
          </p:cNvPr>
          <p:cNvSpPr txBox="1"/>
          <p:nvPr/>
        </p:nvSpPr>
        <p:spPr>
          <a:xfrm>
            <a:off x="17548231" y="5531765"/>
            <a:ext cx="254370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rPr>
              <a:t>相关解决办法及意见</a:t>
            </a:r>
          </a:p>
        </p:txBody>
      </p:sp>
    </p:spTree>
    <p:extLst>
      <p:ext uri="{BB962C8B-B14F-4D97-AF65-F5344CB8AC3E}">
        <p14:creationId xmlns:p14="http://schemas.microsoft.com/office/powerpoint/2010/main" val="23597079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97769E42-BBD2-8A96-7F21-CA5BF386D0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52" y="0"/>
            <a:ext cx="16132629" cy="6858000"/>
          </a:xfrm>
          <a:prstGeom prst="rect">
            <a:avLst/>
          </a:prstGeom>
        </p:spPr>
      </p:pic>
      <p:sp>
        <p:nvSpPr>
          <p:cNvPr id="6" name="矩形 5">
            <a:extLst>
              <a:ext uri="{FF2B5EF4-FFF2-40B4-BE49-F238E27FC236}">
                <a16:creationId xmlns:a16="http://schemas.microsoft.com/office/drawing/2014/main" id="{8FD71FC8-32E0-1FCE-16A8-290DBE7253E4}"/>
              </a:ext>
            </a:extLst>
          </p:cNvPr>
          <p:cNvSpPr/>
          <p:nvPr/>
        </p:nvSpPr>
        <p:spPr>
          <a:xfrm>
            <a:off x="0" y="0"/>
            <a:ext cx="12192000" cy="6858000"/>
          </a:xfrm>
          <a:prstGeom prst="rect">
            <a:avLst/>
          </a:prstGeom>
          <a:solidFill>
            <a:schemeClr val="tx1">
              <a:lumMod val="95000"/>
              <a:lumOff val="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4" name="椭圆 3">
            <a:extLst>
              <a:ext uri="{FF2B5EF4-FFF2-40B4-BE49-F238E27FC236}">
                <a16:creationId xmlns:a16="http://schemas.microsoft.com/office/drawing/2014/main" id="{5F299E86-34A0-4824-6916-D2990A19018B}"/>
              </a:ext>
            </a:extLst>
          </p:cNvPr>
          <p:cNvSpPr/>
          <p:nvPr/>
        </p:nvSpPr>
        <p:spPr>
          <a:xfrm>
            <a:off x="-2771273" y="-390608"/>
            <a:ext cx="7712242" cy="7712242"/>
          </a:xfrm>
          <a:prstGeom prst="ellipse">
            <a:avLst/>
          </a:prstGeom>
          <a:noFill/>
          <a:ln>
            <a:gradFill>
              <a:gsLst>
                <a:gs pos="0">
                  <a:srgbClr val="00B050"/>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5" name="椭圆 4">
            <a:extLst>
              <a:ext uri="{FF2B5EF4-FFF2-40B4-BE49-F238E27FC236}">
                <a16:creationId xmlns:a16="http://schemas.microsoft.com/office/drawing/2014/main" id="{22889059-1C50-2236-0D17-C17A4035D207}"/>
              </a:ext>
            </a:extLst>
          </p:cNvPr>
          <p:cNvSpPr/>
          <p:nvPr/>
        </p:nvSpPr>
        <p:spPr>
          <a:xfrm>
            <a:off x="236623" y="1429753"/>
            <a:ext cx="3998493" cy="3998493"/>
          </a:xfrm>
          <a:prstGeom prst="ellipse">
            <a:avLst/>
          </a:prstGeom>
          <a:gradFill>
            <a:gsLst>
              <a:gs pos="100000">
                <a:srgbClr val="00B050"/>
              </a:gs>
              <a:gs pos="0">
                <a:schemeClr val="bg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文本框 8">
            <a:extLst>
              <a:ext uri="{FF2B5EF4-FFF2-40B4-BE49-F238E27FC236}">
                <a16:creationId xmlns:a16="http://schemas.microsoft.com/office/drawing/2014/main" id="{CE496AC0-F672-2C95-D52B-231A03F9331E}"/>
              </a:ext>
            </a:extLst>
          </p:cNvPr>
          <p:cNvSpPr txBox="1"/>
          <p:nvPr/>
        </p:nvSpPr>
        <p:spPr>
          <a:xfrm>
            <a:off x="622409" y="3167389"/>
            <a:ext cx="3236495"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solidFill>
                  <a:prstClr val="white"/>
                </a:solidFill>
                <a:effectLst/>
                <a:uLnTx/>
                <a:uFillTx/>
                <a:latin typeface="MV Boli" panose="02000500030200090000" pitchFamily="2" charset="0"/>
                <a:ea typeface="等线" panose="02010600030101010101" pitchFamily="2" charset="-122"/>
                <a:cs typeface="MV Boli" panose="02000500030200090000" pitchFamily="2" charset="0"/>
              </a:rPr>
              <a:t>现状</a:t>
            </a:r>
          </a:p>
        </p:txBody>
      </p:sp>
      <p:sp>
        <p:nvSpPr>
          <p:cNvPr id="10" name="文本框 9">
            <a:extLst>
              <a:ext uri="{FF2B5EF4-FFF2-40B4-BE49-F238E27FC236}">
                <a16:creationId xmlns:a16="http://schemas.microsoft.com/office/drawing/2014/main" id="{1C484DF4-6B55-DCD3-1316-ABF1413BF55B}"/>
              </a:ext>
            </a:extLst>
          </p:cNvPr>
          <p:cNvSpPr txBox="1"/>
          <p:nvPr/>
        </p:nvSpPr>
        <p:spPr>
          <a:xfrm>
            <a:off x="4777969" y="3337997"/>
            <a:ext cx="3236495"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dirty="0">
                <a:solidFill>
                  <a:prstClr val="white"/>
                </a:solidFill>
                <a:latin typeface="等线" panose="020F0502020204030204"/>
                <a:ea typeface="等线" panose="02010600030101010101" pitchFamily="2" charset="-122"/>
              </a:rPr>
              <a:t>反馈与优化</a:t>
            </a: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1" name="文本框 10">
            <a:extLst>
              <a:ext uri="{FF2B5EF4-FFF2-40B4-BE49-F238E27FC236}">
                <a16:creationId xmlns:a16="http://schemas.microsoft.com/office/drawing/2014/main" id="{2B37F9FE-A86A-CA42-112C-968869BEB591}"/>
              </a:ext>
            </a:extLst>
          </p:cNvPr>
          <p:cNvSpPr txBox="1"/>
          <p:nvPr/>
        </p:nvSpPr>
        <p:spPr>
          <a:xfrm>
            <a:off x="4555098" y="4515554"/>
            <a:ext cx="2791326"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rPr>
              <a:t>试点高校合作与反馈</a:t>
            </a: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2" name="文本框 11">
            <a:extLst>
              <a:ext uri="{FF2B5EF4-FFF2-40B4-BE49-F238E27FC236}">
                <a16:creationId xmlns:a16="http://schemas.microsoft.com/office/drawing/2014/main" id="{0118A115-1AAB-EECE-368C-0B8E1E642944}"/>
              </a:ext>
            </a:extLst>
          </p:cNvPr>
          <p:cNvSpPr txBox="1"/>
          <p:nvPr/>
        </p:nvSpPr>
        <p:spPr>
          <a:xfrm>
            <a:off x="4006375" y="5594444"/>
            <a:ext cx="4632157"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dirty="0">
                <a:solidFill>
                  <a:prstClr val="white"/>
                </a:solidFill>
                <a:latin typeface="MV Boli" panose="02000500030200090000" pitchFamily="2" charset="0"/>
                <a:ea typeface="等线" panose="02010600030101010101" pitchFamily="2" charset="-122"/>
                <a:cs typeface="MV Boli" panose="02000500030200090000" pitchFamily="2" charset="0"/>
              </a:rPr>
              <a:t>技术优化与迭代</a:t>
            </a: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3" name="文本框 12">
            <a:extLst>
              <a:ext uri="{FF2B5EF4-FFF2-40B4-BE49-F238E27FC236}">
                <a16:creationId xmlns:a16="http://schemas.microsoft.com/office/drawing/2014/main" id="{7537DE26-3BAC-B07D-8001-4007BDAE8C73}"/>
              </a:ext>
            </a:extLst>
          </p:cNvPr>
          <p:cNvSpPr txBox="1"/>
          <p:nvPr/>
        </p:nvSpPr>
        <p:spPr>
          <a:xfrm>
            <a:off x="3045279" y="6499306"/>
            <a:ext cx="5103538"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dirty="0">
                <a:solidFill>
                  <a:prstClr val="white"/>
                </a:solidFill>
                <a:latin typeface="MV Boli" panose="02000500030200090000" pitchFamily="2" charset="0"/>
                <a:ea typeface="等线" panose="02010600030101010101" pitchFamily="2" charset="-122"/>
                <a:cs typeface="MV Boli" panose="02000500030200090000" pitchFamily="2" charset="0"/>
              </a:rPr>
              <a:t>社会影响力</a:t>
            </a: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5" name="文本框 14">
            <a:extLst>
              <a:ext uri="{FF2B5EF4-FFF2-40B4-BE49-F238E27FC236}">
                <a16:creationId xmlns:a16="http://schemas.microsoft.com/office/drawing/2014/main" id="{E37E23E6-1EBE-04E4-16C3-B12BA798E232}"/>
              </a:ext>
            </a:extLst>
          </p:cNvPr>
          <p:cNvSpPr txBox="1"/>
          <p:nvPr/>
        </p:nvSpPr>
        <p:spPr>
          <a:xfrm>
            <a:off x="7660391" y="3167389"/>
            <a:ext cx="4114800"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通过用户调研收集超</a:t>
            </a:r>
            <a:r>
              <a:rPr kumimoji="0" lang="en-US" altLang="zh-CN"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500</a:t>
            </a:r>
            <a:r>
              <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条建议，重点优化了菜品推荐精准度（当前推荐成功率</a:t>
            </a:r>
            <a:r>
              <a:rPr kumimoji="0" lang="en-US" altLang="zh-CN"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78%</a:t>
            </a:r>
            <a:r>
              <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）、支付流畅性及高峰期系统响应速度，迭代发布</a:t>
            </a:r>
            <a:r>
              <a:rPr kumimoji="0" lang="en-US" altLang="zh-CN"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3</a:t>
            </a:r>
            <a:r>
              <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个版本，功能稳定性显著提升。</a:t>
            </a:r>
            <a:endParaRPr kumimoji="0" lang="zh-CN" altLang="en-US"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endParaRPr>
          </a:p>
        </p:txBody>
      </p:sp>
    </p:spTree>
    <p:extLst>
      <p:ext uri="{BB962C8B-B14F-4D97-AF65-F5344CB8AC3E}">
        <p14:creationId xmlns:p14="http://schemas.microsoft.com/office/powerpoint/2010/main" val="2005295887"/>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6D1BF-0A50-234E-96FA-DB910C33A629}"/>
            </a:ext>
          </a:extLst>
        </p:cNvPr>
        <p:cNvGrpSpPr/>
        <p:nvPr/>
      </p:nvGrpSpPr>
      <p:grpSpPr>
        <a:xfrm>
          <a:off x="0" y="0"/>
          <a:ext cx="0" cy="0"/>
          <a:chOff x="0" y="0"/>
          <a:chExt cx="0" cy="0"/>
        </a:xfrm>
      </p:grpSpPr>
      <p:pic>
        <p:nvPicPr>
          <p:cNvPr id="18" name="图片 17">
            <a:extLst>
              <a:ext uri="{FF2B5EF4-FFF2-40B4-BE49-F238E27FC236}">
                <a16:creationId xmlns:a16="http://schemas.microsoft.com/office/drawing/2014/main" id="{5CF2E33B-78FC-8B0F-A935-8A5969B30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5219" y="0"/>
            <a:ext cx="16132630" cy="6858000"/>
          </a:xfrm>
          <a:prstGeom prst="rect">
            <a:avLst/>
          </a:prstGeom>
        </p:spPr>
      </p:pic>
      <p:pic>
        <p:nvPicPr>
          <p:cNvPr id="16" name="图片 15">
            <a:extLst>
              <a:ext uri="{FF2B5EF4-FFF2-40B4-BE49-F238E27FC236}">
                <a16:creationId xmlns:a16="http://schemas.microsoft.com/office/drawing/2014/main" id="{97166EB9-3B20-77EA-CB84-2E0F72544A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5217" y="0"/>
            <a:ext cx="16132628" cy="6858000"/>
          </a:xfrm>
          <a:prstGeom prst="rect">
            <a:avLst/>
          </a:prstGeom>
        </p:spPr>
      </p:pic>
      <p:sp>
        <p:nvSpPr>
          <p:cNvPr id="6" name="矩形 5">
            <a:extLst>
              <a:ext uri="{FF2B5EF4-FFF2-40B4-BE49-F238E27FC236}">
                <a16:creationId xmlns:a16="http://schemas.microsoft.com/office/drawing/2014/main" id="{12CCA903-693A-8D11-898A-AC7DBA7F38AF}"/>
              </a:ext>
            </a:extLst>
          </p:cNvPr>
          <p:cNvSpPr/>
          <p:nvPr/>
        </p:nvSpPr>
        <p:spPr>
          <a:xfrm>
            <a:off x="0" y="0"/>
            <a:ext cx="12192000" cy="6858000"/>
          </a:xfrm>
          <a:prstGeom prst="rect">
            <a:avLst/>
          </a:prstGeom>
          <a:solidFill>
            <a:schemeClr val="tx1">
              <a:lumMod val="95000"/>
              <a:lumOff val="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4" name="椭圆 3">
            <a:extLst>
              <a:ext uri="{FF2B5EF4-FFF2-40B4-BE49-F238E27FC236}">
                <a16:creationId xmlns:a16="http://schemas.microsoft.com/office/drawing/2014/main" id="{C0C62E5E-DC01-CC45-5181-7EC9F8EF9017}"/>
              </a:ext>
            </a:extLst>
          </p:cNvPr>
          <p:cNvSpPr/>
          <p:nvPr/>
        </p:nvSpPr>
        <p:spPr>
          <a:xfrm>
            <a:off x="-2771273" y="-390608"/>
            <a:ext cx="7712242" cy="7712242"/>
          </a:xfrm>
          <a:prstGeom prst="ellipse">
            <a:avLst/>
          </a:prstGeom>
          <a:noFill/>
          <a:ln>
            <a:gradFill>
              <a:gsLst>
                <a:gs pos="0">
                  <a:srgbClr val="00B050"/>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5" name="椭圆 4">
            <a:extLst>
              <a:ext uri="{FF2B5EF4-FFF2-40B4-BE49-F238E27FC236}">
                <a16:creationId xmlns:a16="http://schemas.microsoft.com/office/drawing/2014/main" id="{4E80F0E4-6EB8-316D-F288-3971AB1BC4B1}"/>
              </a:ext>
            </a:extLst>
          </p:cNvPr>
          <p:cNvSpPr/>
          <p:nvPr/>
        </p:nvSpPr>
        <p:spPr>
          <a:xfrm>
            <a:off x="236623" y="1429753"/>
            <a:ext cx="3998493" cy="3998493"/>
          </a:xfrm>
          <a:prstGeom prst="ellipse">
            <a:avLst/>
          </a:prstGeom>
          <a:gradFill>
            <a:gsLst>
              <a:gs pos="100000">
                <a:srgbClr val="00B050"/>
              </a:gs>
              <a:gs pos="0">
                <a:schemeClr val="bg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文本框 8">
            <a:extLst>
              <a:ext uri="{FF2B5EF4-FFF2-40B4-BE49-F238E27FC236}">
                <a16:creationId xmlns:a16="http://schemas.microsoft.com/office/drawing/2014/main" id="{55916E49-B48C-0C99-5CE8-6E9A6BD79995}"/>
              </a:ext>
            </a:extLst>
          </p:cNvPr>
          <p:cNvSpPr txBox="1"/>
          <p:nvPr/>
        </p:nvSpPr>
        <p:spPr>
          <a:xfrm>
            <a:off x="617621" y="3167390"/>
            <a:ext cx="3236495"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solidFill>
                  <a:prstClr val="white"/>
                </a:solidFill>
                <a:effectLst/>
                <a:uLnTx/>
                <a:uFillTx/>
                <a:latin typeface="MV Boli" panose="02000500030200090000" pitchFamily="2" charset="0"/>
                <a:ea typeface="等线" panose="02010600030101010101" pitchFamily="2" charset="-122"/>
                <a:cs typeface="MV Boli" panose="02000500030200090000" pitchFamily="2" charset="0"/>
              </a:rPr>
              <a:t>现状</a:t>
            </a:r>
          </a:p>
        </p:txBody>
      </p:sp>
      <p:sp>
        <p:nvSpPr>
          <p:cNvPr id="10" name="文本框 9">
            <a:extLst>
              <a:ext uri="{FF2B5EF4-FFF2-40B4-BE49-F238E27FC236}">
                <a16:creationId xmlns:a16="http://schemas.microsoft.com/office/drawing/2014/main" id="{8DA2FE7C-9BE0-01C5-C613-1C3CF66E1A3F}"/>
              </a:ext>
            </a:extLst>
          </p:cNvPr>
          <p:cNvSpPr txBox="1"/>
          <p:nvPr/>
        </p:nvSpPr>
        <p:spPr>
          <a:xfrm>
            <a:off x="4619263" y="2286166"/>
            <a:ext cx="3236495"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dirty="0">
                <a:solidFill>
                  <a:prstClr val="white"/>
                </a:solidFill>
                <a:latin typeface="等线" panose="020F0502020204030204"/>
                <a:ea typeface="等线" panose="02010600030101010101" pitchFamily="2" charset="-122"/>
              </a:rPr>
              <a:t>反馈与优化</a:t>
            </a: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1" name="文本框 10">
            <a:extLst>
              <a:ext uri="{FF2B5EF4-FFF2-40B4-BE49-F238E27FC236}">
                <a16:creationId xmlns:a16="http://schemas.microsoft.com/office/drawing/2014/main" id="{0BFCCF08-F64B-3818-54AD-33865CCE5B58}"/>
              </a:ext>
            </a:extLst>
          </p:cNvPr>
          <p:cNvSpPr txBox="1"/>
          <p:nvPr/>
        </p:nvSpPr>
        <p:spPr>
          <a:xfrm>
            <a:off x="4800600" y="3357226"/>
            <a:ext cx="2800493"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rPr>
              <a:t>试点高校合作与反馈</a:t>
            </a: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2" name="文本框 11">
            <a:extLst>
              <a:ext uri="{FF2B5EF4-FFF2-40B4-BE49-F238E27FC236}">
                <a16:creationId xmlns:a16="http://schemas.microsoft.com/office/drawing/2014/main" id="{6F53C15D-FFC2-D673-28F4-1925EF263DA1}"/>
              </a:ext>
            </a:extLst>
          </p:cNvPr>
          <p:cNvSpPr txBox="1"/>
          <p:nvPr/>
        </p:nvSpPr>
        <p:spPr>
          <a:xfrm>
            <a:off x="4595205" y="4558934"/>
            <a:ext cx="4632157"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dirty="0">
                <a:solidFill>
                  <a:prstClr val="white"/>
                </a:solidFill>
                <a:latin typeface="MV Boli" panose="02000500030200090000" pitchFamily="2" charset="0"/>
                <a:ea typeface="等线" panose="02010600030101010101" pitchFamily="2" charset="-122"/>
                <a:cs typeface="MV Boli" panose="02000500030200090000" pitchFamily="2" charset="0"/>
              </a:rPr>
              <a:t>技术优化与迭代</a:t>
            </a: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3" name="文本框 12">
            <a:extLst>
              <a:ext uri="{FF2B5EF4-FFF2-40B4-BE49-F238E27FC236}">
                <a16:creationId xmlns:a16="http://schemas.microsoft.com/office/drawing/2014/main" id="{E9599A3A-7B57-EDEF-2966-B0C1412CB1D4}"/>
              </a:ext>
            </a:extLst>
          </p:cNvPr>
          <p:cNvSpPr txBox="1"/>
          <p:nvPr/>
        </p:nvSpPr>
        <p:spPr>
          <a:xfrm>
            <a:off x="4057650" y="5575976"/>
            <a:ext cx="5143582"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dirty="0">
                <a:solidFill>
                  <a:prstClr val="white"/>
                </a:solidFill>
                <a:latin typeface="MV Boli" panose="02000500030200090000" pitchFamily="2" charset="0"/>
                <a:ea typeface="等线" panose="02010600030101010101" pitchFamily="2" charset="-122"/>
                <a:cs typeface="MV Boli" panose="02000500030200090000" pitchFamily="2" charset="0"/>
              </a:rPr>
              <a:t>社会影响力</a:t>
            </a: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2" name="文本框 1">
            <a:extLst>
              <a:ext uri="{FF2B5EF4-FFF2-40B4-BE49-F238E27FC236}">
                <a16:creationId xmlns:a16="http://schemas.microsoft.com/office/drawing/2014/main" id="{5D9C4445-6004-1AD1-7856-D56BE2619C87}"/>
              </a:ext>
            </a:extLst>
          </p:cNvPr>
          <p:cNvSpPr txBox="1"/>
          <p:nvPr/>
        </p:nvSpPr>
        <p:spPr>
          <a:xfrm>
            <a:off x="7855758" y="3258421"/>
            <a:ext cx="3992480" cy="31393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平台已与</a:t>
            </a:r>
            <a:r>
              <a:rPr lang="zh-CN" altLang="en-US" dirty="0">
                <a:solidFill>
                  <a:prstClr val="white"/>
                </a:solidFill>
                <a:latin typeface="等线" panose="02010600030101010101" pitchFamily="2" charset="-122"/>
                <a:ea typeface="等线" panose="02010600030101010101" pitchFamily="2" charset="-122"/>
                <a:cs typeface="MV Boli" panose="02000500030200090000" pitchFamily="2" charset="0"/>
              </a:rPr>
              <a:t>河南省信息统计职业学院</a:t>
            </a:r>
            <a:r>
              <a:rPr kumimoji="0" lang="zh-CN" altLang="en-US"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达成独家合作，完成该校食堂的智能化改造及系统对接。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根据用户调研数据，</a:t>
            </a:r>
            <a:r>
              <a:rPr kumimoji="0" lang="en-US" altLang="zh-CN"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92% </a:t>
            </a:r>
            <a:r>
              <a:rPr kumimoji="0" lang="zh-CN" altLang="en-US"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的学生对</a:t>
            </a:r>
            <a:r>
              <a:rPr kumimoji="0" lang="en-US" altLang="zh-CN"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APP</a:t>
            </a:r>
            <a:r>
              <a:rPr kumimoji="0" lang="zh-CN" altLang="en-US"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的智能推荐、线上点餐和取餐进度提醒功能表示满意，尤其好评集中于“节省排队时间” 和 “个性化健康推荐”两大核心功能。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食堂管理方反馈，平台帮助其 降低人力成本约</a:t>
            </a:r>
            <a:r>
              <a:rPr kumimoji="0" lang="en-US" altLang="zh-CN"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20%</a:t>
            </a:r>
            <a:r>
              <a:rPr kumimoji="0" lang="zh-CN" altLang="en-US"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，食材浪费率减少 </a:t>
            </a:r>
            <a:r>
              <a:rPr kumimoji="0" lang="en-US" altLang="zh-CN"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15%</a:t>
            </a:r>
            <a:r>
              <a:rPr kumimoji="0" lang="zh-CN" altLang="en-US"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，运营效率显著提升。</a:t>
            </a:r>
          </a:p>
        </p:txBody>
      </p:sp>
    </p:spTree>
    <p:extLst>
      <p:ext uri="{BB962C8B-B14F-4D97-AF65-F5344CB8AC3E}">
        <p14:creationId xmlns:p14="http://schemas.microsoft.com/office/powerpoint/2010/main" val="5237548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CBD0B-B8C4-7398-A9A2-814D0D8380CB}"/>
            </a:ext>
          </a:extLst>
        </p:cNvPr>
        <p:cNvGrpSpPr/>
        <p:nvPr/>
      </p:nvGrpSpPr>
      <p:grpSpPr>
        <a:xfrm>
          <a:off x="0" y="0"/>
          <a:ext cx="0" cy="0"/>
          <a:chOff x="0" y="0"/>
          <a:chExt cx="0" cy="0"/>
        </a:xfrm>
      </p:grpSpPr>
      <p:pic>
        <p:nvPicPr>
          <p:cNvPr id="16" name="图片 15">
            <a:extLst>
              <a:ext uri="{FF2B5EF4-FFF2-40B4-BE49-F238E27FC236}">
                <a16:creationId xmlns:a16="http://schemas.microsoft.com/office/drawing/2014/main" id="{349BEA91-0F96-74D8-9EFD-86C0191F5D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7432" y="0"/>
            <a:ext cx="16132630" cy="6858000"/>
          </a:xfrm>
          <a:prstGeom prst="rect">
            <a:avLst/>
          </a:prstGeom>
        </p:spPr>
      </p:pic>
      <p:sp>
        <p:nvSpPr>
          <p:cNvPr id="6" name="矩形 5">
            <a:extLst>
              <a:ext uri="{FF2B5EF4-FFF2-40B4-BE49-F238E27FC236}">
                <a16:creationId xmlns:a16="http://schemas.microsoft.com/office/drawing/2014/main" id="{C5629BEE-AC49-1441-EDF8-97DFFC975352}"/>
              </a:ext>
            </a:extLst>
          </p:cNvPr>
          <p:cNvSpPr/>
          <p:nvPr/>
        </p:nvSpPr>
        <p:spPr>
          <a:xfrm>
            <a:off x="0" y="0"/>
            <a:ext cx="12192000" cy="6858000"/>
          </a:xfrm>
          <a:prstGeom prst="rect">
            <a:avLst/>
          </a:prstGeom>
          <a:solidFill>
            <a:schemeClr val="tx1">
              <a:lumMod val="95000"/>
              <a:lumOff val="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4" name="椭圆 3">
            <a:extLst>
              <a:ext uri="{FF2B5EF4-FFF2-40B4-BE49-F238E27FC236}">
                <a16:creationId xmlns:a16="http://schemas.microsoft.com/office/drawing/2014/main" id="{DF58C7E4-1747-2194-2DFF-8256EB3DF7EC}"/>
              </a:ext>
            </a:extLst>
          </p:cNvPr>
          <p:cNvSpPr/>
          <p:nvPr/>
        </p:nvSpPr>
        <p:spPr>
          <a:xfrm>
            <a:off x="-2771273" y="-390608"/>
            <a:ext cx="7712242" cy="7712242"/>
          </a:xfrm>
          <a:prstGeom prst="ellipse">
            <a:avLst/>
          </a:prstGeom>
          <a:noFill/>
          <a:ln>
            <a:gradFill>
              <a:gsLst>
                <a:gs pos="0">
                  <a:srgbClr val="00B050"/>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5" name="椭圆 4">
            <a:extLst>
              <a:ext uri="{FF2B5EF4-FFF2-40B4-BE49-F238E27FC236}">
                <a16:creationId xmlns:a16="http://schemas.microsoft.com/office/drawing/2014/main" id="{5BB26264-BF02-6D74-72DB-8B163B12E6EE}"/>
              </a:ext>
            </a:extLst>
          </p:cNvPr>
          <p:cNvSpPr/>
          <p:nvPr/>
        </p:nvSpPr>
        <p:spPr>
          <a:xfrm>
            <a:off x="236623" y="1429753"/>
            <a:ext cx="3998493" cy="3998493"/>
          </a:xfrm>
          <a:prstGeom prst="ellipse">
            <a:avLst/>
          </a:prstGeom>
          <a:gradFill>
            <a:gsLst>
              <a:gs pos="100000">
                <a:srgbClr val="00B050"/>
              </a:gs>
              <a:gs pos="0">
                <a:schemeClr val="bg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0" name="文本框 9">
            <a:extLst>
              <a:ext uri="{FF2B5EF4-FFF2-40B4-BE49-F238E27FC236}">
                <a16:creationId xmlns:a16="http://schemas.microsoft.com/office/drawing/2014/main" id="{15CA3E77-95F9-F250-40CC-CA055CE1D17E}"/>
              </a:ext>
            </a:extLst>
          </p:cNvPr>
          <p:cNvSpPr txBox="1"/>
          <p:nvPr/>
        </p:nvSpPr>
        <p:spPr>
          <a:xfrm>
            <a:off x="3878724" y="868108"/>
            <a:ext cx="3236495"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800" b="0" i="0" u="none" strike="noStrike" kern="1200" cap="none" spc="0" normalizeH="0" baseline="0" noProof="0" dirty="0">
                <a:ln>
                  <a:noFill/>
                </a:ln>
                <a:solidFill>
                  <a:prstClr val="white"/>
                </a:solidFill>
                <a:effectLst/>
                <a:uLnTx/>
                <a:uFillTx/>
                <a:latin typeface="MV Boli" panose="02000500030200090000" pitchFamily="2" charset="0"/>
                <a:ea typeface="等线" panose="02010600030101010101" pitchFamily="2" charset="-122"/>
                <a:cs typeface="MV Boli" panose="02000500030200090000" pitchFamily="2" charset="0"/>
              </a:rPr>
              <a:t>反馈与优化</a:t>
            </a: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1" name="文本框 10">
            <a:extLst>
              <a:ext uri="{FF2B5EF4-FFF2-40B4-BE49-F238E27FC236}">
                <a16:creationId xmlns:a16="http://schemas.microsoft.com/office/drawing/2014/main" id="{E7A3AD33-204E-0BAB-6950-081083880F5B}"/>
              </a:ext>
            </a:extLst>
          </p:cNvPr>
          <p:cNvSpPr txBox="1"/>
          <p:nvPr/>
        </p:nvSpPr>
        <p:spPr>
          <a:xfrm>
            <a:off x="4563179" y="2052343"/>
            <a:ext cx="3236495"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dirty="0">
                <a:solidFill>
                  <a:prstClr val="white"/>
                </a:solidFill>
                <a:latin typeface="MV Boli" panose="02000500030200090000" pitchFamily="2" charset="0"/>
                <a:ea typeface="等线" panose="02010600030101010101" pitchFamily="2" charset="-122"/>
                <a:cs typeface="MV Boli" panose="02000500030200090000" pitchFamily="2" charset="0"/>
              </a:rPr>
              <a:t>试点高校合作与反馈</a:t>
            </a: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2" name="文本框 11">
            <a:extLst>
              <a:ext uri="{FF2B5EF4-FFF2-40B4-BE49-F238E27FC236}">
                <a16:creationId xmlns:a16="http://schemas.microsoft.com/office/drawing/2014/main" id="{61AE28BE-2963-F9B0-3F7C-A2B7731F87F3}"/>
              </a:ext>
            </a:extLst>
          </p:cNvPr>
          <p:cNvSpPr txBox="1"/>
          <p:nvPr/>
        </p:nvSpPr>
        <p:spPr>
          <a:xfrm>
            <a:off x="4755624" y="3357226"/>
            <a:ext cx="4632157"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dirty="0">
                <a:solidFill>
                  <a:prstClr val="white"/>
                </a:solidFill>
                <a:latin typeface="MV Boli" panose="02000500030200090000" pitchFamily="2" charset="0"/>
                <a:ea typeface="等线" panose="02010600030101010101" pitchFamily="2" charset="-122"/>
                <a:cs typeface="MV Boli" panose="02000500030200090000" pitchFamily="2" charset="0"/>
              </a:rPr>
              <a:t>技术优化与迭代</a:t>
            </a: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3" name="文本框 12">
            <a:extLst>
              <a:ext uri="{FF2B5EF4-FFF2-40B4-BE49-F238E27FC236}">
                <a16:creationId xmlns:a16="http://schemas.microsoft.com/office/drawing/2014/main" id="{A43AEEBC-5D09-AFA1-589B-F8762CC250A1}"/>
              </a:ext>
            </a:extLst>
          </p:cNvPr>
          <p:cNvSpPr txBox="1"/>
          <p:nvPr/>
        </p:nvSpPr>
        <p:spPr>
          <a:xfrm>
            <a:off x="4499911" y="4738280"/>
            <a:ext cx="5143582"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dirty="0">
                <a:solidFill>
                  <a:prstClr val="white"/>
                </a:solidFill>
                <a:latin typeface="MV Boli" panose="02000500030200090000" pitchFamily="2" charset="0"/>
                <a:ea typeface="等线" panose="02010600030101010101" pitchFamily="2" charset="-122"/>
                <a:cs typeface="MV Boli" panose="02000500030200090000" pitchFamily="2" charset="0"/>
              </a:rPr>
              <a:t>社会影响力</a:t>
            </a: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4" name="文本框 13">
            <a:extLst>
              <a:ext uri="{FF2B5EF4-FFF2-40B4-BE49-F238E27FC236}">
                <a16:creationId xmlns:a16="http://schemas.microsoft.com/office/drawing/2014/main" id="{441DC9E0-26D9-1692-1273-16D0684DDEB4}"/>
              </a:ext>
            </a:extLst>
          </p:cNvPr>
          <p:cNvSpPr txBox="1"/>
          <p:nvPr/>
        </p:nvSpPr>
        <p:spPr>
          <a:xfrm>
            <a:off x="7873614" y="3218726"/>
            <a:ext cx="3782156" cy="17543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基于试点数据，团队持续优化</a:t>
            </a:r>
            <a:r>
              <a:rPr kumimoji="0" lang="en-US" altLang="zh-CN"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AI</a:t>
            </a:r>
            <a:r>
              <a:rPr kumimoji="0" lang="zh-CN" altLang="en-US"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算法，目前菜品推荐准确率已达 </a:t>
            </a:r>
            <a:r>
              <a:rPr kumimoji="0" lang="en-US" altLang="zh-CN"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82%</a:t>
            </a:r>
            <a:r>
              <a:rPr kumimoji="0" lang="zh-CN" altLang="en-US"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，排队时长预测误差控制在 </a:t>
            </a:r>
            <a:r>
              <a:rPr kumimoji="0" lang="en-US" altLang="zh-CN"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±3</a:t>
            </a:r>
            <a:r>
              <a:rPr kumimoji="0" lang="zh-CN" altLang="en-US"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分钟 以内。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新增 “跨校食堂联动” 功能测试，为后续区域推广奠定基础。 </a:t>
            </a:r>
          </a:p>
        </p:txBody>
      </p:sp>
      <p:sp>
        <p:nvSpPr>
          <p:cNvPr id="3" name="文本框 2">
            <a:extLst>
              <a:ext uri="{FF2B5EF4-FFF2-40B4-BE49-F238E27FC236}">
                <a16:creationId xmlns:a16="http://schemas.microsoft.com/office/drawing/2014/main" id="{DD7966DD-9FBE-0452-9509-3410F517E71C}"/>
              </a:ext>
            </a:extLst>
          </p:cNvPr>
          <p:cNvSpPr txBox="1"/>
          <p:nvPr/>
        </p:nvSpPr>
        <p:spPr>
          <a:xfrm>
            <a:off x="617621" y="3167390"/>
            <a:ext cx="3236495"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solidFill>
                  <a:prstClr val="white"/>
                </a:solidFill>
                <a:effectLst/>
                <a:uLnTx/>
                <a:uFillTx/>
                <a:latin typeface="MV Boli" panose="02000500030200090000" pitchFamily="2" charset="0"/>
                <a:ea typeface="等线" panose="02010600030101010101" pitchFamily="2" charset="-122"/>
                <a:cs typeface="MV Boli" panose="02000500030200090000" pitchFamily="2" charset="0"/>
              </a:rPr>
              <a:t>现状</a:t>
            </a:r>
          </a:p>
        </p:txBody>
      </p:sp>
    </p:spTree>
    <p:extLst>
      <p:ext uri="{BB962C8B-B14F-4D97-AF65-F5344CB8AC3E}">
        <p14:creationId xmlns:p14="http://schemas.microsoft.com/office/powerpoint/2010/main" val="35918553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4D266-1EDA-2CB3-3562-B057813B4802}"/>
            </a:ext>
          </a:extLst>
        </p:cNvPr>
        <p:cNvGrpSpPr/>
        <p:nvPr/>
      </p:nvGrpSpPr>
      <p:grpSpPr>
        <a:xfrm>
          <a:off x="0" y="0"/>
          <a:ext cx="0" cy="0"/>
          <a:chOff x="0" y="0"/>
          <a:chExt cx="0" cy="0"/>
        </a:xfrm>
      </p:grpSpPr>
      <p:pic>
        <p:nvPicPr>
          <p:cNvPr id="16" name="图片 15">
            <a:extLst>
              <a:ext uri="{FF2B5EF4-FFF2-40B4-BE49-F238E27FC236}">
                <a16:creationId xmlns:a16="http://schemas.microsoft.com/office/drawing/2014/main" id="{F03C6A43-D970-7558-8299-7019795B53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40628" y="0"/>
            <a:ext cx="16132628" cy="6858000"/>
          </a:xfrm>
          <a:prstGeom prst="rect">
            <a:avLst/>
          </a:prstGeom>
        </p:spPr>
      </p:pic>
      <p:sp>
        <p:nvSpPr>
          <p:cNvPr id="6" name="矩形 5">
            <a:extLst>
              <a:ext uri="{FF2B5EF4-FFF2-40B4-BE49-F238E27FC236}">
                <a16:creationId xmlns:a16="http://schemas.microsoft.com/office/drawing/2014/main" id="{22C99732-7EB3-895A-9E3B-2060D6C95E1C}"/>
              </a:ext>
            </a:extLst>
          </p:cNvPr>
          <p:cNvSpPr/>
          <p:nvPr/>
        </p:nvSpPr>
        <p:spPr>
          <a:xfrm>
            <a:off x="0" y="0"/>
            <a:ext cx="12192000" cy="6858000"/>
          </a:xfrm>
          <a:prstGeom prst="rect">
            <a:avLst/>
          </a:prstGeom>
          <a:solidFill>
            <a:schemeClr val="tx1">
              <a:lumMod val="95000"/>
              <a:lumOff val="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4" name="椭圆 3">
            <a:extLst>
              <a:ext uri="{FF2B5EF4-FFF2-40B4-BE49-F238E27FC236}">
                <a16:creationId xmlns:a16="http://schemas.microsoft.com/office/drawing/2014/main" id="{99AC51DF-0D0C-8605-946F-8ECDD20AC991}"/>
              </a:ext>
            </a:extLst>
          </p:cNvPr>
          <p:cNvSpPr/>
          <p:nvPr/>
        </p:nvSpPr>
        <p:spPr>
          <a:xfrm>
            <a:off x="-2771273" y="-390608"/>
            <a:ext cx="7712242" cy="7712242"/>
          </a:xfrm>
          <a:prstGeom prst="ellipse">
            <a:avLst/>
          </a:prstGeom>
          <a:noFill/>
          <a:ln>
            <a:gradFill>
              <a:gsLst>
                <a:gs pos="0">
                  <a:srgbClr val="00B050"/>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5" name="椭圆 4">
            <a:extLst>
              <a:ext uri="{FF2B5EF4-FFF2-40B4-BE49-F238E27FC236}">
                <a16:creationId xmlns:a16="http://schemas.microsoft.com/office/drawing/2014/main" id="{9EA3EE5E-00A1-E0AB-E65E-191217AD901A}"/>
              </a:ext>
            </a:extLst>
          </p:cNvPr>
          <p:cNvSpPr/>
          <p:nvPr/>
        </p:nvSpPr>
        <p:spPr>
          <a:xfrm>
            <a:off x="236623" y="1429753"/>
            <a:ext cx="3998493" cy="3998493"/>
          </a:xfrm>
          <a:prstGeom prst="ellipse">
            <a:avLst/>
          </a:prstGeom>
          <a:gradFill>
            <a:gsLst>
              <a:gs pos="100000">
                <a:srgbClr val="00B050"/>
              </a:gs>
              <a:gs pos="0">
                <a:schemeClr val="bg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0" name="文本框 9">
            <a:extLst>
              <a:ext uri="{FF2B5EF4-FFF2-40B4-BE49-F238E27FC236}">
                <a16:creationId xmlns:a16="http://schemas.microsoft.com/office/drawing/2014/main" id="{D0072F83-A20C-CEDC-0065-85C338DD7AB0}"/>
              </a:ext>
            </a:extLst>
          </p:cNvPr>
          <p:cNvSpPr txBox="1"/>
          <p:nvPr/>
        </p:nvSpPr>
        <p:spPr>
          <a:xfrm>
            <a:off x="3133826" y="148498"/>
            <a:ext cx="3236495"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800" b="0" i="0" u="none" strike="noStrike" kern="1200" cap="none" spc="0" normalizeH="0" baseline="0" noProof="0" dirty="0">
                <a:ln>
                  <a:noFill/>
                </a:ln>
                <a:solidFill>
                  <a:prstClr val="white"/>
                </a:solidFill>
                <a:effectLst/>
                <a:uLnTx/>
                <a:uFillTx/>
                <a:latin typeface="MV Boli" panose="02000500030200090000" pitchFamily="2" charset="0"/>
                <a:ea typeface="等线" panose="02010600030101010101" pitchFamily="2" charset="-122"/>
                <a:cs typeface="MV Boli" panose="02000500030200090000" pitchFamily="2" charset="0"/>
              </a:rPr>
              <a:t>反馈与优化</a:t>
            </a: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1" name="文本框 10">
            <a:extLst>
              <a:ext uri="{FF2B5EF4-FFF2-40B4-BE49-F238E27FC236}">
                <a16:creationId xmlns:a16="http://schemas.microsoft.com/office/drawing/2014/main" id="{E32BA17A-71AA-3FF4-9F07-2AB71E888BEA}"/>
              </a:ext>
            </a:extLst>
          </p:cNvPr>
          <p:cNvSpPr txBox="1"/>
          <p:nvPr/>
        </p:nvSpPr>
        <p:spPr>
          <a:xfrm>
            <a:off x="4037398" y="1060421"/>
            <a:ext cx="3236495"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dirty="0">
                <a:solidFill>
                  <a:prstClr val="white"/>
                </a:solidFill>
                <a:latin typeface="MV Boli" panose="02000500030200090000" pitchFamily="2" charset="0"/>
                <a:ea typeface="等线" panose="02010600030101010101" pitchFamily="2" charset="-122"/>
                <a:cs typeface="MV Boli" panose="02000500030200090000" pitchFamily="2" charset="0"/>
              </a:rPr>
              <a:t>试点高校合作与反馈</a:t>
            </a: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2" name="文本框 11">
            <a:extLst>
              <a:ext uri="{FF2B5EF4-FFF2-40B4-BE49-F238E27FC236}">
                <a16:creationId xmlns:a16="http://schemas.microsoft.com/office/drawing/2014/main" id="{3533C07E-7E3C-DA98-1281-2933A6CB92CE}"/>
              </a:ext>
            </a:extLst>
          </p:cNvPr>
          <p:cNvSpPr txBox="1"/>
          <p:nvPr/>
        </p:nvSpPr>
        <p:spPr>
          <a:xfrm>
            <a:off x="4606591" y="2162774"/>
            <a:ext cx="4632157"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dirty="0">
                <a:solidFill>
                  <a:prstClr val="white"/>
                </a:solidFill>
                <a:latin typeface="MV Boli" panose="02000500030200090000" pitchFamily="2" charset="0"/>
                <a:ea typeface="等线" panose="02010600030101010101" pitchFamily="2" charset="-122"/>
                <a:cs typeface="MV Boli" panose="02000500030200090000" pitchFamily="2" charset="0"/>
              </a:rPr>
              <a:t>技术优化与迭代</a:t>
            </a: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3" name="文本框 12">
            <a:extLst>
              <a:ext uri="{FF2B5EF4-FFF2-40B4-BE49-F238E27FC236}">
                <a16:creationId xmlns:a16="http://schemas.microsoft.com/office/drawing/2014/main" id="{8D72A90A-042E-C0ED-13AC-5F100C5D04EC}"/>
              </a:ext>
            </a:extLst>
          </p:cNvPr>
          <p:cNvSpPr txBox="1"/>
          <p:nvPr/>
        </p:nvSpPr>
        <p:spPr>
          <a:xfrm>
            <a:off x="4789207" y="3301857"/>
            <a:ext cx="5143582"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dirty="0">
                <a:solidFill>
                  <a:prstClr val="white"/>
                </a:solidFill>
                <a:latin typeface="MV Boli" panose="02000500030200090000" pitchFamily="2" charset="0"/>
                <a:ea typeface="等线" panose="02010600030101010101" pitchFamily="2" charset="-122"/>
                <a:cs typeface="MV Boli" panose="02000500030200090000" pitchFamily="2" charset="0"/>
              </a:rPr>
              <a:t>社会影响力</a:t>
            </a: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2" name="文本框 1">
            <a:extLst>
              <a:ext uri="{FF2B5EF4-FFF2-40B4-BE49-F238E27FC236}">
                <a16:creationId xmlns:a16="http://schemas.microsoft.com/office/drawing/2014/main" id="{4EC4B461-3814-1CAA-5353-F31A22EAFB5B}"/>
              </a:ext>
            </a:extLst>
          </p:cNvPr>
          <p:cNvSpPr txBox="1"/>
          <p:nvPr/>
        </p:nvSpPr>
        <p:spPr>
          <a:xfrm>
            <a:off x="7536690" y="3071024"/>
            <a:ext cx="3963603" cy="17543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项目受到校方高度重视，被列为</a:t>
            </a:r>
            <a:r>
              <a:rPr lang="zh-CN" altLang="en-US" dirty="0">
                <a:solidFill>
                  <a:prstClr val="white"/>
                </a:solidFill>
                <a:latin typeface="等线" panose="02010600030101010101" pitchFamily="2" charset="-122"/>
                <a:ea typeface="等线" panose="02010600030101010101" pitchFamily="2" charset="-122"/>
                <a:cs typeface="MV Boli" panose="02000500030200090000" pitchFamily="2" charset="0"/>
              </a:rPr>
              <a:t>河南省信息统计职业学院</a:t>
            </a:r>
            <a:r>
              <a:rPr kumimoji="0" lang="zh-CN" altLang="en-US"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大学“智慧校园”建设标杆案例，并获当地媒体报道。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平台推出的 “光盘打卡” 活动参与人数超 </a:t>
            </a:r>
            <a:r>
              <a:rPr kumimoji="0" lang="en-US" altLang="zh-CN"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2,000</a:t>
            </a:r>
            <a:r>
              <a:rPr kumimoji="0" lang="zh-CN" altLang="en-US"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人，厨余垃圾量减少 </a:t>
            </a:r>
            <a:r>
              <a:rPr kumimoji="0" lang="en-US" altLang="zh-CN"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25%</a:t>
            </a:r>
            <a:r>
              <a:rPr kumimoji="0" lang="zh-CN" altLang="en-US"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V Boli" panose="02000500030200090000" pitchFamily="2" charset="0"/>
              </a:rPr>
              <a:t>，环保效益初显。</a:t>
            </a:r>
          </a:p>
        </p:txBody>
      </p:sp>
      <p:sp>
        <p:nvSpPr>
          <p:cNvPr id="7" name="文本框 6">
            <a:extLst>
              <a:ext uri="{FF2B5EF4-FFF2-40B4-BE49-F238E27FC236}">
                <a16:creationId xmlns:a16="http://schemas.microsoft.com/office/drawing/2014/main" id="{FE9CC403-B8CE-590A-5AC8-9A7514CE3196}"/>
              </a:ext>
            </a:extLst>
          </p:cNvPr>
          <p:cNvSpPr txBox="1"/>
          <p:nvPr/>
        </p:nvSpPr>
        <p:spPr>
          <a:xfrm>
            <a:off x="617621" y="3167390"/>
            <a:ext cx="3236495"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solidFill>
                  <a:prstClr val="white"/>
                </a:solidFill>
                <a:effectLst/>
                <a:uLnTx/>
                <a:uFillTx/>
                <a:latin typeface="MV Boli" panose="02000500030200090000" pitchFamily="2" charset="0"/>
                <a:ea typeface="等线" panose="02010600030101010101" pitchFamily="2" charset="-122"/>
                <a:cs typeface="MV Boli" panose="02000500030200090000" pitchFamily="2" charset="0"/>
              </a:rPr>
              <a:t>现状</a:t>
            </a:r>
          </a:p>
        </p:txBody>
      </p:sp>
    </p:spTree>
    <p:extLst>
      <p:ext uri="{BB962C8B-B14F-4D97-AF65-F5344CB8AC3E}">
        <p14:creationId xmlns:p14="http://schemas.microsoft.com/office/powerpoint/2010/main" val="39671616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DC818-D885-6ECF-82C9-CE433822B389}"/>
            </a:ext>
          </a:extLst>
        </p:cNvPr>
        <p:cNvGrpSpPr/>
        <p:nvPr/>
      </p:nvGrpSpPr>
      <p:grpSpPr>
        <a:xfrm>
          <a:off x="0" y="0"/>
          <a:ext cx="0" cy="0"/>
          <a:chOff x="0" y="0"/>
          <a:chExt cx="0" cy="0"/>
        </a:xfrm>
      </p:grpSpPr>
      <p:pic>
        <p:nvPicPr>
          <p:cNvPr id="26" name="图片 25">
            <a:extLst>
              <a:ext uri="{FF2B5EF4-FFF2-40B4-BE49-F238E27FC236}">
                <a16:creationId xmlns:a16="http://schemas.microsoft.com/office/drawing/2014/main" id="{40D1C77B-9A48-8649-F1DB-6D29685ABA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7620" y="-62520"/>
            <a:ext cx="11165305" cy="6920519"/>
          </a:xfrm>
          <a:prstGeom prst="rect">
            <a:avLst/>
          </a:prstGeom>
        </p:spPr>
      </p:pic>
      <p:sp>
        <p:nvSpPr>
          <p:cNvPr id="5" name="文本框 4">
            <a:extLst>
              <a:ext uri="{FF2B5EF4-FFF2-40B4-BE49-F238E27FC236}">
                <a16:creationId xmlns:a16="http://schemas.microsoft.com/office/drawing/2014/main" id="{E1F807FA-5D1E-06A4-0C27-16969582B66C}"/>
              </a:ext>
            </a:extLst>
          </p:cNvPr>
          <p:cNvSpPr txBox="1"/>
          <p:nvPr/>
        </p:nvSpPr>
        <p:spPr>
          <a:xfrm>
            <a:off x="3718560" y="2432414"/>
            <a:ext cx="4581625" cy="218521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600" b="0" i="0" u="none" strike="noStrike" kern="1200" cap="none" spc="0" normalizeH="0" baseline="0" noProof="0" dirty="0">
                <a:ln>
                  <a:noFill/>
                </a:ln>
                <a:solidFill>
                  <a:srgbClr val="4472C4"/>
                </a:solidFill>
                <a:effectLst/>
                <a:uLnTx/>
                <a:uFillTx/>
                <a:latin typeface="华文行楷" panose="02010800040101010101" pitchFamily="2" charset="-122"/>
                <a:ea typeface="华文行楷" panose="02010800040101010101" pitchFamily="2" charset="-122"/>
                <a:cs typeface="+mn-cs"/>
              </a:rPr>
              <a:t>目录</a:t>
            </a:r>
            <a:endParaRPr kumimoji="0" lang="en-US" altLang="zh-CN" sz="9600" b="0" i="0" u="none" strike="noStrike" kern="1200" cap="none" spc="0" normalizeH="0" baseline="0" noProof="0" dirty="0">
              <a:ln>
                <a:noFill/>
              </a:ln>
              <a:solidFill>
                <a:srgbClr val="4472C4"/>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4472C4"/>
                </a:solidFill>
                <a:effectLst/>
                <a:uLnTx/>
                <a:uFillTx/>
                <a:latin typeface="等线" panose="02010600030101010101" pitchFamily="2" charset="-122"/>
                <a:ea typeface="等线" panose="02010600030101010101" pitchFamily="2" charset="-122"/>
                <a:cs typeface="+mn-cs"/>
              </a:rPr>
              <a:t>content</a:t>
            </a:r>
            <a:endParaRPr kumimoji="0" lang="zh-CN" altLang="en-US" sz="4000" b="0" i="0" u="none" strike="noStrike" kern="1200" cap="none" spc="0" normalizeH="0" baseline="0" noProof="0" dirty="0">
              <a:ln>
                <a:noFill/>
              </a:ln>
              <a:solidFill>
                <a:srgbClr val="4472C4"/>
              </a:solidFill>
              <a:effectLst/>
              <a:uLnTx/>
              <a:uFillTx/>
              <a:latin typeface="等线" panose="02010600030101010101" pitchFamily="2" charset="-122"/>
              <a:ea typeface="等线" panose="02010600030101010101" pitchFamily="2" charset="-122"/>
              <a:cs typeface="+mn-cs"/>
            </a:endParaRPr>
          </a:p>
        </p:txBody>
      </p:sp>
      <p:sp>
        <p:nvSpPr>
          <p:cNvPr id="8" name="任意多边形: 形状 7">
            <a:extLst>
              <a:ext uri="{FF2B5EF4-FFF2-40B4-BE49-F238E27FC236}">
                <a16:creationId xmlns:a16="http://schemas.microsoft.com/office/drawing/2014/main" id="{87B1F2A6-1666-5223-092A-BCBAFDC62559}"/>
              </a:ext>
            </a:extLst>
          </p:cNvPr>
          <p:cNvSpPr/>
          <p:nvPr/>
        </p:nvSpPr>
        <p:spPr>
          <a:xfrm>
            <a:off x="2416142"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0" name="任意多边形: 形状 9">
            <a:extLst>
              <a:ext uri="{FF2B5EF4-FFF2-40B4-BE49-F238E27FC236}">
                <a16:creationId xmlns:a16="http://schemas.microsoft.com/office/drawing/2014/main" id="{6C049C49-B42D-1322-65EA-39CDF307CD31}"/>
              </a:ext>
            </a:extLst>
          </p:cNvPr>
          <p:cNvSpPr/>
          <p:nvPr/>
        </p:nvSpPr>
        <p:spPr>
          <a:xfrm>
            <a:off x="2649756"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solidFill>
            <a:schemeClr val="accent1">
              <a:lumMod val="20000"/>
              <a:lumOff val="80000"/>
            </a:schemeClr>
          </a:solidFill>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1" name="任意多边形: 形状 10">
            <a:extLst>
              <a:ext uri="{FF2B5EF4-FFF2-40B4-BE49-F238E27FC236}">
                <a16:creationId xmlns:a16="http://schemas.microsoft.com/office/drawing/2014/main" id="{7FDBDDCF-17D3-7F5D-E5C8-D6204E3C6EDC}"/>
              </a:ext>
            </a:extLst>
          </p:cNvPr>
          <p:cNvSpPr/>
          <p:nvPr/>
        </p:nvSpPr>
        <p:spPr>
          <a:xfrm>
            <a:off x="2883370"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solidFill>
            <a:schemeClr val="bg1"/>
          </a:solidFill>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4" name="文本框 3">
            <a:extLst>
              <a:ext uri="{FF2B5EF4-FFF2-40B4-BE49-F238E27FC236}">
                <a16:creationId xmlns:a16="http://schemas.microsoft.com/office/drawing/2014/main" id="{F8030238-5472-13C8-330C-68F79A26FB47}"/>
              </a:ext>
            </a:extLst>
          </p:cNvPr>
          <p:cNvSpPr txBox="1"/>
          <p:nvPr/>
        </p:nvSpPr>
        <p:spPr>
          <a:xfrm>
            <a:off x="-426120" y="2336391"/>
            <a:ext cx="4581625" cy="218521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600" b="0" i="0" u="none" strike="noStrike" kern="1200" cap="none" spc="0" normalizeH="0" baseline="0" noProof="0" dirty="0">
                <a:ln>
                  <a:noFill/>
                </a:ln>
                <a:solidFill>
                  <a:srgbClr val="C00000"/>
                </a:solidFill>
                <a:effectLst/>
                <a:uLnTx/>
                <a:uFillTx/>
                <a:latin typeface="华文行楷" panose="02010800040101010101" pitchFamily="2" charset="-122"/>
                <a:ea typeface="华文行楷" panose="02010800040101010101" pitchFamily="2" charset="-122"/>
                <a:cs typeface="+mn-cs"/>
              </a:rPr>
              <a:t>目录</a:t>
            </a:r>
            <a:endParaRPr kumimoji="0" lang="en-US" altLang="zh-CN" sz="9600" b="0" i="0" u="none" strike="noStrike" kern="1200" cap="none" spc="0" normalizeH="0" baseline="0" noProof="0" dirty="0">
              <a:ln>
                <a:noFill/>
              </a:ln>
              <a:solidFill>
                <a:srgbClr val="C00000"/>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C00000"/>
                </a:solidFill>
                <a:effectLst/>
                <a:uLnTx/>
                <a:uFillTx/>
                <a:latin typeface="等线" panose="02010600030101010101" pitchFamily="2" charset="-122"/>
                <a:ea typeface="等线" panose="02010600030101010101" pitchFamily="2" charset="-122"/>
                <a:cs typeface="+mn-cs"/>
              </a:rPr>
              <a:t>content</a:t>
            </a:r>
            <a:endParaRPr kumimoji="0" lang="zh-CN" altLang="en-US" sz="4000" b="0" i="0" u="none" strike="noStrike" kern="1200" cap="none" spc="0" normalizeH="0" baseline="0" noProof="0" dirty="0">
              <a:ln>
                <a:noFill/>
              </a:ln>
              <a:solidFill>
                <a:srgbClr val="C00000"/>
              </a:solidFill>
              <a:effectLst/>
              <a:uLnTx/>
              <a:uFillTx/>
              <a:latin typeface="等线" panose="02010600030101010101" pitchFamily="2" charset="-122"/>
              <a:ea typeface="等线" panose="02010600030101010101" pitchFamily="2" charset="-122"/>
              <a:cs typeface="+mn-cs"/>
            </a:endParaRPr>
          </a:p>
        </p:txBody>
      </p:sp>
      <p:grpSp>
        <p:nvGrpSpPr>
          <p:cNvPr id="24" name="组合 23">
            <a:extLst>
              <a:ext uri="{FF2B5EF4-FFF2-40B4-BE49-F238E27FC236}">
                <a16:creationId xmlns:a16="http://schemas.microsoft.com/office/drawing/2014/main" id="{7DDC1AD4-222E-D77F-1373-0E7AD3EC3807}"/>
              </a:ext>
            </a:extLst>
          </p:cNvPr>
          <p:cNvGrpSpPr/>
          <p:nvPr/>
        </p:nvGrpSpPr>
        <p:grpSpPr>
          <a:xfrm>
            <a:off x="5248543" y="642621"/>
            <a:ext cx="1273629" cy="544286"/>
            <a:chOff x="5034642" y="1306286"/>
            <a:chExt cx="1273629" cy="544286"/>
          </a:xfrm>
        </p:grpSpPr>
        <p:sp>
          <p:nvSpPr>
            <p:cNvPr id="6" name="箭头: V 形 5">
              <a:extLst>
                <a:ext uri="{FF2B5EF4-FFF2-40B4-BE49-F238E27FC236}">
                  <a16:creationId xmlns:a16="http://schemas.microsoft.com/office/drawing/2014/main" id="{812373D3-3D6E-A18E-B858-3E6FAACBB54D}"/>
                </a:ext>
              </a:extLst>
            </p:cNvPr>
            <p:cNvSpPr/>
            <p:nvPr/>
          </p:nvSpPr>
          <p:spPr>
            <a:xfrm>
              <a:off x="5034642"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 name="箭头: V 形 6">
              <a:extLst>
                <a:ext uri="{FF2B5EF4-FFF2-40B4-BE49-F238E27FC236}">
                  <a16:creationId xmlns:a16="http://schemas.microsoft.com/office/drawing/2014/main" id="{13652F1F-142A-FA46-E86F-A11AB69E94F7}"/>
                </a:ext>
              </a:extLst>
            </p:cNvPr>
            <p:cNvSpPr/>
            <p:nvPr/>
          </p:nvSpPr>
          <p:spPr>
            <a:xfrm>
              <a:off x="5459185"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9" name="箭头: V 形 8">
              <a:extLst>
                <a:ext uri="{FF2B5EF4-FFF2-40B4-BE49-F238E27FC236}">
                  <a16:creationId xmlns:a16="http://schemas.microsoft.com/office/drawing/2014/main" id="{F40D16A9-6DF9-7632-E6CF-2C9E1F07C00C}"/>
                </a:ext>
              </a:extLst>
            </p:cNvPr>
            <p:cNvSpPr/>
            <p:nvPr/>
          </p:nvSpPr>
          <p:spPr>
            <a:xfrm>
              <a:off x="5883728"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5" name="组合 24">
            <a:extLst>
              <a:ext uri="{FF2B5EF4-FFF2-40B4-BE49-F238E27FC236}">
                <a16:creationId xmlns:a16="http://schemas.microsoft.com/office/drawing/2014/main" id="{B49B669E-9BCF-DCF1-E7F7-1B19FCE78B95}"/>
              </a:ext>
            </a:extLst>
          </p:cNvPr>
          <p:cNvGrpSpPr/>
          <p:nvPr/>
        </p:nvGrpSpPr>
        <p:grpSpPr>
          <a:xfrm>
            <a:off x="5249577" y="1711368"/>
            <a:ext cx="1273629" cy="544286"/>
            <a:chOff x="5034642" y="2242458"/>
            <a:chExt cx="1273629" cy="544286"/>
          </a:xfrm>
        </p:grpSpPr>
        <p:sp>
          <p:nvSpPr>
            <p:cNvPr id="12" name="箭头: V 形 11">
              <a:extLst>
                <a:ext uri="{FF2B5EF4-FFF2-40B4-BE49-F238E27FC236}">
                  <a16:creationId xmlns:a16="http://schemas.microsoft.com/office/drawing/2014/main" id="{C2613679-F127-13B0-0B50-81B150558FAB}"/>
                </a:ext>
              </a:extLst>
            </p:cNvPr>
            <p:cNvSpPr/>
            <p:nvPr/>
          </p:nvSpPr>
          <p:spPr>
            <a:xfrm>
              <a:off x="5034642"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3" name="箭头: V 形 12">
              <a:extLst>
                <a:ext uri="{FF2B5EF4-FFF2-40B4-BE49-F238E27FC236}">
                  <a16:creationId xmlns:a16="http://schemas.microsoft.com/office/drawing/2014/main" id="{7C5B3DFF-212A-61AE-0BE2-84550B412D80}"/>
                </a:ext>
              </a:extLst>
            </p:cNvPr>
            <p:cNvSpPr/>
            <p:nvPr/>
          </p:nvSpPr>
          <p:spPr>
            <a:xfrm>
              <a:off x="5459185"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4" name="箭头: V 形 13">
              <a:extLst>
                <a:ext uri="{FF2B5EF4-FFF2-40B4-BE49-F238E27FC236}">
                  <a16:creationId xmlns:a16="http://schemas.microsoft.com/office/drawing/2014/main" id="{F58F6BD0-C985-ACA4-0A9C-1704B0461BB2}"/>
                </a:ext>
              </a:extLst>
            </p:cNvPr>
            <p:cNvSpPr/>
            <p:nvPr/>
          </p:nvSpPr>
          <p:spPr>
            <a:xfrm>
              <a:off x="5883728"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8" name="组合 27">
            <a:extLst>
              <a:ext uri="{FF2B5EF4-FFF2-40B4-BE49-F238E27FC236}">
                <a16:creationId xmlns:a16="http://schemas.microsoft.com/office/drawing/2014/main" id="{A42D7B7B-4E66-2A2C-85CB-A3C14E415959}"/>
              </a:ext>
            </a:extLst>
          </p:cNvPr>
          <p:cNvGrpSpPr/>
          <p:nvPr/>
        </p:nvGrpSpPr>
        <p:grpSpPr>
          <a:xfrm>
            <a:off x="5248543" y="2853455"/>
            <a:ext cx="1273629" cy="544286"/>
            <a:chOff x="5034642" y="3178630"/>
            <a:chExt cx="1273629" cy="544286"/>
          </a:xfrm>
        </p:grpSpPr>
        <p:sp>
          <p:nvSpPr>
            <p:cNvPr id="15" name="箭头: V 形 14">
              <a:extLst>
                <a:ext uri="{FF2B5EF4-FFF2-40B4-BE49-F238E27FC236}">
                  <a16:creationId xmlns:a16="http://schemas.microsoft.com/office/drawing/2014/main" id="{D1AA07C8-AF1F-561A-4C6A-8F29F5F25FED}"/>
                </a:ext>
              </a:extLst>
            </p:cNvPr>
            <p:cNvSpPr/>
            <p:nvPr/>
          </p:nvSpPr>
          <p:spPr>
            <a:xfrm>
              <a:off x="5034642"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 name="箭头: V 形 15">
              <a:extLst>
                <a:ext uri="{FF2B5EF4-FFF2-40B4-BE49-F238E27FC236}">
                  <a16:creationId xmlns:a16="http://schemas.microsoft.com/office/drawing/2014/main" id="{CA02FD34-DB14-42DD-1425-5A9349A79203}"/>
                </a:ext>
              </a:extLst>
            </p:cNvPr>
            <p:cNvSpPr/>
            <p:nvPr/>
          </p:nvSpPr>
          <p:spPr>
            <a:xfrm>
              <a:off x="5459185"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7" name="箭头: V 形 16">
              <a:extLst>
                <a:ext uri="{FF2B5EF4-FFF2-40B4-BE49-F238E27FC236}">
                  <a16:creationId xmlns:a16="http://schemas.microsoft.com/office/drawing/2014/main" id="{0168F223-8727-CD78-271E-05179D5CFB37}"/>
                </a:ext>
              </a:extLst>
            </p:cNvPr>
            <p:cNvSpPr/>
            <p:nvPr/>
          </p:nvSpPr>
          <p:spPr>
            <a:xfrm>
              <a:off x="5883728"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9" name="组合 28">
            <a:extLst>
              <a:ext uri="{FF2B5EF4-FFF2-40B4-BE49-F238E27FC236}">
                <a16:creationId xmlns:a16="http://schemas.microsoft.com/office/drawing/2014/main" id="{0A3A1AF8-BC31-1DAA-1A51-31071574DF9A}"/>
              </a:ext>
            </a:extLst>
          </p:cNvPr>
          <p:cNvGrpSpPr/>
          <p:nvPr/>
        </p:nvGrpSpPr>
        <p:grpSpPr>
          <a:xfrm>
            <a:off x="5248543" y="4054268"/>
            <a:ext cx="1273629" cy="544286"/>
            <a:chOff x="5034642" y="4114802"/>
            <a:chExt cx="1273629" cy="544286"/>
          </a:xfrm>
        </p:grpSpPr>
        <p:sp>
          <p:nvSpPr>
            <p:cNvPr id="18" name="箭头: V 形 17">
              <a:extLst>
                <a:ext uri="{FF2B5EF4-FFF2-40B4-BE49-F238E27FC236}">
                  <a16:creationId xmlns:a16="http://schemas.microsoft.com/office/drawing/2014/main" id="{EC33AF73-0E05-97EF-BBA4-38123455C50B}"/>
                </a:ext>
              </a:extLst>
            </p:cNvPr>
            <p:cNvSpPr/>
            <p:nvPr/>
          </p:nvSpPr>
          <p:spPr>
            <a:xfrm>
              <a:off x="5034642"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 name="箭头: V 形 18">
              <a:extLst>
                <a:ext uri="{FF2B5EF4-FFF2-40B4-BE49-F238E27FC236}">
                  <a16:creationId xmlns:a16="http://schemas.microsoft.com/office/drawing/2014/main" id="{0F2C5F98-9CAF-94B4-5E03-A9D1F563848D}"/>
                </a:ext>
              </a:extLst>
            </p:cNvPr>
            <p:cNvSpPr/>
            <p:nvPr/>
          </p:nvSpPr>
          <p:spPr>
            <a:xfrm>
              <a:off x="5459185"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0" name="箭头: V 形 19">
              <a:extLst>
                <a:ext uri="{FF2B5EF4-FFF2-40B4-BE49-F238E27FC236}">
                  <a16:creationId xmlns:a16="http://schemas.microsoft.com/office/drawing/2014/main" id="{71B321AC-1567-10F0-8ED9-1AE6280B04A2}"/>
                </a:ext>
              </a:extLst>
            </p:cNvPr>
            <p:cNvSpPr/>
            <p:nvPr/>
          </p:nvSpPr>
          <p:spPr>
            <a:xfrm>
              <a:off x="5883728"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30" name="组合 29">
            <a:extLst>
              <a:ext uri="{FF2B5EF4-FFF2-40B4-BE49-F238E27FC236}">
                <a16:creationId xmlns:a16="http://schemas.microsoft.com/office/drawing/2014/main" id="{16CDD3CE-E22A-A085-7704-2F3FED36EC54}"/>
              </a:ext>
            </a:extLst>
          </p:cNvPr>
          <p:cNvGrpSpPr/>
          <p:nvPr/>
        </p:nvGrpSpPr>
        <p:grpSpPr>
          <a:xfrm>
            <a:off x="14602292" y="5540556"/>
            <a:ext cx="1273629" cy="544286"/>
            <a:chOff x="5034642" y="5050974"/>
            <a:chExt cx="1273629" cy="544286"/>
          </a:xfrm>
        </p:grpSpPr>
        <p:sp>
          <p:nvSpPr>
            <p:cNvPr id="21" name="箭头: V 形 20">
              <a:extLst>
                <a:ext uri="{FF2B5EF4-FFF2-40B4-BE49-F238E27FC236}">
                  <a16:creationId xmlns:a16="http://schemas.microsoft.com/office/drawing/2014/main" id="{1D0EDBF4-BD6E-5D5D-D3A4-58D4C474A330}"/>
                </a:ext>
              </a:extLst>
            </p:cNvPr>
            <p:cNvSpPr/>
            <p:nvPr/>
          </p:nvSpPr>
          <p:spPr>
            <a:xfrm>
              <a:off x="5034642"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 name="箭头: V 形 21">
              <a:extLst>
                <a:ext uri="{FF2B5EF4-FFF2-40B4-BE49-F238E27FC236}">
                  <a16:creationId xmlns:a16="http://schemas.microsoft.com/office/drawing/2014/main" id="{E4E8A070-C911-7EBD-6ABB-B271D273D40F}"/>
                </a:ext>
              </a:extLst>
            </p:cNvPr>
            <p:cNvSpPr/>
            <p:nvPr/>
          </p:nvSpPr>
          <p:spPr>
            <a:xfrm>
              <a:off x="5459185"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3" name="箭头: V 形 22">
              <a:extLst>
                <a:ext uri="{FF2B5EF4-FFF2-40B4-BE49-F238E27FC236}">
                  <a16:creationId xmlns:a16="http://schemas.microsoft.com/office/drawing/2014/main" id="{DC8CDAA7-8D06-B932-B0EE-5CD20CD5E445}"/>
                </a:ext>
              </a:extLst>
            </p:cNvPr>
            <p:cNvSpPr/>
            <p:nvPr/>
          </p:nvSpPr>
          <p:spPr>
            <a:xfrm>
              <a:off x="5883728"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37" name="组合 36">
            <a:extLst>
              <a:ext uri="{FF2B5EF4-FFF2-40B4-BE49-F238E27FC236}">
                <a16:creationId xmlns:a16="http://schemas.microsoft.com/office/drawing/2014/main" id="{1D5E42D4-70A3-7123-E10D-F0F2E139CE38}"/>
              </a:ext>
            </a:extLst>
          </p:cNvPr>
          <p:cNvGrpSpPr/>
          <p:nvPr/>
        </p:nvGrpSpPr>
        <p:grpSpPr>
          <a:xfrm>
            <a:off x="8060260" y="508321"/>
            <a:ext cx="2719668" cy="707886"/>
            <a:chOff x="7790950" y="577644"/>
            <a:chExt cx="2719668" cy="707886"/>
          </a:xfrm>
        </p:grpSpPr>
        <p:sp>
          <p:nvSpPr>
            <p:cNvPr id="31" name="文本框 30">
              <a:extLst>
                <a:ext uri="{FF2B5EF4-FFF2-40B4-BE49-F238E27FC236}">
                  <a16:creationId xmlns:a16="http://schemas.microsoft.com/office/drawing/2014/main" id="{7FFA1C99-5B24-A8BF-1B32-B3F46A6FBF1E}"/>
                </a:ext>
              </a:extLst>
            </p:cNvPr>
            <p:cNvSpPr txBox="1"/>
            <p:nvPr/>
          </p:nvSpPr>
          <p:spPr>
            <a:xfrm>
              <a:off x="7790950" y="577644"/>
              <a:ext cx="271278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Calibri" panose="020F0502020204030204" pitchFamily="34" charset="0"/>
                </a:rPr>
                <a:t>现有市场</a:t>
              </a:r>
            </a:p>
          </p:txBody>
        </p:sp>
        <p:sp>
          <p:nvSpPr>
            <p:cNvPr id="32" name="文本框 31">
              <a:extLst>
                <a:ext uri="{FF2B5EF4-FFF2-40B4-BE49-F238E27FC236}">
                  <a16:creationId xmlns:a16="http://schemas.microsoft.com/office/drawing/2014/main" id="{36915D96-4C70-326F-9BFC-9E8750D6093A}"/>
                </a:ext>
              </a:extLst>
            </p:cNvPr>
            <p:cNvSpPr txBox="1"/>
            <p:nvPr/>
          </p:nvSpPr>
          <p:spPr>
            <a:xfrm>
              <a:off x="7797833" y="577644"/>
              <a:ext cx="2712785"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endPar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endParaRPr>
            </a:p>
          </p:txBody>
        </p:sp>
      </p:grpSp>
      <p:sp>
        <p:nvSpPr>
          <p:cNvPr id="33" name="文本框 32">
            <a:extLst>
              <a:ext uri="{FF2B5EF4-FFF2-40B4-BE49-F238E27FC236}">
                <a16:creationId xmlns:a16="http://schemas.microsoft.com/office/drawing/2014/main" id="{936B6566-E1E5-2DC4-878B-93C9DFE1A3C1}"/>
              </a:ext>
            </a:extLst>
          </p:cNvPr>
          <p:cNvSpPr txBox="1"/>
          <p:nvPr/>
        </p:nvSpPr>
        <p:spPr>
          <a:xfrm>
            <a:off x="8067143" y="1674673"/>
            <a:ext cx="2712785"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rPr>
              <a:t>我们的创新点</a:t>
            </a:r>
          </a:p>
        </p:txBody>
      </p:sp>
      <p:sp>
        <p:nvSpPr>
          <p:cNvPr id="34" name="文本框 33">
            <a:extLst>
              <a:ext uri="{FF2B5EF4-FFF2-40B4-BE49-F238E27FC236}">
                <a16:creationId xmlns:a16="http://schemas.microsoft.com/office/drawing/2014/main" id="{BFF5F83D-5279-7AE8-2FA0-409EB7377268}"/>
              </a:ext>
            </a:extLst>
          </p:cNvPr>
          <p:cNvSpPr txBox="1"/>
          <p:nvPr/>
        </p:nvSpPr>
        <p:spPr>
          <a:xfrm>
            <a:off x="8041847" y="2841025"/>
            <a:ext cx="277507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华文行楷" panose="02010800040101010101" pitchFamily="2" charset="-122"/>
                <a:cs typeface="+mn-cs"/>
              </a:rPr>
              <a:t>商业化可行性</a:t>
            </a:r>
            <a:endParaRPr kumimoji="0" lang="en-US" altLang="zh-CN" sz="2000" b="0" i="1" u="none" strike="noStrike" kern="1200" cap="none" spc="0" normalizeH="0" baseline="0" noProof="0" dirty="0">
              <a:ln>
                <a:noFill/>
              </a:ln>
              <a:solidFill>
                <a:prstClr val="black"/>
              </a:solidFill>
              <a:effectLst/>
              <a:uLnTx/>
              <a:uFillTx/>
              <a:latin typeface="Segoe Print" panose="02000600000000000000" pitchFamily="2" charset="0"/>
              <a:ea typeface="华文行楷" panose="02010800040101010101" pitchFamily="2" charset="-122"/>
              <a:cs typeface="+mn-cs"/>
            </a:endParaRPr>
          </a:p>
        </p:txBody>
      </p:sp>
      <p:sp>
        <p:nvSpPr>
          <p:cNvPr id="35" name="文本框 34">
            <a:extLst>
              <a:ext uri="{FF2B5EF4-FFF2-40B4-BE49-F238E27FC236}">
                <a16:creationId xmlns:a16="http://schemas.microsoft.com/office/drawing/2014/main" id="{D1B68D83-BF61-AAC0-702A-340E51DA8D37}"/>
              </a:ext>
            </a:extLst>
          </p:cNvPr>
          <p:cNvSpPr txBox="1"/>
          <p:nvPr/>
        </p:nvSpPr>
        <p:spPr>
          <a:xfrm>
            <a:off x="8194481" y="4005765"/>
            <a:ext cx="254370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rPr>
              <a:t>现状</a:t>
            </a:r>
          </a:p>
        </p:txBody>
      </p:sp>
      <p:sp>
        <p:nvSpPr>
          <p:cNvPr id="36" name="文本框 35">
            <a:extLst>
              <a:ext uri="{FF2B5EF4-FFF2-40B4-BE49-F238E27FC236}">
                <a16:creationId xmlns:a16="http://schemas.microsoft.com/office/drawing/2014/main" id="{3BFF2304-4B33-82BD-4B0E-9D387732A85B}"/>
              </a:ext>
            </a:extLst>
          </p:cNvPr>
          <p:cNvSpPr txBox="1"/>
          <p:nvPr/>
        </p:nvSpPr>
        <p:spPr>
          <a:xfrm>
            <a:off x="17548231" y="5531765"/>
            <a:ext cx="254370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PART05</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i="1" dirty="0">
                <a:solidFill>
                  <a:prstClr val="black"/>
                </a:solidFill>
                <a:latin typeface="Segoe Print" panose="02000600000000000000" pitchFamily="2" charset="0"/>
                <a:ea typeface="方正舒体" panose="02010601030101010101" pitchFamily="2" charset="-122"/>
              </a:rPr>
              <a:t>代码展示</a:t>
            </a:r>
            <a:endPar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endParaRPr>
          </a:p>
        </p:txBody>
      </p:sp>
    </p:spTree>
    <p:extLst>
      <p:ext uri="{BB962C8B-B14F-4D97-AF65-F5344CB8AC3E}">
        <p14:creationId xmlns:p14="http://schemas.microsoft.com/office/powerpoint/2010/main" val="1803485127"/>
      </p:ext>
    </p:extLst>
  </p:cSld>
  <p:clrMapOvr>
    <a:masterClrMapping/>
  </p:clrMapOvr>
  <p:transition spd="med">
    <p:pull/>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895FF-B2BA-C18C-F501-E57701BB901B}"/>
            </a:ext>
          </a:extLst>
        </p:cNvPr>
        <p:cNvGrpSpPr/>
        <p:nvPr/>
      </p:nvGrpSpPr>
      <p:grpSpPr>
        <a:xfrm>
          <a:off x="0" y="0"/>
          <a:ext cx="0" cy="0"/>
          <a:chOff x="0" y="0"/>
          <a:chExt cx="0" cy="0"/>
        </a:xfrm>
      </p:grpSpPr>
      <p:pic>
        <p:nvPicPr>
          <p:cNvPr id="26" name="图片 25">
            <a:extLst>
              <a:ext uri="{FF2B5EF4-FFF2-40B4-BE49-F238E27FC236}">
                <a16:creationId xmlns:a16="http://schemas.microsoft.com/office/drawing/2014/main" id="{A1710D92-0FAF-8D3E-D8BE-B051B1CF3B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60601" y="-31259"/>
            <a:ext cx="11179071" cy="6858000"/>
          </a:xfrm>
          <a:prstGeom prst="rect">
            <a:avLst/>
          </a:prstGeom>
        </p:spPr>
      </p:pic>
      <p:sp>
        <p:nvSpPr>
          <p:cNvPr id="5" name="文本框 4">
            <a:extLst>
              <a:ext uri="{FF2B5EF4-FFF2-40B4-BE49-F238E27FC236}">
                <a16:creationId xmlns:a16="http://schemas.microsoft.com/office/drawing/2014/main" id="{D918C616-EC3F-F295-DA6A-A9572354FC0B}"/>
              </a:ext>
            </a:extLst>
          </p:cNvPr>
          <p:cNvSpPr txBox="1"/>
          <p:nvPr/>
        </p:nvSpPr>
        <p:spPr>
          <a:xfrm>
            <a:off x="3718560" y="2432414"/>
            <a:ext cx="4581625" cy="218521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600" b="0" i="0" u="none" strike="noStrike" kern="1200" cap="none" spc="0" normalizeH="0" baseline="0" noProof="0" dirty="0">
                <a:ln>
                  <a:noFill/>
                </a:ln>
                <a:solidFill>
                  <a:srgbClr val="4472C4"/>
                </a:solidFill>
                <a:effectLst/>
                <a:uLnTx/>
                <a:uFillTx/>
                <a:latin typeface="华文行楷" panose="02010800040101010101" pitchFamily="2" charset="-122"/>
                <a:ea typeface="华文行楷" panose="02010800040101010101" pitchFamily="2" charset="-122"/>
                <a:cs typeface="+mn-cs"/>
              </a:rPr>
              <a:t>目录</a:t>
            </a:r>
            <a:endParaRPr kumimoji="0" lang="en-US" altLang="zh-CN" sz="9600" b="0" i="0" u="none" strike="noStrike" kern="1200" cap="none" spc="0" normalizeH="0" baseline="0" noProof="0" dirty="0">
              <a:ln>
                <a:noFill/>
              </a:ln>
              <a:solidFill>
                <a:srgbClr val="4472C4"/>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4472C4"/>
                </a:solidFill>
                <a:effectLst/>
                <a:uLnTx/>
                <a:uFillTx/>
                <a:latin typeface="等线" panose="02010600030101010101" pitchFamily="2" charset="-122"/>
                <a:ea typeface="等线" panose="02010600030101010101" pitchFamily="2" charset="-122"/>
                <a:cs typeface="+mn-cs"/>
              </a:rPr>
              <a:t>content</a:t>
            </a:r>
            <a:endParaRPr kumimoji="0" lang="zh-CN" altLang="en-US" sz="4000" b="0" i="0" u="none" strike="noStrike" kern="1200" cap="none" spc="0" normalizeH="0" baseline="0" noProof="0" dirty="0">
              <a:ln>
                <a:noFill/>
              </a:ln>
              <a:solidFill>
                <a:srgbClr val="4472C4"/>
              </a:solidFill>
              <a:effectLst/>
              <a:uLnTx/>
              <a:uFillTx/>
              <a:latin typeface="等线" panose="02010600030101010101" pitchFamily="2" charset="-122"/>
              <a:ea typeface="等线" panose="02010600030101010101" pitchFamily="2" charset="-122"/>
              <a:cs typeface="+mn-cs"/>
            </a:endParaRPr>
          </a:p>
        </p:txBody>
      </p:sp>
      <p:sp>
        <p:nvSpPr>
          <p:cNvPr id="8" name="任意多边形: 形状 7">
            <a:extLst>
              <a:ext uri="{FF2B5EF4-FFF2-40B4-BE49-F238E27FC236}">
                <a16:creationId xmlns:a16="http://schemas.microsoft.com/office/drawing/2014/main" id="{B6A52923-9CA1-83D4-1BAF-4B875635DC90}"/>
              </a:ext>
            </a:extLst>
          </p:cNvPr>
          <p:cNvSpPr/>
          <p:nvPr/>
        </p:nvSpPr>
        <p:spPr>
          <a:xfrm>
            <a:off x="2416142"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0" name="任意多边形: 形状 9">
            <a:extLst>
              <a:ext uri="{FF2B5EF4-FFF2-40B4-BE49-F238E27FC236}">
                <a16:creationId xmlns:a16="http://schemas.microsoft.com/office/drawing/2014/main" id="{C42EA488-6774-3E41-F685-7D86387FD37E}"/>
              </a:ext>
            </a:extLst>
          </p:cNvPr>
          <p:cNvSpPr/>
          <p:nvPr/>
        </p:nvSpPr>
        <p:spPr>
          <a:xfrm>
            <a:off x="2649756"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solidFill>
            <a:schemeClr val="accent1">
              <a:lumMod val="20000"/>
              <a:lumOff val="80000"/>
            </a:schemeClr>
          </a:solidFill>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1" name="任意多边形: 形状 10">
            <a:extLst>
              <a:ext uri="{FF2B5EF4-FFF2-40B4-BE49-F238E27FC236}">
                <a16:creationId xmlns:a16="http://schemas.microsoft.com/office/drawing/2014/main" id="{6833486D-F3B5-36FF-5720-BCEDBD1975F2}"/>
              </a:ext>
            </a:extLst>
          </p:cNvPr>
          <p:cNvSpPr/>
          <p:nvPr/>
        </p:nvSpPr>
        <p:spPr>
          <a:xfrm>
            <a:off x="2883370" y="0"/>
            <a:ext cx="9775858" cy="6858000"/>
          </a:xfrm>
          <a:custGeom>
            <a:avLst/>
            <a:gdLst>
              <a:gd name="connsiteX0" fmla="*/ 0 w 9775858"/>
              <a:gd name="connsiteY0" fmla="*/ 0 h 6858000"/>
              <a:gd name="connsiteX1" fmla="*/ 9775858 w 9775858"/>
              <a:gd name="connsiteY1" fmla="*/ 0 h 6858000"/>
              <a:gd name="connsiteX2" fmla="*/ 9775858 w 9775858"/>
              <a:gd name="connsiteY2" fmla="*/ 6858000 h 6858000"/>
              <a:gd name="connsiteX3" fmla="*/ 0 w 9775858"/>
              <a:gd name="connsiteY3" fmla="*/ 6858000 h 6858000"/>
              <a:gd name="connsiteX4" fmla="*/ 126027 w 9775858"/>
              <a:gd name="connsiteY4" fmla="*/ 6777206 h 6858000"/>
              <a:gd name="connsiteX5" fmla="*/ 1906254 w 9775858"/>
              <a:gd name="connsiteY5" fmla="*/ 3429000 h 6858000"/>
              <a:gd name="connsiteX6" fmla="*/ 126027 w 9775858"/>
              <a:gd name="connsiteY6" fmla="*/ 807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75858" h="6858000">
                <a:moveTo>
                  <a:pt x="0" y="0"/>
                </a:moveTo>
                <a:lnTo>
                  <a:pt x="9775858" y="0"/>
                </a:lnTo>
                <a:lnTo>
                  <a:pt x="9775858" y="6858000"/>
                </a:lnTo>
                <a:lnTo>
                  <a:pt x="0" y="6858000"/>
                </a:lnTo>
                <a:lnTo>
                  <a:pt x="126027" y="6777206"/>
                </a:lnTo>
                <a:cubicBezTo>
                  <a:pt x="1200089" y="6051584"/>
                  <a:pt x="1906254" y="4822759"/>
                  <a:pt x="1906254" y="3429000"/>
                </a:cubicBezTo>
                <a:cubicBezTo>
                  <a:pt x="1906254" y="2035241"/>
                  <a:pt x="1200089" y="806416"/>
                  <a:pt x="126027" y="80795"/>
                </a:cubicBezTo>
                <a:close/>
              </a:path>
            </a:pathLst>
          </a:custGeom>
          <a:solidFill>
            <a:schemeClr val="bg1"/>
          </a:solidFill>
          <a:ln>
            <a:noFill/>
          </a:ln>
          <a:effectLst>
            <a:outerShdw blurRad="50800" dist="38100" dir="10800000" sx="101000" sy="101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4" name="文本框 3">
            <a:extLst>
              <a:ext uri="{FF2B5EF4-FFF2-40B4-BE49-F238E27FC236}">
                <a16:creationId xmlns:a16="http://schemas.microsoft.com/office/drawing/2014/main" id="{3DB38CA8-4A7B-171B-755F-BF927057F7CF}"/>
              </a:ext>
            </a:extLst>
          </p:cNvPr>
          <p:cNvSpPr txBox="1"/>
          <p:nvPr/>
        </p:nvSpPr>
        <p:spPr>
          <a:xfrm>
            <a:off x="-426120" y="2336391"/>
            <a:ext cx="4581625" cy="218521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600" b="0" i="0" u="none" strike="noStrike" kern="1200" cap="none" spc="0" normalizeH="0" baseline="0" noProof="0" dirty="0">
                <a:ln>
                  <a:noFill/>
                </a:ln>
                <a:solidFill>
                  <a:srgbClr val="C00000"/>
                </a:solidFill>
                <a:effectLst/>
                <a:uLnTx/>
                <a:uFillTx/>
                <a:latin typeface="华文行楷" panose="02010800040101010101" pitchFamily="2" charset="-122"/>
                <a:ea typeface="华文行楷" panose="02010800040101010101" pitchFamily="2" charset="-122"/>
                <a:cs typeface="+mn-cs"/>
              </a:rPr>
              <a:t>目录</a:t>
            </a:r>
            <a:endParaRPr kumimoji="0" lang="en-US" altLang="zh-CN" sz="9600" b="0" i="0" u="none" strike="noStrike" kern="1200" cap="none" spc="0" normalizeH="0" baseline="0" noProof="0" dirty="0">
              <a:ln>
                <a:noFill/>
              </a:ln>
              <a:solidFill>
                <a:srgbClr val="C00000"/>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C00000"/>
                </a:solidFill>
                <a:effectLst/>
                <a:uLnTx/>
                <a:uFillTx/>
                <a:latin typeface="等线" panose="02010600030101010101" pitchFamily="2" charset="-122"/>
                <a:ea typeface="等线" panose="02010600030101010101" pitchFamily="2" charset="-122"/>
                <a:cs typeface="+mn-cs"/>
              </a:rPr>
              <a:t>content</a:t>
            </a:r>
            <a:endParaRPr kumimoji="0" lang="zh-CN" altLang="en-US" sz="4000" b="0" i="0" u="none" strike="noStrike" kern="1200" cap="none" spc="0" normalizeH="0" baseline="0" noProof="0" dirty="0">
              <a:ln>
                <a:noFill/>
              </a:ln>
              <a:solidFill>
                <a:srgbClr val="C00000"/>
              </a:solidFill>
              <a:effectLst/>
              <a:uLnTx/>
              <a:uFillTx/>
              <a:latin typeface="等线" panose="02010600030101010101" pitchFamily="2" charset="-122"/>
              <a:ea typeface="等线" panose="02010600030101010101" pitchFamily="2" charset="-122"/>
              <a:cs typeface="+mn-cs"/>
            </a:endParaRPr>
          </a:p>
        </p:txBody>
      </p:sp>
      <p:grpSp>
        <p:nvGrpSpPr>
          <p:cNvPr id="24" name="组合 23">
            <a:extLst>
              <a:ext uri="{FF2B5EF4-FFF2-40B4-BE49-F238E27FC236}">
                <a16:creationId xmlns:a16="http://schemas.microsoft.com/office/drawing/2014/main" id="{DDE0011C-CD0E-91C8-AD1F-E15327A4A45C}"/>
              </a:ext>
            </a:extLst>
          </p:cNvPr>
          <p:cNvGrpSpPr/>
          <p:nvPr/>
        </p:nvGrpSpPr>
        <p:grpSpPr>
          <a:xfrm>
            <a:off x="5248543" y="642621"/>
            <a:ext cx="1273629" cy="544286"/>
            <a:chOff x="5034642" y="1306286"/>
            <a:chExt cx="1273629" cy="544286"/>
          </a:xfrm>
        </p:grpSpPr>
        <p:sp>
          <p:nvSpPr>
            <p:cNvPr id="6" name="箭头: V 形 5">
              <a:extLst>
                <a:ext uri="{FF2B5EF4-FFF2-40B4-BE49-F238E27FC236}">
                  <a16:creationId xmlns:a16="http://schemas.microsoft.com/office/drawing/2014/main" id="{D5C287F0-19A9-43B2-7251-B75212F47896}"/>
                </a:ext>
              </a:extLst>
            </p:cNvPr>
            <p:cNvSpPr/>
            <p:nvPr/>
          </p:nvSpPr>
          <p:spPr>
            <a:xfrm>
              <a:off x="5034642"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 name="箭头: V 形 6">
              <a:extLst>
                <a:ext uri="{FF2B5EF4-FFF2-40B4-BE49-F238E27FC236}">
                  <a16:creationId xmlns:a16="http://schemas.microsoft.com/office/drawing/2014/main" id="{85217C5F-E31C-EBA6-18B1-2B0880F1C026}"/>
                </a:ext>
              </a:extLst>
            </p:cNvPr>
            <p:cNvSpPr/>
            <p:nvPr/>
          </p:nvSpPr>
          <p:spPr>
            <a:xfrm>
              <a:off x="5459185"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9" name="箭头: V 形 8">
              <a:extLst>
                <a:ext uri="{FF2B5EF4-FFF2-40B4-BE49-F238E27FC236}">
                  <a16:creationId xmlns:a16="http://schemas.microsoft.com/office/drawing/2014/main" id="{475D549D-41E8-0CC9-0B07-EBC3463E7933}"/>
                </a:ext>
              </a:extLst>
            </p:cNvPr>
            <p:cNvSpPr/>
            <p:nvPr/>
          </p:nvSpPr>
          <p:spPr>
            <a:xfrm>
              <a:off x="5883728" y="1306286"/>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5" name="组合 24">
            <a:extLst>
              <a:ext uri="{FF2B5EF4-FFF2-40B4-BE49-F238E27FC236}">
                <a16:creationId xmlns:a16="http://schemas.microsoft.com/office/drawing/2014/main" id="{B437C6D4-2C42-C52C-A4AF-482BC779390E}"/>
              </a:ext>
            </a:extLst>
          </p:cNvPr>
          <p:cNvGrpSpPr/>
          <p:nvPr/>
        </p:nvGrpSpPr>
        <p:grpSpPr>
          <a:xfrm>
            <a:off x="5249577" y="1711368"/>
            <a:ext cx="1273629" cy="544286"/>
            <a:chOff x="5034642" y="2242458"/>
            <a:chExt cx="1273629" cy="544286"/>
          </a:xfrm>
        </p:grpSpPr>
        <p:sp>
          <p:nvSpPr>
            <p:cNvPr id="12" name="箭头: V 形 11">
              <a:extLst>
                <a:ext uri="{FF2B5EF4-FFF2-40B4-BE49-F238E27FC236}">
                  <a16:creationId xmlns:a16="http://schemas.microsoft.com/office/drawing/2014/main" id="{7986C278-CAA7-EF49-785C-8F36E429FF54}"/>
                </a:ext>
              </a:extLst>
            </p:cNvPr>
            <p:cNvSpPr/>
            <p:nvPr/>
          </p:nvSpPr>
          <p:spPr>
            <a:xfrm>
              <a:off x="5034642"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3" name="箭头: V 形 12">
              <a:extLst>
                <a:ext uri="{FF2B5EF4-FFF2-40B4-BE49-F238E27FC236}">
                  <a16:creationId xmlns:a16="http://schemas.microsoft.com/office/drawing/2014/main" id="{34748C21-4411-029F-C30F-A488F0ADA2A0}"/>
                </a:ext>
              </a:extLst>
            </p:cNvPr>
            <p:cNvSpPr/>
            <p:nvPr/>
          </p:nvSpPr>
          <p:spPr>
            <a:xfrm>
              <a:off x="5459185"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4" name="箭头: V 形 13">
              <a:extLst>
                <a:ext uri="{FF2B5EF4-FFF2-40B4-BE49-F238E27FC236}">
                  <a16:creationId xmlns:a16="http://schemas.microsoft.com/office/drawing/2014/main" id="{82493914-86E7-9D69-282D-AAD648C415C0}"/>
                </a:ext>
              </a:extLst>
            </p:cNvPr>
            <p:cNvSpPr/>
            <p:nvPr/>
          </p:nvSpPr>
          <p:spPr>
            <a:xfrm>
              <a:off x="5883728" y="2242458"/>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8" name="组合 27">
            <a:extLst>
              <a:ext uri="{FF2B5EF4-FFF2-40B4-BE49-F238E27FC236}">
                <a16:creationId xmlns:a16="http://schemas.microsoft.com/office/drawing/2014/main" id="{346D79D6-D140-B08E-DCA1-5A8F64BF1D6D}"/>
              </a:ext>
            </a:extLst>
          </p:cNvPr>
          <p:cNvGrpSpPr/>
          <p:nvPr/>
        </p:nvGrpSpPr>
        <p:grpSpPr>
          <a:xfrm>
            <a:off x="5248543" y="2853455"/>
            <a:ext cx="1273629" cy="544286"/>
            <a:chOff x="5034642" y="3178630"/>
            <a:chExt cx="1273629" cy="544286"/>
          </a:xfrm>
        </p:grpSpPr>
        <p:sp>
          <p:nvSpPr>
            <p:cNvPr id="15" name="箭头: V 形 14">
              <a:extLst>
                <a:ext uri="{FF2B5EF4-FFF2-40B4-BE49-F238E27FC236}">
                  <a16:creationId xmlns:a16="http://schemas.microsoft.com/office/drawing/2014/main" id="{5CFC0813-6BFE-3D5B-0C32-849C4AF500FC}"/>
                </a:ext>
              </a:extLst>
            </p:cNvPr>
            <p:cNvSpPr/>
            <p:nvPr/>
          </p:nvSpPr>
          <p:spPr>
            <a:xfrm>
              <a:off x="5034642"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 name="箭头: V 形 15">
              <a:extLst>
                <a:ext uri="{FF2B5EF4-FFF2-40B4-BE49-F238E27FC236}">
                  <a16:creationId xmlns:a16="http://schemas.microsoft.com/office/drawing/2014/main" id="{22EBA53E-DF74-A9CD-1B5D-C8165ED808C2}"/>
                </a:ext>
              </a:extLst>
            </p:cNvPr>
            <p:cNvSpPr/>
            <p:nvPr/>
          </p:nvSpPr>
          <p:spPr>
            <a:xfrm>
              <a:off x="5459185"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7" name="箭头: V 形 16">
              <a:extLst>
                <a:ext uri="{FF2B5EF4-FFF2-40B4-BE49-F238E27FC236}">
                  <a16:creationId xmlns:a16="http://schemas.microsoft.com/office/drawing/2014/main" id="{7BE42E5E-B07A-FB01-EF16-F52AE1067D9E}"/>
                </a:ext>
              </a:extLst>
            </p:cNvPr>
            <p:cNvSpPr/>
            <p:nvPr/>
          </p:nvSpPr>
          <p:spPr>
            <a:xfrm>
              <a:off x="5883728" y="3178630"/>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29" name="组合 28">
            <a:extLst>
              <a:ext uri="{FF2B5EF4-FFF2-40B4-BE49-F238E27FC236}">
                <a16:creationId xmlns:a16="http://schemas.microsoft.com/office/drawing/2014/main" id="{C4C9C1BD-3431-4535-849F-45F9241AC5AE}"/>
              </a:ext>
            </a:extLst>
          </p:cNvPr>
          <p:cNvGrpSpPr/>
          <p:nvPr/>
        </p:nvGrpSpPr>
        <p:grpSpPr>
          <a:xfrm>
            <a:off x="5248543" y="4054268"/>
            <a:ext cx="1273629" cy="544286"/>
            <a:chOff x="5034642" y="4114802"/>
            <a:chExt cx="1273629" cy="544286"/>
          </a:xfrm>
        </p:grpSpPr>
        <p:sp>
          <p:nvSpPr>
            <p:cNvPr id="18" name="箭头: V 形 17">
              <a:extLst>
                <a:ext uri="{FF2B5EF4-FFF2-40B4-BE49-F238E27FC236}">
                  <a16:creationId xmlns:a16="http://schemas.microsoft.com/office/drawing/2014/main" id="{8FD1B48D-BA54-6F1A-3B48-303AC3F60AC1}"/>
                </a:ext>
              </a:extLst>
            </p:cNvPr>
            <p:cNvSpPr/>
            <p:nvPr/>
          </p:nvSpPr>
          <p:spPr>
            <a:xfrm>
              <a:off x="5034642"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 name="箭头: V 形 18">
              <a:extLst>
                <a:ext uri="{FF2B5EF4-FFF2-40B4-BE49-F238E27FC236}">
                  <a16:creationId xmlns:a16="http://schemas.microsoft.com/office/drawing/2014/main" id="{EEA0DD5C-1C28-2961-AE46-3C58DCD3A2EC}"/>
                </a:ext>
              </a:extLst>
            </p:cNvPr>
            <p:cNvSpPr/>
            <p:nvPr/>
          </p:nvSpPr>
          <p:spPr>
            <a:xfrm>
              <a:off x="5459185"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0" name="箭头: V 形 19">
              <a:extLst>
                <a:ext uri="{FF2B5EF4-FFF2-40B4-BE49-F238E27FC236}">
                  <a16:creationId xmlns:a16="http://schemas.microsoft.com/office/drawing/2014/main" id="{0F72115B-5694-9D5C-752C-D50F3270A27B}"/>
                </a:ext>
              </a:extLst>
            </p:cNvPr>
            <p:cNvSpPr/>
            <p:nvPr/>
          </p:nvSpPr>
          <p:spPr>
            <a:xfrm>
              <a:off x="5883728" y="4114802"/>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30" name="组合 29">
            <a:extLst>
              <a:ext uri="{FF2B5EF4-FFF2-40B4-BE49-F238E27FC236}">
                <a16:creationId xmlns:a16="http://schemas.microsoft.com/office/drawing/2014/main" id="{C3403F2F-5755-1077-EC08-DD62BDCBB253}"/>
              </a:ext>
            </a:extLst>
          </p:cNvPr>
          <p:cNvGrpSpPr/>
          <p:nvPr/>
        </p:nvGrpSpPr>
        <p:grpSpPr>
          <a:xfrm>
            <a:off x="5248542" y="5155423"/>
            <a:ext cx="1273629" cy="544286"/>
            <a:chOff x="5034642" y="5050974"/>
            <a:chExt cx="1273629" cy="544286"/>
          </a:xfrm>
        </p:grpSpPr>
        <p:sp>
          <p:nvSpPr>
            <p:cNvPr id="21" name="箭头: V 形 20">
              <a:extLst>
                <a:ext uri="{FF2B5EF4-FFF2-40B4-BE49-F238E27FC236}">
                  <a16:creationId xmlns:a16="http://schemas.microsoft.com/office/drawing/2014/main" id="{A51F6511-5CF0-D8C4-7209-4C8FC2510760}"/>
                </a:ext>
              </a:extLst>
            </p:cNvPr>
            <p:cNvSpPr/>
            <p:nvPr/>
          </p:nvSpPr>
          <p:spPr>
            <a:xfrm>
              <a:off x="5034642"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 name="箭头: V 形 21">
              <a:extLst>
                <a:ext uri="{FF2B5EF4-FFF2-40B4-BE49-F238E27FC236}">
                  <a16:creationId xmlns:a16="http://schemas.microsoft.com/office/drawing/2014/main" id="{5E8F899E-8425-77D5-93AF-BF2A7970204D}"/>
                </a:ext>
              </a:extLst>
            </p:cNvPr>
            <p:cNvSpPr/>
            <p:nvPr/>
          </p:nvSpPr>
          <p:spPr>
            <a:xfrm>
              <a:off x="5459185"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3" name="箭头: V 形 22">
              <a:extLst>
                <a:ext uri="{FF2B5EF4-FFF2-40B4-BE49-F238E27FC236}">
                  <a16:creationId xmlns:a16="http://schemas.microsoft.com/office/drawing/2014/main" id="{B04CD23F-52E0-4C68-7D23-B4CBEFF894DA}"/>
                </a:ext>
              </a:extLst>
            </p:cNvPr>
            <p:cNvSpPr/>
            <p:nvPr/>
          </p:nvSpPr>
          <p:spPr>
            <a:xfrm>
              <a:off x="5883728" y="5050974"/>
              <a:ext cx="424543" cy="54428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37" name="组合 36">
            <a:extLst>
              <a:ext uri="{FF2B5EF4-FFF2-40B4-BE49-F238E27FC236}">
                <a16:creationId xmlns:a16="http://schemas.microsoft.com/office/drawing/2014/main" id="{CDD5E0C3-051C-8D94-0D9B-D4EFC044E9FA}"/>
              </a:ext>
            </a:extLst>
          </p:cNvPr>
          <p:cNvGrpSpPr/>
          <p:nvPr/>
        </p:nvGrpSpPr>
        <p:grpSpPr>
          <a:xfrm>
            <a:off x="8060260" y="508321"/>
            <a:ext cx="2719668" cy="707886"/>
            <a:chOff x="7790950" y="577644"/>
            <a:chExt cx="2719668" cy="707886"/>
          </a:xfrm>
        </p:grpSpPr>
        <p:sp>
          <p:nvSpPr>
            <p:cNvPr id="31" name="文本框 30">
              <a:extLst>
                <a:ext uri="{FF2B5EF4-FFF2-40B4-BE49-F238E27FC236}">
                  <a16:creationId xmlns:a16="http://schemas.microsoft.com/office/drawing/2014/main" id="{D63B7F05-691A-4856-317E-D6EF53E00E01}"/>
                </a:ext>
              </a:extLst>
            </p:cNvPr>
            <p:cNvSpPr txBox="1"/>
            <p:nvPr/>
          </p:nvSpPr>
          <p:spPr>
            <a:xfrm>
              <a:off x="7790950" y="577644"/>
              <a:ext cx="271278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PART01</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i="1" dirty="0">
                  <a:solidFill>
                    <a:prstClr val="black"/>
                  </a:solidFill>
                  <a:latin typeface="Segoe Print" panose="02000600000000000000" pitchFamily="2" charset="0"/>
                  <a:ea typeface="方正舒体" panose="02010601030101010101" pitchFamily="2" charset="-122"/>
                  <a:cs typeface="Calibri" panose="020F0502020204030204" pitchFamily="34" charset="0"/>
                </a:rPr>
                <a:t>现有市场</a:t>
              </a:r>
              <a:endPar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Calibri" panose="020F0502020204030204" pitchFamily="34" charset="0"/>
              </a:endParaRPr>
            </a:p>
          </p:txBody>
        </p:sp>
        <p:sp>
          <p:nvSpPr>
            <p:cNvPr id="32" name="文本框 31">
              <a:extLst>
                <a:ext uri="{FF2B5EF4-FFF2-40B4-BE49-F238E27FC236}">
                  <a16:creationId xmlns:a16="http://schemas.microsoft.com/office/drawing/2014/main" id="{55013854-710A-9FAC-E1C6-35D2D6A015D9}"/>
                </a:ext>
              </a:extLst>
            </p:cNvPr>
            <p:cNvSpPr txBox="1"/>
            <p:nvPr/>
          </p:nvSpPr>
          <p:spPr>
            <a:xfrm>
              <a:off x="7797833" y="577644"/>
              <a:ext cx="2712785"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endPar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endParaRPr>
            </a:p>
          </p:txBody>
        </p:sp>
      </p:grpSp>
      <p:sp>
        <p:nvSpPr>
          <p:cNvPr id="33" name="文本框 32">
            <a:extLst>
              <a:ext uri="{FF2B5EF4-FFF2-40B4-BE49-F238E27FC236}">
                <a16:creationId xmlns:a16="http://schemas.microsoft.com/office/drawing/2014/main" id="{CB2879FE-BF6C-E5E0-A48D-6E1A3F291652}"/>
              </a:ext>
            </a:extLst>
          </p:cNvPr>
          <p:cNvSpPr txBox="1"/>
          <p:nvPr/>
        </p:nvSpPr>
        <p:spPr>
          <a:xfrm>
            <a:off x="8067143" y="1674673"/>
            <a:ext cx="2712785"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PART02</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i="1" dirty="0">
                <a:solidFill>
                  <a:prstClr val="black"/>
                </a:solidFill>
                <a:latin typeface="Segoe Print" panose="02000600000000000000" pitchFamily="2" charset="0"/>
                <a:ea typeface="方正舒体" panose="02010601030101010101" pitchFamily="2" charset="-122"/>
              </a:rPr>
              <a:t>我们的创新点</a:t>
            </a:r>
            <a:endPar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endParaRPr>
          </a:p>
        </p:txBody>
      </p:sp>
      <p:sp>
        <p:nvSpPr>
          <p:cNvPr id="34" name="文本框 33">
            <a:extLst>
              <a:ext uri="{FF2B5EF4-FFF2-40B4-BE49-F238E27FC236}">
                <a16:creationId xmlns:a16="http://schemas.microsoft.com/office/drawing/2014/main" id="{6668AFFE-9132-18B8-51D1-75BDF19B573A}"/>
              </a:ext>
            </a:extLst>
          </p:cNvPr>
          <p:cNvSpPr txBox="1"/>
          <p:nvPr/>
        </p:nvSpPr>
        <p:spPr>
          <a:xfrm>
            <a:off x="8041847" y="2841025"/>
            <a:ext cx="2775074"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PART03</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i="1" dirty="0">
                <a:solidFill>
                  <a:prstClr val="black"/>
                </a:solidFill>
                <a:latin typeface="Segoe Print" panose="02000600000000000000" pitchFamily="2" charset="0"/>
                <a:ea typeface="华文行楷" panose="02010800040101010101" pitchFamily="2" charset="-122"/>
              </a:rPr>
              <a:t>商业化可行性</a:t>
            </a:r>
            <a:endParaRPr kumimoji="0" lang="en-US" altLang="zh-CN" sz="2000" b="0" i="1" u="none" strike="noStrike" kern="1200" cap="none" spc="0" normalizeH="0" baseline="0" noProof="0" dirty="0">
              <a:ln>
                <a:noFill/>
              </a:ln>
              <a:solidFill>
                <a:prstClr val="black"/>
              </a:solidFill>
              <a:effectLst/>
              <a:uLnTx/>
              <a:uFillTx/>
              <a:latin typeface="Segoe Print" panose="02000600000000000000" pitchFamily="2" charset="0"/>
              <a:ea typeface="华文行楷" panose="02010800040101010101" pitchFamily="2" charset="-122"/>
              <a:cs typeface="+mn-cs"/>
            </a:endParaRPr>
          </a:p>
        </p:txBody>
      </p:sp>
      <p:sp>
        <p:nvSpPr>
          <p:cNvPr id="35" name="文本框 34">
            <a:extLst>
              <a:ext uri="{FF2B5EF4-FFF2-40B4-BE49-F238E27FC236}">
                <a16:creationId xmlns:a16="http://schemas.microsoft.com/office/drawing/2014/main" id="{1D3518A7-A1EB-33AB-B5EE-90930935A020}"/>
              </a:ext>
            </a:extLst>
          </p:cNvPr>
          <p:cNvSpPr txBox="1"/>
          <p:nvPr/>
        </p:nvSpPr>
        <p:spPr>
          <a:xfrm>
            <a:off x="8194481" y="4005765"/>
            <a:ext cx="254370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PART04</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i="1" dirty="0">
                <a:solidFill>
                  <a:prstClr val="black"/>
                </a:solidFill>
                <a:latin typeface="Segoe Print" panose="02000600000000000000" pitchFamily="2" charset="0"/>
                <a:ea typeface="方正舒体" panose="02010601030101010101" pitchFamily="2" charset="-122"/>
              </a:rPr>
              <a:t>现状</a:t>
            </a:r>
            <a:endPar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endParaRPr>
          </a:p>
        </p:txBody>
      </p:sp>
      <p:sp>
        <p:nvSpPr>
          <p:cNvPr id="36" name="文本框 35">
            <a:extLst>
              <a:ext uri="{FF2B5EF4-FFF2-40B4-BE49-F238E27FC236}">
                <a16:creationId xmlns:a16="http://schemas.microsoft.com/office/drawing/2014/main" id="{C313544E-1602-E238-3BB3-49A846A8B0DC}"/>
              </a:ext>
            </a:extLst>
          </p:cNvPr>
          <p:cNvSpPr txBox="1"/>
          <p:nvPr/>
        </p:nvSpPr>
        <p:spPr>
          <a:xfrm>
            <a:off x="8194481" y="5146632"/>
            <a:ext cx="254370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prstClr val="black"/>
                </a:solidFill>
                <a:effectLst/>
                <a:uLnTx/>
                <a:uFillTx/>
                <a:latin typeface="华文行楷" panose="02010800040101010101" pitchFamily="2" charset="-122"/>
                <a:ea typeface="华文行楷" panose="02010800040101010101" pitchFamily="2" charset="-122"/>
                <a:cs typeface="+mn-cs"/>
              </a:rPr>
              <a:t>PART05</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i="1" dirty="0">
                <a:solidFill>
                  <a:prstClr val="black"/>
                </a:solidFill>
                <a:latin typeface="Segoe Print" panose="02000600000000000000" pitchFamily="2" charset="0"/>
                <a:ea typeface="方正舒体" panose="02010601030101010101" pitchFamily="2" charset="-122"/>
              </a:rPr>
              <a:t>代码展示</a:t>
            </a:r>
            <a:endParaRPr kumimoji="0" lang="zh-CN" altLang="en-US" sz="2000" b="0" i="1" u="none" strike="noStrike" kern="1200" cap="none" spc="0" normalizeH="0" baseline="0" noProof="0" dirty="0">
              <a:ln>
                <a:noFill/>
              </a:ln>
              <a:solidFill>
                <a:prstClr val="black"/>
              </a:solidFill>
              <a:effectLst/>
              <a:uLnTx/>
              <a:uFillTx/>
              <a:latin typeface="Segoe Print" panose="02000600000000000000" pitchFamily="2" charset="0"/>
              <a:ea typeface="方正舒体" panose="02010601030101010101" pitchFamily="2" charset="-122"/>
              <a:cs typeface="+mn-cs"/>
            </a:endParaRPr>
          </a:p>
        </p:txBody>
      </p:sp>
    </p:spTree>
    <p:extLst>
      <p:ext uri="{BB962C8B-B14F-4D97-AF65-F5344CB8AC3E}">
        <p14:creationId xmlns:p14="http://schemas.microsoft.com/office/powerpoint/2010/main" val="34719363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F32A1486-108D-3EDA-BA38-6D240E13FB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2"/>
            <a:ext cx="6096000" cy="6858001"/>
          </a:xfrm>
          <a:prstGeom prst="rect">
            <a:avLst/>
          </a:prstGeom>
        </p:spPr>
      </p:pic>
      <p:pic>
        <p:nvPicPr>
          <p:cNvPr id="11" name="图片 10">
            <a:extLst>
              <a:ext uri="{FF2B5EF4-FFF2-40B4-BE49-F238E27FC236}">
                <a16:creationId xmlns:a16="http://schemas.microsoft.com/office/drawing/2014/main" id="{9463B084-0239-6957-E6D5-1643AE5BE1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6096000" cy="6861661"/>
          </a:xfrm>
          <a:prstGeom prst="rect">
            <a:avLst/>
          </a:prstGeom>
        </p:spPr>
      </p:pic>
    </p:spTree>
    <p:extLst>
      <p:ext uri="{BB962C8B-B14F-4D97-AF65-F5344CB8AC3E}">
        <p14:creationId xmlns:p14="http://schemas.microsoft.com/office/powerpoint/2010/main" val="39847894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6953AE4F-127A-3F06-653A-F50A4AD037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5999" y="-1"/>
            <a:ext cx="6095999" cy="6857999"/>
          </a:xfrm>
          <a:prstGeom prst="rect">
            <a:avLst/>
          </a:prstGeom>
        </p:spPr>
      </p:pic>
      <p:pic>
        <p:nvPicPr>
          <p:cNvPr id="7" name="图片 6">
            <a:extLst>
              <a:ext uri="{FF2B5EF4-FFF2-40B4-BE49-F238E27FC236}">
                <a16:creationId xmlns:a16="http://schemas.microsoft.com/office/drawing/2014/main" id="{9815CA33-7060-FBDB-5627-16361238A3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6096000" cy="6858000"/>
          </a:xfrm>
          <a:prstGeom prst="rect">
            <a:avLst/>
          </a:prstGeom>
        </p:spPr>
      </p:pic>
    </p:spTree>
    <p:extLst>
      <p:ext uri="{BB962C8B-B14F-4D97-AF65-F5344CB8AC3E}">
        <p14:creationId xmlns:p14="http://schemas.microsoft.com/office/powerpoint/2010/main" val="23961677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E7927E42-6D84-2E61-1C6A-2C5C26FCDCCF}"/>
              </a:ext>
            </a:extLst>
          </p:cNvPr>
          <p:cNvSpPr txBox="1"/>
          <p:nvPr/>
        </p:nvSpPr>
        <p:spPr>
          <a:xfrm>
            <a:off x="0" y="96616"/>
            <a:ext cx="6094520" cy="4524315"/>
          </a:xfrm>
          <a:prstGeom prst="rect">
            <a:avLst/>
          </a:prstGeom>
          <a:noFill/>
        </p:spPr>
        <p:txBody>
          <a:bodyPr wrap="square">
            <a:spAutoFit/>
          </a:bodyPr>
          <a:lstStyle/>
          <a:p>
            <a:r>
              <a:rPr lang="zh-CN" altLang="en-US" sz="1600" dirty="0"/>
              <a:t>◦长期偏好建模：</a:t>
            </a:r>
          </a:p>
          <a:p>
            <a:r>
              <a:rPr lang="en-US" altLang="zh-CN" sz="1600" dirty="0"/>
              <a:t>•</a:t>
            </a:r>
            <a:r>
              <a:rPr lang="zh-CN" altLang="en-US" sz="1600" dirty="0"/>
              <a:t>时间滑动窗（</a:t>
            </a:r>
            <a:r>
              <a:rPr lang="en-US" altLang="zh-CN" sz="1600" dirty="0"/>
              <a:t>Sliding </a:t>
            </a:r>
          </a:p>
          <a:p>
            <a:r>
              <a:rPr lang="en-US" altLang="zh-CN" sz="1600" dirty="0"/>
              <a:t>Window</a:t>
            </a:r>
            <a:r>
              <a:rPr lang="zh-CN" altLang="en-US" sz="1600" dirty="0"/>
              <a:t>）：存储用户</a:t>
            </a:r>
            <a:r>
              <a:rPr lang="en-US" altLang="zh-CN" sz="1600" dirty="0"/>
              <a:t>30</a:t>
            </a:r>
            <a:r>
              <a:rPr lang="zh-CN" altLang="en-US" sz="1600" dirty="0"/>
              <a:t>天饮食数据，通过</a:t>
            </a:r>
            <a:r>
              <a:rPr lang="en-US" altLang="zh-CN" sz="1600" dirty="0"/>
              <a:t>TF-IDF</a:t>
            </a:r>
            <a:r>
              <a:rPr lang="zh-CN" altLang="en-US" sz="1600" dirty="0"/>
              <a:t>加权提取高频食材（如用户每周</a:t>
            </a:r>
            <a:r>
              <a:rPr lang="en-US" altLang="zh-CN" sz="1600" dirty="0"/>
              <a:t>3</a:t>
            </a:r>
            <a:r>
              <a:rPr lang="zh-CN" altLang="en-US" sz="1600" dirty="0"/>
              <a:t>次选择“杂粮</a:t>
            </a:r>
          </a:p>
          <a:p>
            <a:r>
              <a:rPr lang="zh-CN" altLang="en-US" sz="1600" dirty="0"/>
              <a:t>煎饼”）、口味偏好（麻辣</a:t>
            </a:r>
            <a:r>
              <a:rPr lang="en-US" altLang="zh-CN" sz="1600" dirty="0"/>
              <a:t>/</a:t>
            </a:r>
            <a:r>
              <a:rPr lang="zh-CN" altLang="en-US" sz="1600" dirty="0"/>
              <a:t>清淡倾向），结合</a:t>
            </a:r>
            <a:r>
              <a:rPr lang="en-US" altLang="zh-CN" sz="1600" dirty="0"/>
              <a:t>《</a:t>
            </a:r>
            <a:r>
              <a:rPr lang="zh-CN" altLang="en-US" sz="1600" dirty="0"/>
              <a:t>营养学原理</a:t>
            </a:r>
            <a:r>
              <a:rPr lang="en-US" altLang="zh-CN" sz="1600" dirty="0"/>
              <a:t>》</a:t>
            </a:r>
            <a:r>
              <a:rPr lang="zh-CN" altLang="en-US" sz="1600" dirty="0"/>
              <a:t>的基因多态性数据（如</a:t>
            </a:r>
            <a:r>
              <a:rPr lang="en-US" altLang="zh-CN" sz="1600" dirty="0"/>
              <a:t>MTHFR</a:t>
            </a:r>
            <a:r>
              <a:rPr lang="zh-CN" altLang="en-US" sz="1600" dirty="0"/>
              <a:t>基因</a:t>
            </a:r>
          </a:p>
          <a:p>
            <a:r>
              <a:rPr lang="zh-CN" altLang="en-US" sz="1600" dirty="0"/>
              <a:t>对应叶酸需求），构建用户个性化特征向量（维度：饮食行为</a:t>
            </a:r>
            <a:r>
              <a:rPr lang="en-US" altLang="zh-CN" sz="1600" dirty="0"/>
              <a:t>+</a:t>
            </a:r>
            <a:r>
              <a:rPr lang="zh-CN" altLang="en-US" sz="1600" dirty="0"/>
              <a:t>生理指标</a:t>
            </a:r>
            <a:r>
              <a:rPr lang="en-US" altLang="zh-CN" sz="1600" dirty="0"/>
              <a:t>+</a:t>
            </a:r>
            <a:r>
              <a:rPr lang="zh-CN" altLang="en-US" sz="1600" dirty="0"/>
              <a:t>基因倾向）。</a:t>
            </a:r>
          </a:p>
          <a:p>
            <a:r>
              <a:rPr lang="zh-CN" altLang="en-US" sz="1600" dirty="0"/>
              <a:t>◦跨模态特征融合：</a:t>
            </a:r>
          </a:p>
          <a:p>
            <a:r>
              <a:rPr lang="en-US" altLang="zh-CN" sz="1600" dirty="0"/>
              <a:t>•</a:t>
            </a:r>
            <a:r>
              <a:rPr lang="zh-CN" altLang="en-US" sz="1600" dirty="0"/>
              <a:t>将用户向量与</a:t>
            </a:r>
            <a:r>
              <a:rPr lang="en-US" altLang="zh-CN" sz="1600" dirty="0"/>
              <a:t>《</a:t>
            </a:r>
            <a:r>
              <a:rPr lang="zh-CN" altLang="en-US" sz="1600" dirty="0"/>
              <a:t>个性化算法</a:t>
            </a:r>
            <a:r>
              <a:rPr lang="en-US" altLang="zh-CN" sz="1600" dirty="0"/>
              <a:t>》</a:t>
            </a:r>
            <a:r>
              <a:rPr lang="zh-CN" altLang="en-US" sz="1600" dirty="0"/>
              <a:t>的菜品语义特征（</a:t>
            </a:r>
            <a:r>
              <a:rPr lang="en-US" altLang="zh-CN" sz="1600" dirty="0"/>
              <a:t>Word2Vec</a:t>
            </a:r>
            <a:r>
              <a:rPr lang="zh-CN" altLang="en-US" sz="1600" dirty="0"/>
              <a:t>解析菜名，如“鱼香肉丝”关联“酸甜</a:t>
            </a:r>
          </a:p>
          <a:p>
            <a:r>
              <a:rPr lang="zh-CN" altLang="en-US" sz="1600" dirty="0"/>
              <a:t>”“猪肉”标签）、</a:t>
            </a:r>
            <a:r>
              <a:rPr lang="en-US" altLang="zh-CN" sz="1600" dirty="0"/>
              <a:t>《</a:t>
            </a:r>
            <a:r>
              <a:rPr lang="zh-CN" altLang="en-US" sz="1600" dirty="0"/>
              <a:t>饮食模式决策树</a:t>
            </a:r>
            <a:r>
              <a:rPr lang="en-US" altLang="zh-CN" sz="1600" dirty="0"/>
              <a:t>》</a:t>
            </a:r>
            <a:r>
              <a:rPr lang="zh-CN" altLang="en-US" sz="1600" dirty="0"/>
              <a:t>的场景标签（“运动后恢复”“食堂为主”）进行特征</a:t>
            </a:r>
          </a:p>
          <a:p>
            <a:r>
              <a:rPr lang="zh-CN" altLang="en-US" sz="1600" dirty="0"/>
              <a:t>级联（</a:t>
            </a:r>
            <a:r>
              <a:rPr lang="en-US" altLang="zh-CN" sz="1600" dirty="0"/>
              <a:t>Feature Concatenation</a:t>
            </a:r>
            <a:r>
              <a:rPr lang="zh-CN" altLang="en-US" sz="1600" dirty="0"/>
              <a:t>），形成四维特征矩阵（用户</a:t>
            </a:r>
            <a:r>
              <a:rPr lang="en-US" altLang="zh-CN" sz="1600" dirty="0"/>
              <a:t>-</a:t>
            </a:r>
            <a:r>
              <a:rPr lang="zh-CN" altLang="en-US" sz="1600" dirty="0"/>
              <a:t>菜品</a:t>
            </a:r>
            <a:r>
              <a:rPr lang="en-US" altLang="zh-CN" sz="1600" dirty="0"/>
              <a:t>-</a:t>
            </a:r>
            <a:r>
              <a:rPr lang="zh-CN" altLang="en-US" sz="1600" dirty="0"/>
              <a:t>场景</a:t>
            </a:r>
            <a:r>
              <a:rPr lang="en-US" altLang="zh-CN" sz="1600" dirty="0"/>
              <a:t>-</a:t>
            </a:r>
            <a:r>
              <a:rPr lang="zh-CN" altLang="en-US" sz="1600" dirty="0"/>
              <a:t>生理指标）。</a:t>
            </a:r>
          </a:p>
          <a:p>
            <a:r>
              <a:rPr lang="zh-CN" altLang="en-US" sz="1600" dirty="0"/>
              <a:t>◦动态记忆更新：实时捕捉用户新行为（如连续拒绝油炸食品），触发</a:t>
            </a:r>
            <a:r>
              <a:rPr lang="en-US" altLang="zh-CN" sz="1600" dirty="0"/>
              <a:t>《</a:t>
            </a:r>
            <a:r>
              <a:rPr lang="zh-CN" altLang="en-US" sz="1600" dirty="0"/>
              <a:t>个性化算法</a:t>
            </a:r>
            <a:r>
              <a:rPr lang="en-US" altLang="zh-CN" sz="1600" dirty="0"/>
              <a:t>》</a:t>
            </a:r>
            <a:r>
              <a:rPr lang="zh-CN" altLang="en-US" sz="1600" dirty="0"/>
              <a:t>的特征偏移技术</a:t>
            </a:r>
          </a:p>
          <a:p>
            <a:r>
              <a:rPr lang="zh-CN" altLang="en-US" sz="1600" dirty="0"/>
              <a:t>（对应菜品向量在特征空间偏移</a:t>
            </a:r>
            <a:r>
              <a:rPr lang="en-US" altLang="zh-CN" sz="1600" dirty="0"/>
              <a:t>30%</a:t>
            </a:r>
            <a:r>
              <a:rPr lang="zh-CN" altLang="en-US" sz="1600" dirty="0"/>
              <a:t>），强化用户近期偏好记忆。</a:t>
            </a:r>
          </a:p>
        </p:txBody>
      </p:sp>
      <p:sp>
        <p:nvSpPr>
          <p:cNvPr id="11" name="文本框 10">
            <a:extLst>
              <a:ext uri="{FF2B5EF4-FFF2-40B4-BE49-F238E27FC236}">
                <a16:creationId xmlns:a16="http://schemas.microsoft.com/office/drawing/2014/main" id="{AF0DC2CE-B028-D6C1-97EC-DA567BD968EE}"/>
              </a:ext>
            </a:extLst>
          </p:cNvPr>
          <p:cNvSpPr txBox="1"/>
          <p:nvPr/>
        </p:nvSpPr>
        <p:spPr>
          <a:xfrm>
            <a:off x="6094520" y="96616"/>
            <a:ext cx="6094520" cy="5509200"/>
          </a:xfrm>
          <a:prstGeom prst="rect">
            <a:avLst/>
          </a:prstGeom>
          <a:noFill/>
        </p:spPr>
        <p:txBody>
          <a:bodyPr wrap="square">
            <a:spAutoFit/>
          </a:bodyPr>
          <a:lstStyle/>
          <a:p>
            <a:r>
              <a:rPr lang="zh-CN" altLang="en-US" sz="1600" dirty="0"/>
              <a:t>◦营养均衡优化：</a:t>
            </a:r>
          </a:p>
          <a:p>
            <a:r>
              <a:rPr lang="en-US" altLang="zh-CN" sz="1600" dirty="0"/>
              <a:t>•</a:t>
            </a:r>
            <a:r>
              <a:rPr lang="zh-CN" altLang="en-US" sz="1600" dirty="0"/>
              <a:t>引入</a:t>
            </a:r>
            <a:r>
              <a:rPr lang="en-US" altLang="zh-CN" sz="1600" dirty="0"/>
              <a:t>《</a:t>
            </a:r>
            <a:r>
              <a:rPr lang="zh-CN" altLang="en-US" sz="1600" dirty="0"/>
              <a:t>个性化算法</a:t>
            </a:r>
            <a:r>
              <a:rPr lang="en-US" altLang="zh-CN" sz="1600" dirty="0"/>
              <a:t>》</a:t>
            </a:r>
            <a:r>
              <a:rPr lang="zh-CN" altLang="en-US" sz="1600" dirty="0"/>
              <a:t>的多目标优化函数，平衡三方目标：</a:t>
            </a:r>
            <a:r>
              <a:rPr lang="en-US" altLang="zh-CN" sz="1600" dirty="0"/>
              <a:t>[</a:t>
            </a:r>
          </a:p>
          <a:p>
            <a:r>
              <a:rPr lang="en-US" altLang="zh-CN" sz="1600" dirty="0"/>
              <a:t> \text{Maximize}(0.7 \times S + 0.2 \times N + 0.1 \times P)</a:t>
            </a:r>
          </a:p>
          <a:p>
            <a:r>
              <a:rPr lang="en-US" altLang="zh-CN" sz="1600" dirty="0"/>
              <a:t> ]</a:t>
            </a:r>
            <a:r>
              <a:rPr lang="zh-CN" altLang="en-US" sz="1600" dirty="0"/>
              <a:t>其中：</a:t>
            </a:r>
          </a:p>
          <a:p>
            <a:r>
              <a:rPr lang="zh-CN" altLang="en-US" sz="1600" dirty="0"/>
              <a:t>◦</a:t>
            </a:r>
            <a:r>
              <a:rPr lang="en-US" altLang="zh-CN" sz="1600" dirty="0"/>
              <a:t>( S )</a:t>
            </a:r>
            <a:r>
              <a:rPr lang="zh-CN" altLang="en-US" sz="1600" dirty="0"/>
              <a:t>：用户满意度（历史点击率、拒绝率）；</a:t>
            </a:r>
          </a:p>
          <a:p>
            <a:r>
              <a:rPr lang="zh-CN" altLang="en-US" sz="1600" dirty="0"/>
              <a:t>◦</a:t>
            </a:r>
            <a:r>
              <a:rPr lang="en-US" altLang="zh-CN" sz="1600" dirty="0"/>
              <a:t>( N )</a:t>
            </a:r>
            <a:r>
              <a:rPr lang="zh-CN" altLang="en-US" sz="1600" dirty="0"/>
              <a:t>：营养均衡度（基于</a:t>
            </a:r>
            <a:r>
              <a:rPr lang="en-US" altLang="zh-CN" sz="1600" dirty="0"/>
              <a:t>《</a:t>
            </a:r>
            <a:r>
              <a:rPr lang="zh-CN" altLang="en-US" sz="1600" dirty="0"/>
              <a:t>营养学原理</a:t>
            </a:r>
            <a:r>
              <a:rPr lang="en-US" altLang="zh-CN" sz="1600" dirty="0"/>
              <a:t>》</a:t>
            </a:r>
            <a:r>
              <a:rPr lang="zh-CN" altLang="en-US" sz="1600" dirty="0"/>
              <a:t>的宏微量营养素评估）；</a:t>
            </a:r>
          </a:p>
          <a:p>
            <a:r>
              <a:rPr lang="zh-CN" altLang="en-US" sz="1600" dirty="0"/>
              <a:t>◦</a:t>
            </a:r>
            <a:r>
              <a:rPr lang="en-US" altLang="zh-CN" sz="1600" dirty="0"/>
              <a:t>( P )</a:t>
            </a:r>
            <a:r>
              <a:rPr lang="zh-CN" altLang="en-US" sz="1600" dirty="0"/>
              <a:t>：食堂毛利率（结合</a:t>
            </a:r>
            <a:r>
              <a:rPr lang="en-US" altLang="zh-CN" sz="1600" dirty="0"/>
              <a:t>《Sheet_20250519.csv》</a:t>
            </a:r>
            <a:r>
              <a:rPr lang="zh-CN" altLang="en-US" sz="1600" dirty="0"/>
              <a:t>菜品价格）。</a:t>
            </a:r>
          </a:p>
          <a:p>
            <a:r>
              <a:rPr lang="en-US" altLang="zh-CN" sz="1600" dirty="0"/>
              <a:t>•</a:t>
            </a:r>
            <a:r>
              <a:rPr lang="zh-CN" altLang="en-US" sz="1600" dirty="0"/>
              <a:t>约束条件：过敏原绝对排除（如用户标注海鲜过敏则屏蔽“虾仁蔬菜粥”）、单窗口推荐重复率</a:t>
            </a:r>
            <a:r>
              <a:rPr lang="en-US" altLang="zh-CN" sz="1600" dirty="0"/>
              <a:t>&lt;</a:t>
            </a:r>
          </a:p>
          <a:p>
            <a:r>
              <a:rPr lang="en-US" altLang="zh-CN" sz="1600" dirty="0"/>
              <a:t>15%</a:t>
            </a:r>
            <a:r>
              <a:rPr lang="zh-CN" altLang="en-US" sz="1600" dirty="0"/>
              <a:t>。</a:t>
            </a:r>
          </a:p>
          <a:p>
            <a:r>
              <a:rPr lang="zh-CN" altLang="en-US" sz="1600" dirty="0"/>
              <a:t>◦个性化推荐技术栈：</a:t>
            </a:r>
          </a:p>
          <a:p>
            <a:r>
              <a:rPr lang="en-US" altLang="zh-CN" sz="1600" dirty="0"/>
              <a:t>•</a:t>
            </a:r>
            <a:r>
              <a:rPr lang="en-US" altLang="zh-CN" sz="1600" dirty="0" err="1"/>
              <a:t>Wide&amp;Deep</a:t>
            </a:r>
            <a:r>
              <a:rPr lang="zh-CN" altLang="en-US" sz="1600" dirty="0"/>
              <a:t>架构（参考阿里巴巴未来食堂案例）：</a:t>
            </a:r>
          </a:p>
          <a:p>
            <a:r>
              <a:rPr lang="zh-CN" altLang="en-US" sz="1600" dirty="0"/>
              <a:t>◦</a:t>
            </a:r>
            <a:r>
              <a:rPr lang="en-US" altLang="zh-CN" sz="1600" dirty="0"/>
              <a:t>Wide</a:t>
            </a:r>
            <a:r>
              <a:rPr lang="zh-CN" altLang="en-US" sz="1600" dirty="0"/>
              <a:t>部分：记忆高频有效组合（如“考试周</a:t>
            </a:r>
            <a:r>
              <a:rPr lang="en-US" altLang="zh-CN" sz="1600" dirty="0"/>
              <a:t>+</a:t>
            </a:r>
            <a:r>
              <a:rPr lang="zh-CN" altLang="en-US" sz="1600" dirty="0"/>
              <a:t>咖啡</a:t>
            </a:r>
            <a:r>
              <a:rPr lang="en-US" altLang="zh-CN" sz="1600" dirty="0"/>
              <a:t>+</a:t>
            </a:r>
            <a:r>
              <a:rPr lang="zh-CN" altLang="en-US" sz="1600" dirty="0"/>
              <a:t>三明治”应急套餐）；</a:t>
            </a:r>
          </a:p>
          <a:p>
            <a:r>
              <a:rPr lang="zh-CN" altLang="en-US" sz="1600" dirty="0"/>
              <a:t>◦</a:t>
            </a:r>
            <a:r>
              <a:rPr lang="en-US" altLang="zh-CN" sz="1600" dirty="0"/>
              <a:t>Deep</a:t>
            </a:r>
            <a:r>
              <a:rPr lang="zh-CN" altLang="en-US" sz="1600" dirty="0"/>
              <a:t>部分：通过</a:t>
            </a:r>
            <a:r>
              <a:rPr lang="en-US" altLang="zh-CN" sz="1600" dirty="0"/>
              <a:t>DNN</a:t>
            </a:r>
            <a:r>
              <a:rPr lang="zh-CN" altLang="en-US" sz="1600" dirty="0"/>
              <a:t>挖掘跨品类关联（如“沙拉→酸奶”的健康搭配逻辑），结合</a:t>
            </a:r>
            <a:r>
              <a:rPr lang="en-US" altLang="zh-CN" sz="1600" dirty="0"/>
              <a:t>《</a:t>
            </a:r>
            <a:r>
              <a:rPr lang="zh-CN" altLang="en-US" sz="1600" dirty="0"/>
              <a:t>营养学</a:t>
            </a:r>
          </a:p>
          <a:p>
            <a:r>
              <a:rPr lang="zh-CN" altLang="en-US" sz="1600" dirty="0"/>
              <a:t>原理</a:t>
            </a:r>
            <a:r>
              <a:rPr lang="en-US" altLang="zh-CN" sz="1600" dirty="0"/>
              <a:t>》</a:t>
            </a:r>
            <a:r>
              <a:rPr lang="zh-CN" altLang="en-US" sz="1600" dirty="0"/>
              <a:t>的</a:t>
            </a:r>
            <a:r>
              <a:rPr lang="en-US" altLang="zh-CN" sz="1600" dirty="0"/>
              <a:t>GL</a:t>
            </a:r>
            <a:r>
              <a:rPr lang="zh-CN" altLang="en-US" sz="1600" dirty="0"/>
              <a:t>模型预测血糖波动，自动替换高</a:t>
            </a:r>
            <a:r>
              <a:rPr lang="en-US" altLang="zh-CN" sz="1600" dirty="0"/>
              <a:t>GI</a:t>
            </a:r>
            <a:r>
              <a:rPr lang="zh-CN" altLang="en-US" sz="1600" dirty="0"/>
              <a:t>菜品（白米饭→紫薯玉米粥）。</a:t>
            </a:r>
          </a:p>
          <a:p>
            <a:r>
              <a:rPr lang="en-US" altLang="zh-CN" sz="1600" dirty="0"/>
              <a:t>•</a:t>
            </a:r>
            <a:r>
              <a:rPr lang="zh-CN" altLang="en-US" sz="1600" dirty="0"/>
              <a:t>目标驱动决策：嵌入</a:t>
            </a:r>
            <a:r>
              <a:rPr lang="en-US" altLang="zh-CN" sz="1600" dirty="0"/>
              <a:t>《</a:t>
            </a:r>
            <a:r>
              <a:rPr lang="zh-CN" altLang="en-US" sz="1600" dirty="0"/>
              <a:t>饮食模式决策树</a:t>
            </a:r>
            <a:r>
              <a:rPr lang="en-US" altLang="zh-CN" sz="1600" dirty="0"/>
              <a:t>》</a:t>
            </a:r>
            <a:r>
              <a:rPr lang="zh-CN" altLang="en-US" sz="1600" dirty="0"/>
              <a:t>规则（如</a:t>
            </a:r>
            <a:r>
              <a:rPr lang="en-US" altLang="zh-CN" sz="1600" dirty="0"/>
              <a:t>BMI≥28</a:t>
            </a:r>
            <a:r>
              <a:rPr lang="zh-CN" altLang="en-US" sz="1600" dirty="0"/>
              <a:t>触发“</a:t>
            </a:r>
            <a:r>
              <a:rPr lang="en-US" altLang="zh-CN" sz="1600" dirty="0"/>
              <a:t>2</a:t>
            </a:r>
            <a:r>
              <a:rPr lang="zh-CN" altLang="en-US" sz="1600" dirty="0"/>
              <a:t>型减脂型</a:t>
            </a:r>
            <a:r>
              <a:rPr lang="en-US" altLang="zh-CN" sz="1600" dirty="0"/>
              <a:t>+5</a:t>
            </a:r>
            <a:r>
              <a:rPr lang="zh-CN" altLang="en-US" sz="1600" dirty="0"/>
              <a:t>型低脂型”组合推</a:t>
            </a:r>
          </a:p>
          <a:p>
            <a:r>
              <a:rPr lang="zh-CN" altLang="en-US" sz="1600" dirty="0"/>
              <a:t>荐），处理目标冲突（增肌与减脂共存时，体脂率</a:t>
            </a:r>
            <a:r>
              <a:rPr lang="en-US" altLang="zh-CN" sz="1600" dirty="0"/>
              <a:t>&lt;18%</a:t>
            </a:r>
            <a:r>
              <a:rPr lang="zh-CN" altLang="en-US" sz="1600" dirty="0"/>
              <a:t>优先增肌，否则执行减脂分支</a:t>
            </a:r>
          </a:p>
        </p:txBody>
      </p:sp>
    </p:spTree>
    <p:extLst>
      <p:ext uri="{BB962C8B-B14F-4D97-AF65-F5344CB8AC3E}">
        <p14:creationId xmlns:p14="http://schemas.microsoft.com/office/powerpoint/2010/main" val="39684748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51D59B6-FB52-A640-45F3-C6ECBA5D1C39}"/>
              </a:ext>
            </a:extLst>
          </p:cNvPr>
          <p:cNvSpPr txBox="1"/>
          <p:nvPr/>
        </p:nvSpPr>
        <p:spPr>
          <a:xfrm>
            <a:off x="727969" y="896645"/>
            <a:ext cx="4332303" cy="646331"/>
          </a:xfrm>
          <a:prstGeom prst="rect">
            <a:avLst/>
          </a:prstGeom>
          <a:noFill/>
        </p:spPr>
        <p:txBody>
          <a:bodyPr wrap="square" rtlCol="0">
            <a:spAutoFit/>
          </a:bodyPr>
          <a:lstStyle/>
          <a:p>
            <a:r>
              <a:rPr lang="en-US" altLang="zh-CN" dirty="0">
                <a:hlinkClick r:id="rId2" action="ppaction://hlinkfile"/>
              </a:rPr>
              <a:t>C:\Users\96404\Desktop\23</a:t>
            </a:r>
            <a:r>
              <a:rPr lang="zh-CN" altLang="en-US" dirty="0">
                <a:hlinkClick r:id="rId2" action="ppaction://hlinkfile"/>
              </a:rPr>
              <a:t>种饮食模式及相应的菜品选择</a:t>
            </a:r>
            <a:r>
              <a:rPr lang="en-US" altLang="zh-CN" dirty="0">
                <a:hlinkClick r:id="rId2" action="ppaction://hlinkfile"/>
              </a:rPr>
              <a:t>(1).docx</a:t>
            </a:r>
            <a:endParaRPr lang="zh-CN" altLang="en-US" dirty="0"/>
          </a:p>
        </p:txBody>
      </p:sp>
      <p:sp>
        <p:nvSpPr>
          <p:cNvPr id="5" name="文本框 4">
            <a:hlinkClick r:id="rId3" action="ppaction://hlinkfile"/>
            <a:extLst>
              <a:ext uri="{FF2B5EF4-FFF2-40B4-BE49-F238E27FC236}">
                <a16:creationId xmlns:a16="http://schemas.microsoft.com/office/drawing/2014/main" id="{FDF1FF4A-ACED-43E5-AD47-5F6A6E98EE8C}"/>
              </a:ext>
            </a:extLst>
          </p:cNvPr>
          <p:cNvSpPr txBox="1"/>
          <p:nvPr/>
        </p:nvSpPr>
        <p:spPr>
          <a:xfrm>
            <a:off x="727969" y="2441359"/>
            <a:ext cx="4332303" cy="646331"/>
          </a:xfrm>
          <a:prstGeom prst="rect">
            <a:avLst/>
          </a:prstGeom>
          <a:noFill/>
        </p:spPr>
        <p:txBody>
          <a:bodyPr wrap="square" rtlCol="0">
            <a:spAutoFit/>
          </a:bodyPr>
          <a:lstStyle/>
          <a:p>
            <a:r>
              <a:rPr lang="en-US" altLang="zh-CN" dirty="0">
                <a:solidFill>
                  <a:schemeClr val="bg1"/>
                </a:solidFill>
                <a:hlinkClick r:id="rId3" action="ppaction://hlinkfile"/>
              </a:rPr>
              <a:t>C:\Users\96404\Desktop\</a:t>
            </a:r>
            <a:r>
              <a:rPr lang="zh-CN" altLang="en-US" dirty="0">
                <a:solidFill>
                  <a:schemeClr val="bg1"/>
                </a:solidFill>
                <a:hlinkClick r:id="rId3" action="ppaction://hlinkfile"/>
              </a:rPr>
              <a:t>南路食堂菜品</a:t>
            </a:r>
            <a:r>
              <a:rPr lang="en-US" altLang="zh-CN" dirty="0">
                <a:solidFill>
                  <a:schemeClr val="bg1"/>
                </a:solidFill>
                <a:hlinkClick r:id="rId3" action="ppaction://hlinkfile"/>
              </a:rPr>
              <a:t>(2).csv</a:t>
            </a:r>
            <a:endParaRPr lang="zh-CN" altLang="en-US" dirty="0">
              <a:solidFill>
                <a:schemeClr val="bg1"/>
              </a:solidFill>
            </a:endParaRPr>
          </a:p>
        </p:txBody>
      </p:sp>
      <p:sp>
        <p:nvSpPr>
          <p:cNvPr id="6" name="文本框 5">
            <a:extLst>
              <a:ext uri="{FF2B5EF4-FFF2-40B4-BE49-F238E27FC236}">
                <a16:creationId xmlns:a16="http://schemas.microsoft.com/office/drawing/2014/main" id="{3435CBC6-FF33-17E4-3998-D79328AEB192}"/>
              </a:ext>
            </a:extLst>
          </p:cNvPr>
          <p:cNvSpPr txBox="1"/>
          <p:nvPr/>
        </p:nvSpPr>
        <p:spPr>
          <a:xfrm>
            <a:off x="727969" y="4270159"/>
            <a:ext cx="4332304" cy="646331"/>
          </a:xfrm>
          <a:prstGeom prst="rect">
            <a:avLst/>
          </a:prstGeom>
          <a:noFill/>
        </p:spPr>
        <p:txBody>
          <a:bodyPr wrap="square" rtlCol="0">
            <a:spAutoFit/>
          </a:bodyPr>
          <a:lstStyle/>
          <a:p>
            <a:r>
              <a:rPr lang="en-US" altLang="zh-CN" dirty="0">
                <a:hlinkClick r:id="rId4" action="ppaction://hlinkfile"/>
              </a:rPr>
              <a:t>C:\Users\96404\Desktop\</a:t>
            </a:r>
            <a:r>
              <a:rPr lang="zh-CN" altLang="en-US" dirty="0">
                <a:hlinkClick r:id="rId4" action="ppaction://hlinkfile"/>
              </a:rPr>
              <a:t>食堂菜品按营养价值分类</a:t>
            </a:r>
            <a:r>
              <a:rPr lang="en-US" altLang="zh-CN" dirty="0">
                <a:hlinkClick r:id="rId4" action="ppaction://hlinkfile"/>
              </a:rPr>
              <a:t>(1).csv</a:t>
            </a:r>
            <a:endParaRPr lang="zh-CN" altLang="en-US" dirty="0"/>
          </a:p>
        </p:txBody>
      </p:sp>
    </p:spTree>
    <p:extLst>
      <p:ext uri="{BB962C8B-B14F-4D97-AF65-F5344CB8AC3E}">
        <p14:creationId xmlns:p14="http://schemas.microsoft.com/office/powerpoint/2010/main" val="369273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B36AC2B6-F25B-4685-B4B1-D62F691AAA7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022098" y="1371600"/>
            <a:ext cx="3738364" cy="3667887"/>
          </a:xfrm>
          <a:prstGeom prst="rect">
            <a:avLst/>
          </a:prstGeom>
          <a:effectLst>
            <a:reflection blurRad="6350" stA="52000" endA="300" endPos="35000" dir="5400000" sy="-100000" algn="bl" rotWithShape="0"/>
          </a:effectLst>
          <a:scene3d>
            <a:camera prst="perspectiveRight"/>
            <a:lightRig rig="threePt" dir="t"/>
          </a:scene3d>
        </p:spPr>
      </p:pic>
      <p:sp>
        <p:nvSpPr>
          <p:cNvPr id="2" name="文本框 1">
            <a:extLst>
              <a:ext uri="{FF2B5EF4-FFF2-40B4-BE49-F238E27FC236}">
                <a16:creationId xmlns:a16="http://schemas.microsoft.com/office/drawing/2014/main" id="{4ADBDE67-5854-F9E4-A01F-9C9DA0ACED61}"/>
              </a:ext>
            </a:extLst>
          </p:cNvPr>
          <p:cNvSpPr txBox="1"/>
          <p:nvPr/>
        </p:nvSpPr>
        <p:spPr>
          <a:xfrm>
            <a:off x="6844683" y="1198485"/>
            <a:ext cx="4154750" cy="2031325"/>
          </a:xfrm>
          <a:prstGeom prst="rect">
            <a:avLst/>
          </a:prstGeom>
          <a:noFill/>
        </p:spPr>
        <p:txBody>
          <a:bodyPr wrap="square" rtlCol="0" anchor="t">
            <a:spAutoFit/>
          </a:bodyPr>
          <a:lstStyle/>
          <a:p>
            <a:r>
              <a:rPr lang="zh-CN" altLang="en-US" dirty="0">
                <a:solidFill>
                  <a:schemeClr val="bg1"/>
                </a:solidFill>
              </a:rPr>
              <a:t>谢谢观看</a:t>
            </a:r>
            <a:endParaRPr lang="en-US" altLang="zh-CN" dirty="0">
              <a:solidFill>
                <a:schemeClr val="bg1"/>
              </a:solidFill>
            </a:endParaRPr>
          </a:p>
          <a:p>
            <a:r>
              <a:rPr lang="zh-CN" altLang="en-US" dirty="0">
                <a:solidFill>
                  <a:schemeClr val="bg1"/>
                </a:solidFill>
              </a:rPr>
              <a:t>团队成员：    蔡雨轩</a:t>
            </a:r>
            <a:endParaRPr lang="en-US" altLang="zh-CN" dirty="0">
              <a:solidFill>
                <a:schemeClr val="bg1"/>
              </a:solidFill>
            </a:endParaRPr>
          </a:p>
          <a:p>
            <a:pPr lvl="3"/>
            <a:r>
              <a:rPr lang="zh-CN" altLang="en-US" dirty="0">
                <a:solidFill>
                  <a:schemeClr val="bg1"/>
                </a:solidFill>
              </a:rPr>
              <a:t>郑皓文</a:t>
            </a:r>
            <a:endParaRPr lang="en-US" altLang="zh-CN" dirty="0">
              <a:solidFill>
                <a:schemeClr val="bg1"/>
              </a:solidFill>
            </a:endParaRPr>
          </a:p>
          <a:p>
            <a:pPr lvl="3"/>
            <a:r>
              <a:rPr lang="zh-CN" altLang="en-US" dirty="0">
                <a:solidFill>
                  <a:schemeClr val="bg1"/>
                </a:solidFill>
              </a:rPr>
              <a:t>姬浩轩</a:t>
            </a:r>
            <a:endParaRPr lang="en-US" altLang="zh-CN" dirty="0">
              <a:solidFill>
                <a:schemeClr val="bg1"/>
              </a:solidFill>
            </a:endParaRPr>
          </a:p>
          <a:p>
            <a:pPr lvl="3"/>
            <a:r>
              <a:rPr lang="zh-CN" altLang="en-US" dirty="0">
                <a:solidFill>
                  <a:schemeClr val="bg1"/>
                </a:solidFill>
              </a:rPr>
              <a:t>王培霄</a:t>
            </a:r>
            <a:endParaRPr lang="en-US" altLang="zh-CN" dirty="0">
              <a:solidFill>
                <a:schemeClr val="bg1"/>
              </a:solidFill>
            </a:endParaRPr>
          </a:p>
          <a:p>
            <a:pPr lvl="3"/>
            <a:r>
              <a:rPr lang="zh-CN" altLang="en-US" dirty="0">
                <a:solidFill>
                  <a:schemeClr val="bg1"/>
                </a:solidFill>
              </a:rPr>
              <a:t>黄牧语</a:t>
            </a:r>
            <a:endParaRPr lang="en-US" altLang="zh-CN" dirty="0">
              <a:solidFill>
                <a:schemeClr val="bg1"/>
              </a:solidFill>
            </a:endParaRPr>
          </a:p>
          <a:p>
            <a:r>
              <a:rPr lang="zh-CN" altLang="en-US" dirty="0">
                <a:solidFill>
                  <a:schemeClr val="bg1"/>
                </a:solidFill>
              </a:rPr>
              <a:t>    汇报人：    郑皓文</a:t>
            </a:r>
            <a:endParaRPr lang="en-US" altLang="zh-CN" dirty="0">
              <a:solidFill>
                <a:schemeClr val="bg1"/>
              </a:solidFill>
            </a:endParaRPr>
          </a:p>
        </p:txBody>
      </p:sp>
    </p:spTree>
    <p:extLst>
      <p:ext uri="{BB962C8B-B14F-4D97-AF65-F5344CB8AC3E}">
        <p14:creationId xmlns:p14="http://schemas.microsoft.com/office/powerpoint/2010/main" val="34256088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8"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5000" fill="hold"/>
                                        <p:tgtEl>
                                          <p:spTgt spid="2"/>
                                        </p:tgtEl>
                                        <p:attrNameLst>
                                          <p:attrName>ppt_x</p:attrName>
                                        </p:attrNameLst>
                                      </p:cBhvr>
                                      <p:tavLst>
                                        <p:tav tm="0">
                                          <p:val>
                                            <p:strVal val="#ppt_x"/>
                                          </p:val>
                                        </p:tav>
                                        <p:tav tm="100000">
                                          <p:val>
                                            <p:strVal val="#ppt_x"/>
                                          </p:val>
                                        </p:tav>
                                      </p:tavLst>
                                    </p:anim>
                                    <p:anim calcmode="lin" valueType="num">
                                      <p:cBhvr>
                                        <p:cTn id="8" dur="15000" fill="hold"/>
                                        <p:tgtEl>
                                          <p:spTgt spid="2"/>
                                        </p:tgtEl>
                                        <p:attrNameLst>
                                          <p:attrName>ppt_y</p:attrName>
                                        </p:attrNameLst>
                                      </p:cBhvr>
                                      <p:tavLst>
                                        <p:tav tm="0">
                                          <p:val>
                                            <p:strVal val="#ppt_y+1"/>
                                          </p:val>
                                        </p:tav>
                                        <p:tav tm="100000">
                                          <p:val>
                                            <p:strVal val="#ppt_y-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473</TotalTime>
  <Words>4112</Words>
  <Application>Microsoft Office PowerPoint</Application>
  <PresentationFormat>宽屏</PresentationFormat>
  <Paragraphs>394</Paragraphs>
  <Slides>41</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41</vt:i4>
      </vt:variant>
    </vt:vector>
  </HeadingPairs>
  <TitlesOfParts>
    <vt:vector size="54" baseType="lpstr">
      <vt:lpstr>等线</vt:lpstr>
      <vt:lpstr>等线 Light</vt:lpstr>
      <vt:lpstr>方正舒体</vt:lpstr>
      <vt:lpstr>华文行楷</vt:lpstr>
      <vt:lpstr>微软雅黑</vt:lpstr>
      <vt:lpstr>Arial</vt:lpstr>
      <vt:lpstr>Arial Narrow</vt:lpstr>
      <vt:lpstr>Bradley Hand ITC</vt:lpstr>
      <vt:lpstr>MV Boli</vt:lpstr>
      <vt:lpstr>Segoe Print</vt:lpstr>
      <vt:lpstr>Times New Roman</vt:lpstr>
      <vt:lpstr>Wingdings</vt:lpstr>
      <vt:lpstr>Office 主题​​</vt:lpstr>
      <vt:lpstr>项目名称：“智饷”高校智慧食堂智能移动平台 团队成员：蔡雨轩、郑皓文、姬浩轩、黄牧语、王培霄 负责人： 蔡雨轩         汇报人： 郑皓文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haoxuan ji</dc:creator>
  <cp:lastModifiedBy>haoxuan ji</cp:lastModifiedBy>
  <cp:revision>11</cp:revision>
  <dcterms:created xsi:type="dcterms:W3CDTF">2025-05-20T05:42:40Z</dcterms:created>
  <dcterms:modified xsi:type="dcterms:W3CDTF">2025-05-21T03:31:07Z</dcterms:modified>
</cp:coreProperties>
</file>